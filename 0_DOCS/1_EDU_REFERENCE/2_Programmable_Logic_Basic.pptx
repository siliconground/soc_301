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70" r:id="rId2"/>
    <p:sldId id="277" r:id="rId3"/>
    <p:sldId id="298" r:id="rId4"/>
    <p:sldId id="313" r:id="rId5"/>
    <p:sldId id="314" r:id="rId6"/>
    <p:sldId id="306" r:id="rId7"/>
    <p:sldId id="312" r:id="rId8"/>
    <p:sldId id="311" r:id="rId9"/>
    <p:sldId id="310" r:id="rId10"/>
    <p:sldId id="309" r:id="rId11"/>
    <p:sldId id="308" r:id="rId12"/>
    <p:sldId id="307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292" r:id="rId21"/>
    <p:sldId id="323" r:id="rId22"/>
    <p:sldId id="324" r:id="rId23"/>
    <p:sldId id="294" r:id="rId24"/>
    <p:sldId id="325" r:id="rId25"/>
    <p:sldId id="326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277"/>
            <p14:sldId id="298"/>
            <p14:sldId id="313"/>
            <p14:sldId id="314"/>
            <p14:sldId id="306"/>
            <p14:sldId id="312"/>
            <p14:sldId id="311"/>
            <p14:sldId id="310"/>
            <p14:sldId id="309"/>
            <p14:sldId id="308"/>
            <p14:sldId id="307"/>
            <p14:sldId id="315"/>
            <p14:sldId id="316"/>
            <p14:sldId id="317"/>
            <p14:sldId id="318"/>
            <p14:sldId id="319"/>
            <p14:sldId id="320"/>
            <p14:sldId id="321"/>
            <p14:sldId id="292"/>
            <p14:sldId id="323"/>
            <p14:sldId id="324"/>
            <p14:sldId id="294"/>
            <p14:sldId id="325"/>
            <p14:sldId id="3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9"/>
    <a:srgbClr val="1DCAD3"/>
    <a:srgbClr val="147ED1"/>
    <a:srgbClr val="147BD1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74794" autoAdjust="0"/>
  </p:normalViewPr>
  <p:slideViewPr>
    <p:cSldViewPr snapToGrid="0" showGuides="1">
      <p:cViewPr varScale="1">
        <p:scale>
          <a:sx n="121" d="100"/>
          <a:sy n="121" d="100"/>
        </p:scale>
        <p:origin x="1668" y="114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171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8F51-59EB-3CF8-7D2E-5824F262A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C4485E-CE6F-8C1F-E125-01FE426B2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EC0D96-331D-4321-9C53-DE3028B06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Vivado</a:t>
            </a:r>
            <a:r>
              <a:rPr lang="ko-KR" altLang="en-US" dirty="0"/>
              <a:t>를 실행하고 </a:t>
            </a:r>
            <a:r>
              <a:rPr lang="en-US" altLang="ko-KR" dirty="0"/>
              <a:t>Create Project </a:t>
            </a:r>
            <a:r>
              <a:rPr lang="ko-KR" altLang="en-US" dirty="0"/>
              <a:t>클릭 후 </a:t>
            </a:r>
            <a:r>
              <a:rPr lang="en-US" altLang="ko-KR" dirty="0"/>
              <a:t>next</a:t>
            </a:r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C60241-293F-47A5-E025-5B32AA69A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587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F1112-28EE-4326-90CB-DD8C7B426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15CE44-620B-1FB2-17C8-DDF1C417E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1CEC84-631B-A069-5B4F-00857F57A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76432F-7E21-A40A-7A71-4D59219BEA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296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41238-25A5-C6EF-52FF-D23CED1C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36A669-6FDC-B0D5-2246-A8E75D48A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A7F43F-8BAB-EFCE-7D10-C7E44CAB4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4AF0F0-3CF6-517B-6E03-A781376072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606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C505F-1746-79AF-32CE-DC021D465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B1CF1-AB1C-BA01-FC18-8B4A0A255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2BEE2C-9EE4-F985-B0C8-B02132580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E04-074B-8B37-551A-A5807898F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6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FFBB7-12B8-771B-699F-748DBE729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C66D2B-0D5A-513E-154C-851F3DB62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5B4CAD-43FF-3296-C6F0-28DE60CBC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EB249A-29F8-36EE-3814-F03E04A56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871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E495C-03BA-8CDD-8254-0E8A76FF4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D8700D-41B6-F72A-7FA6-A40AFFA1A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46E4EF-9A31-A5C4-7947-E578CACB9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F0A4CA-2A95-E511-F3FE-BE2AF43EB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952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BC593-0577-A5B8-1F3E-3A9A458AE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BCF1E2-7562-2478-DC60-07A5692FD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B937F9-FC84-8B6A-09D2-DAE6A5060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4DFF78-500C-FF97-E343-B85B088BE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366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386C0-8F04-FB2C-BDB3-B205E9B2B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61D396-70DA-7780-C273-BCBCC1A1E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79E283-EE85-84F5-5393-388C68B9F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F33947-871D-7E0F-7BAE-AA178A156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592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3637D-2157-93C2-BBD7-B13F3DB8D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726998-6968-C65F-30F8-25F1A7340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8032A7-7666-8F96-0AD8-A424191AB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C4AE83-7DE2-1721-396A-1AF3C786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980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78051-591E-C478-5042-220020B4A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197647-1E93-A329-77FA-A556AC8E8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194475-9C0E-423E-A862-5373DDEE8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D70A46-3383-9B59-9262-A23B37EB1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329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03F38-A803-EEE3-2928-502EC12A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F359A8-DF70-A8F0-A0B7-C0E192825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5E6476-3442-A506-C718-5D83BBAF1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0161FE-043B-AF86-045C-A5092EB3D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7635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05196-E22C-9592-C428-C67B7236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27248A-C807-EAEF-2959-59E159A08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D106F6-45BB-45D9-4BE7-8E83A0508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43D95B-AF59-6F7A-48F7-663D441EDA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0166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19352-684D-42C9-7757-FA3CFACF9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E7FA90-0370-55B5-AC35-6A34992B6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583D15-899D-F53B-D139-4EF2F9D34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5ACAFE-134B-4D2A-DB95-0E4B901BB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2520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FC288-4DED-B273-FE95-29D0217B6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BAFCF8-E1A1-4D30-64B2-FD69E6DFD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5CA087-C0D7-02AF-4D32-58F29051D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A5C126-B4D1-FAC2-2ABA-5AA65D2B8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2097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82866-27CD-3DAD-3819-3DFE579C0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2277A2-EAC7-42D9-1145-7512A7B27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2A478D-1766-F861-2521-EF2756881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B3458D-443E-0FE8-CC88-6B066D597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6492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FBA94-5FF8-988A-055F-3B1E52DE6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218D75-E847-86B6-A21C-2C230805C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0C0031-1F06-88E9-00D4-D24973F6C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8CCC79-6AB4-BC0A-4776-0F80CF7EC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54085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6DE06-3135-F300-6120-6C9F73E55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8AD6EC-C845-68EA-2386-D5B29A3A5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FCF056-7EE0-E40C-D331-589250900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413E14-9321-5F8F-74E8-C82FDFAA3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1975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1411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F2E3C-9F0A-E217-D1FE-56B4EE858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A01690-B6DA-057A-FF0C-375D43FD7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94176C-9B29-F9D7-C214-C779C9455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C7D403-F58E-48B6-0506-B04406C5E1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0086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5BEE9-89DC-0A83-BE71-6D58BF444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AEFA75-0435-0F9D-5381-8D705CDD5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9EDDF2-1321-B001-A434-60ABBD386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49F415-585C-9C8D-044B-4131EEB57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7515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584F1-04DB-9492-4708-32F98E899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64145F-51F7-5E41-31A6-01EA81FA4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C4FC18-EB9D-EB1B-4667-BDD4ED09A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76426B-4E01-1909-6CA9-A212EAAD3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9756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B50D6-6DBA-6EF4-82DF-CFB3FD756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F91C6F-53E4-B047-289C-38EE496DA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F6DAE2-065B-52AF-5915-C49D1485B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444A7A-DBF9-DD15-BC72-7F1FC3F13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5505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5F65F-B713-0587-F4D9-D983719BE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3630F7-9D61-7601-9736-908C2D246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D815B4-80FE-879E-9550-E259321D4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65F45F-66B2-0549-ECC3-F40C45AB1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386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83EA565-BB15-5BF3-4563-4F89DBE99D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7204" r="-16" b="-894"/>
          <a:stretch/>
        </p:blipFill>
        <p:spPr>
          <a:xfrm>
            <a:off x="0" y="43545"/>
            <a:ext cx="1875100" cy="3151065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3" name="내용 개체 틀 4">
            <a:extLst>
              <a:ext uri="{FF2B5EF4-FFF2-40B4-BE49-F238E27FC236}">
                <a16:creationId xmlns:a16="http://schemas.microsoft.com/office/drawing/2014/main" id="{4141E486-3C97-CB62-EB81-F1F9EDCEB86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9618" y="4267214"/>
            <a:ext cx="7688263" cy="1385775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담당자명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부서명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Tel.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000.0000.0000  | 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E-mail.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abcd123@npit.co.kr</a:t>
            </a:r>
          </a:p>
          <a:p>
            <a:pPr>
              <a:lnSpc>
                <a:spcPct val="130000"/>
              </a:lnSpc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Homepage.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www.npit.co.kr 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hyperlink" Target="https://github.com/Digilent/Zybo-Z7-20-XADC/blob/master/src/constraints/Zybo-Z7.xdc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8.png"/><Relationship Id="rId4" Type="http://schemas.openxmlformats.org/officeDocument/2006/relationships/image" Target="../media/image47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5" Type="http://schemas.openxmlformats.org/officeDocument/2006/relationships/slide" Target="slide4.xml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jp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7689344" cy="442446"/>
          </a:xfrm>
        </p:spPr>
        <p:txBody>
          <a:bodyPr/>
          <a:lstStyle/>
          <a:p>
            <a:r>
              <a:rPr lang="en-US" altLang="ko-KR" dirty="0">
                <a:latin typeface="+mj-lt"/>
              </a:rPr>
              <a:t>SOC301 | ARM</a:t>
            </a:r>
            <a:r>
              <a:rPr lang="ko-KR" altLang="en-US" dirty="0">
                <a:latin typeface="+mj-lt"/>
              </a:rPr>
              <a:t> </a:t>
            </a:r>
            <a:r>
              <a:rPr lang="en-US" altLang="ko-KR" dirty="0">
                <a:latin typeface="+mj-lt"/>
              </a:rPr>
              <a:t>Programming</a:t>
            </a:r>
            <a:endParaRPr lang="ko-KR" altLang="en-US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2. Programmable Logic Basic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2EA2342-11EC-49C1-951D-3D0E8CB9B938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1E09ABD-4A7F-4835-ACD1-DF13891F4237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FBCBB8-2819-5DA9-8FE6-2AFB7F981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055" y="3429000"/>
            <a:ext cx="10744200" cy="1188720"/>
          </a:xfrm>
        </p:spPr>
        <p:txBody>
          <a:bodyPr/>
          <a:lstStyle/>
          <a:p>
            <a:r>
              <a:rPr lang="en-US" altLang="ko-KR" dirty="0">
                <a:cs typeface="KoPubWorld돋움체 Bold" panose="00000800000000000000" pitchFamily="2" charset="-127"/>
              </a:rPr>
              <a:t>1. </a:t>
            </a:r>
            <a:r>
              <a:rPr lang="ko-KR" altLang="en-US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dirty="0">
                <a:cs typeface="KoPubWorld돋움체 Bold" panose="00000800000000000000" pitchFamily="2" charset="-127"/>
              </a:rPr>
              <a:t>LED </a:t>
            </a:r>
            <a:r>
              <a:rPr lang="ko-KR" altLang="en-US" dirty="0">
                <a:cs typeface="KoPubWorld돋움체 Bold" panose="00000800000000000000" pitchFamily="2" charset="-127"/>
              </a:rPr>
              <a:t>제어</a:t>
            </a:r>
            <a:br>
              <a:rPr lang="en-US" altLang="ko-KR" dirty="0">
                <a:cs typeface="KoPubWorld돋움체 Bold" panose="00000800000000000000" pitchFamily="2" charset="-127"/>
              </a:rPr>
            </a:br>
            <a:br>
              <a:rPr lang="en-US" altLang="ko-KR" sz="2400" dirty="0">
                <a:cs typeface="KoPubWorld돋움체 Medium" panose="00000600000000000000" pitchFamily="2" charset="-127"/>
              </a:rPr>
            </a:br>
            <a:endParaRPr lang="en-US" altLang="ko-KR" sz="2400" dirty="0">
              <a:cs typeface="KoPubWorld돋움체 Medium" panose="00000600000000000000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F76EE0-3CE6-9DAA-A391-F36D6F690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0426" y="4023360"/>
            <a:ext cx="10827604" cy="677797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52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210E1-F1CF-0A72-3E7E-EE55FD153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3714FCB-EFDE-8D07-9E0B-AACF7EDA6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39" y="1415844"/>
            <a:ext cx="7009132" cy="50483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6435585-1585-CDE1-F6BE-CC3FAC14D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526" y="2038270"/>
            <a:ext cx="7145997" cy="456896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B4B7E4-4748-D7EB-3E41-F906A4058E1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1.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  <a:p>
            <a:endParaRPr lang="en-US" altLang="ko-KR" sz="2000" dirty="0">
              <a:cs typeface="KoPubWorld돋움체 Medium" panose="00000600000000000000" pitchFamily="2" charset="-127"/>
            </a:endParaRPr>
          </a:p>
          <a:p>
            <a:endParaRPr lang="en-US" altLang="ko-KR" sz="2000" dirty="0">
              <a:cs typeface="KoPubWorld돋움체 Medium" panose="00000600000000000000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3310B2B-5B3D-0724-8EC2-5E9581F991C9}"/>
              </a:ext>
            </a:extLst>
          </p:cNvPr>
          <p:cNvSpPr/>
          <p:nvPr/>
        </p:nvSpPr>
        <p:spPr>
          <a:xfrm>
            <a:off x="763601" y="3170334"/>
            <a:ext cx="848890" cy="17263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729FF94-EC16-F82A-ADB6-CADE103B8757}"/>
              </a:ext>
            </a:extLst>
          </p:cNvPr>
          <p:cNvSpPr/>
          <p:nvPr/>
        </p:nvSpPr>
        <p:spPr>
          <a:xfrm>
            <a:off x="9950889" y="6243566"/>
            <a:ext cx="608956" cy="25017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9402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3919F-262D-6CE0-6AF9-C682A56FE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11369DB-75D1-D37C-9CB4-5AD8277E3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12" y="1430159"/>
            <a:ext cx="6716635" cy="429221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938040-4554-0AFA-4CC8-C2B2CEF82E6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1.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BBD5009-32B3-7153-11F7-A15FECAC6489}"/>
              </a:ext>
            </a:extLst>
          </p:cNvPr>
          <p:cNvSpPr/>
          <p:nvPr/>
        </p:nvSpPr>
        <p:spPr>
          <a:xfrm>
            <a:off x="5075500" y="5388568"/>
            <a:ext cx="656706" cy="24531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33344C4-591E-941C-80DE-2D67B959D444}"/>
              </a:ext>
            </a:extLst>
          </p:cNvPr>
          <p:cNvSpPr/>
          <p:nvPr/>
        </p:nvSpPr>
        <p:spPr>
          <a:xfrm>
            <a:off x="993058" y="2251586"/>
            <a:ext cx="904568" cy="55305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95939A1-9B6A-E476-A425-F94E96580107}"/>
              </a:ext>
            </a:extLst>
          </p:cNvPr>
          <p:cNvSpPr/>
          <p:nvPr/>
        </p:nvSpPr>
        <p:spPr>
          <a:xfrm>
            <a:off x="10550656" y="6000763"/>
            <a:ext cx="432312" cy="23237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6FFABC9-95EB-7978-0043-9CD7EA8C1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032" y="2804637"/>
            <a:ext cx="5946506" cy="38055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E1EC09-3F9B-5258-A5E4-84570D89FFB8}"/>
              </a:ext>
            </a:extLst>
          </p:cNvPr>
          <p:cNvSpPr txBox="1"/>
          <p:nvPr/>
        </p:nvSpPr>
        <p:spPr>
          <a:xfrm>
            <a:off x="1945514" y="2128808"/>
            <a:ext cx="5030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경로와 파일 이름에 한글이 포함되어서는 안됨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이름에는 공백이 없도록 </a:t>
            </a:r>
            <a:r>
              <a:rPr lang="en-US" altLang="ko-KR" dirty="0">
                <a:solidFill>
                  <a:srgbClr val="FF0000"/>
                </a:solidFill>
              </a:rPr>
              <a:t>_</a:t>
            </a:r>
            <a:r>
              <a:rPr lang="ko-KR" altLang="en-US" dirty="0">
                <a:solidFill>
                  <a:srgbClr val="FF0000"/>
                </a:solidFill>
              </a:rPr>
              <a:t>를 사용하는 습관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1F5AB9D-D7BB-77D1-EFCE-E08C66FA00FF}"/>
              </a:ext>
            </a:extLst>
          </p:cNvPr>
          <p:cNvSpPr/>
          <p:nvPr/>
        </p:nvSpPr>
        <p:spPr>
          <a:xfrm>
            <a:off x="9996545" y="6259670"/>
            <a:ext cx="656706" cy="24531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08F7E92-A8FC-01D2-46FA-340BD7C9049F}"/>
              </a:ext>
            </a:extLst>
          </p:cNvPr>
          <p:cNvSpPr/>
          <p:nvPr/>
        </p:nvSpPr>
        <p:spPr>
          <a:xfrm>
            <a:off x="5906326" y="3576266"/>
            <a:ext cx="809106" cy="23865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953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E4188-EEFF-1DDD-F188-011CC2192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BDE5FB4-B270-7ABE-EE72-AD9CE2CF8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37" y="1580016"/>
            <a:ext cx="6039919" cy="3817894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CF3EB0-6560-E3C5-CEA4-D695C95535A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1.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09E1ECD-F5DC-0603-6D95-A24D39FA5346}"/>
              </a:ext>
            </a:extLst>
          </p:cNvPr>
          <p:cNvSpPr/>
          <p:nvPr/>
        </p:nvSpPr>
        <p:spPr>
          <a:xfrm>
            <a:off x="4716167" y="5080252"/>
            <a:ext cx="603084" cy="28816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14762F-2750-E5CB-D3CB-4D2A455BF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527" y="2468690"/>
            <a:ext cx="6304036" cy="4022741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55F424D-63CE-D1B0-043D-957BA5C17046}"/>
              </a:ext>
            </a:extLst>
          </p:cNvPr>
          <p:cNvSpPr/>
          <p:nvPr/>
        </p:nvSpPr>
        <p:spPr>
          <a:xfrm>
            <a:off x="9932180" y="6147050"/>
            <a:ext cx="603084" cy="28816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6354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18FE6-091A-5038-E952-EEAD4C99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D19FAF11-5739-8FEF-EE70-9937FCC1C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38" y="1152525"/>
            <a:ext cx="6365171" cy="4061752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1036D2-B63C-DDBC-9261-9FB22C2577C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1.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F98E3BB-8D44-B31A-B030-C9C758275207}"/>
              </a:ext>
            </a:extLst>
          </p:cNvPr>
          <p:cNvSpPr/>
          <p:nvPr/>
        </p:nvSpPr>
        <p:spPr>
          <a:xfrm>
            <a:off x="537459" y="1925337"/>
            <a:ext cx="927547" cy="29675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680BA6-AE18-E451-1D2A-95BF680C9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387" y="2290059"/>
            <a:ext cx="6442030" cy="4139623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9E3A47F-DB8C-BB61-7602-367EE2761591}"/>
              </a:ext>
            </a:extLst>
          </p:cNvPr>
          <p:cNvSpPr/>
          <p:nvPr/>
        </p:nvSpPr>
        <p:spPr>
          <a:xfrm>
            <a:off x="901254" y="2955574"/>
            <a:ext cx="563752" cy="22024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9DF2C61-D9E7-EC35-FD3B-A78A94C4B500}"/>
              </a:ext>
            </a:extLst>
          </p:cNvPr>
          <p:cNvSpPr/>
          <p:nvPr/>
        </p:nvSpPr>
        <p:spPr>
          <a:xfrm>
            <a:off x="537459" y="4487533"/>
            <a:ext cx="666993" cy="29675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672138-37AD-6CCA-A5C1-569F602F924F}"/>
              </a:ext>
            </a:extLst>
          </p:cNvPr>
          <p:cNvSpPr txBox="1"/>
          <p:nvPr/>
        </p:nvSpPr>
        <p:spPr>
          <a:xfrm>
            <a:off x="1465006" y="163327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542D7F-8565-3B2A-D887-BE4132C1BDCD}"/>
              </a:ext>
            </a:extLst>
          </p:cNvPr>
          <p:cNvSpPr txBox="1"/>
          <p:nvPr/>
        </p:nvSpPr>
        <p:spPr>
          <a:xfrm>
            <a:off x="1617406" y="269024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55655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6B06A-ADF7-0140-74B1-F7A914497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A67E75D-9FED-1ED9-A8F8-9BFEE3C16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38" y="1459475"/>
            <a:ext cx="6061203" cy="3876936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391985-E707-A857-E433-147EEC7494A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1.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C732E1C-BE87-2805-C255-19809DBB0140}"/>
              </a:ext>
            </a:extLst>
          </p:cNvPr>
          <p:cNvSpPr/>
          <p:nvPr/>
        </p:nvSpPr>
        <p:spPr>
          <a:xfrm>
            <a:off x="1805821" y="4178710"/>
            <a:ext cx="406437" cy="44245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190C306-7DFC-A30A-7F49-3E273AEC7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837" y="2651682"/>
            <a:ext cx="6246718" cy="3964811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A13FC6C-3BC2-7DBB-5C84-D4415DBF04EB}"/>
              </a:ext>
            </a:extLst>
          </p:cNvPr>
          <p:cNvSpPr/>
          <p:nvPr/>
        </p:nvSpPr>
        <p:spPr>
          <a:xfrm>
            <a:off x="6815374" y="5422493"/>
            <a:ext cx="406437" cy="44245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968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D3F4-ADA3-AFC8-EFE8-6ACCF25A4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3BDC5B3-6420-D7B3-400F-7CD55F089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179" y="2053766"/>
            <a:ext cx="5719011" cy="364271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774965F-2059-D79B-270F-6174CED12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843" y="2053766"/>
            <a:ext cx="5678044" cy="3642716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B661FA-00C3-93F6-C648-36AC67E9B12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1.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D0FA9DA-CCE8-FB05-F8F8-289C51BE002A}"/>
              </a:ext>
            </a:extLst>
          </p:cNvPr>
          <p:cNvSpPr/>
          <p:nvPr/>
        </p:nvSpPr>
        <p:spPr>
          <a:xfrm>
            <a:off x="4367577" y="5352436"/>
            <a:ext cx="479726" cy="31455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55E0DB2-DE1C-0744-77D0-30C81DB97BB4}"/>
              </a:ext>
            </a:extLst>
          </p:cNvPr>
          <p:cNvSpPr/>
          <p:nvPr/>
        </p:nvSpPr>
        <p:spPr>
          <a:xfrm>
            <a:off x="337810" y="2723536"/>
            <a:ext cx="832229" cy="30480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4425A1D-9B34-3CD1-A7B9-DBAFBCDA2A9C}"/>
              </a:ext>
            </a:extLst>
          </p:cNvPr>
          <p:cNvSpPr/>
          <p:nvPr/>
        </p:nvSpPr>
        <p:spPr>
          <a:xfrm>
            <a:off x="10245855" y="5373862"/>
            <a:ext cx="461473" cy="27346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6CBE28-F9EA-52ED-13CE-31004ED13480}"/>
              </a:ext>
            </a:extLst>
          </p:cNvPr>
          <p:cNvSpPr txBox="1"/>
          <p:nvPr/>
        </p:nvSpPr>
        <p:spPr>
          <a:xfrm>
            <a:off x="4250319" y="1380153"/>
            <a:ext cx="3876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둘 중 한가지 방법으로 하면 됩니다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BE2353D-D228-C802-D81F-692FF1D835DE}"/>
              </a:ext>
            </a:extLst>
          </p:cNvPr>
          <p:cNvSpPr/>
          <p:nvPr/>
        </p:nvSpPr>
        <p:spPr>
          <a:xfrm>
            <a:off x="6173274" y="2728452"/>
            <a:ext cx="832229" cy="30480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48A1AF8-1D70-C621-B6D3-E9609EFD36CB}"/>
              </a:ext>
            </a:extLst>
          </p:cNvPr>
          <p:cNvSpPr/>
          <p:nvPr/>
        </p:nvSpPr>
        <p:spPr>
          <a:xfrm>
            <a:off x="677024" y="3524866"/>
            <a:ext cx="493016" cy="17324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089992C-5822-37F3-EC4B-42DFA3C0609B}"/>
              </a:ext>
            </a:extLst>
          </p:cNvPr>
          <p:cNvSpPr/>
          <p:nvPr/>
        </p:nvSpPr>
        <p:spPr>
          <a:xfrm>
            <a:off x="6551818" y="3549447"/>
            <a:ext cx="1451639" cy="24580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3309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C9CB9-872F-CA64-EE01-E7ED05B39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0D86658-6E54-E67C-9512-F73492EFD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277" y="1472435"/>
            <a:ext cx="7093446" cy="450926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B580D3-DEDC-D7B6-6319-A8864057AD1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1.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5685CA9-AB12-866D-58F6-4CBDC2DC3714}"/>
              </a:ext>
            </a:extLst>
          </p:cNvPr>
          <p:cNvSpPr/>
          <p:nvPr/>
        </p:nvSpPr>
        <p:spPr>
          <a:xfrm>
            <a:off x="8292063" y="5607459"/>
            <a:ext cx="674956" cy="30172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2762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45CB2-8EF1-398D-C52A-305654D03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AE1E85C-57D6-9AA7-635D-BB1A0F59C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12" y="1512438"/>
            <a:ext cx="6198336" cy="5069666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5BF78C-3D02-FBC4-72EB-431D0330FF6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1.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FC59FBE-4620-B543-91BF-B793E8F6E22E}"/>
              </a:ext>
            </a:extLst>
          </p:cNvPr>
          <p:cNvSpPr/>
          <p:nvPr/>
        </p:nvSpPr>
        <p:spPr>
          <a:xfrm>
            <a:off x="2016151" y="2617292"/>
            <a:ext cx="2172391" cy="180722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8D6625F-3D60-5112-25FB-C3B785686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903" y="2255844"/>
            <a:ext cx="6517886" cy="4421223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54FDDD1-4317-3243-EAB7-5AEB2644CCDF}"/>
              </a:ext>
            </a:extLst>
          </p:cNvPr>
          <p:cNvSpPr/>
          <p:nvPr/>
        </p:nvSpPr>
        <p:spPr>
          <a:xfrm>
            <a:off x="6712505" y="3400459"/>
            <a:ext cx="1705909" cy="24089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AA41BE4-4B01-F598-C11D-8F0AAD415144}"/>
              </a:ext>
            </a:extLst>
          </p:cNvPr>
          <p:cNvSpPr/>
          <p:nvPr/>
        </p:nvSpPr>
        <p:spPr>
          <a:xfrm>
            <a:off x="9586452" y="6217406"/>
            <a:ext cx="734508" cy="36469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4748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DC695-34DF-4965-EF93-03D74EED2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A6293D7-D5B1-A0F1-A71D-13478E37B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47" y="1704383"/>
            <a:ext cx="5687175" cy="3964812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3A023D-9F64-1C9A-E415-D9A738F56D4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1.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A0B63BF-1826-AAD0-C1C0-ED4FAC76BFB5}"/>
              </a:ext>
            </a:extLst>
          </p:cNvPr>
          <p:cNvSpPr/>
          <p:nvPr/>
        </p:nvSpPr>
        <p:spPr>
          <a:xfrm>
            <a:off x="3588774" y="4198374"/>
            <a:ext cx="963561" cy="32446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00A797-9A72-B756-1778-8840CBECF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539" y="2257013"/>
            <a:ext cx="6126720" cy="4215699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46DD342-EA6F-FA26-C4C8-F659A1323D95}"/>
              </a:ext>
            </a:extLst>
          </p:cNvPr>
          <p:cNvSpPr/>
          <p:nvPr/>
        </p:nvSpPr>
        <p:spPr>
          <a:xfrm>
            <a:off x="7865807" y="4382729"/>
            <a:ext cx="688258" cy="280219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DFB1100-C5B5-5651-B902-5CCEB2592015}"/>
              </a:ext>
            </a:extLst>
          </p:cNvPr>
          <p:cNvSpPr/>
          <p:nvPr/>
        </p:nvSpPr>
        <p:spPr>
          <a:xfrm>
            <a:off x="7998542" y="4891113"/>
            <a:ext cx="688259" cy="280219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6791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F8451-E033-5C34-7BAF-2B41F3670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A899D52-B6C3-160F-98B2-BFF1468A9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39" y="1503822"/>
            <a:ext cx="4833400" cy="3341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0628080-B658-EFB5-BCD0-B076DCE4D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5682" y="1051659"/>
            <a:ext cx="5744377" cy="409632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2CD9A8C-41AE-09F6-4AD0-6E04D41D8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7822" y="5147981"/>
            <a:ext cx="3134162" cy="146705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17E0D9-3C6D-E729-6ED3-3728C816232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1.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6D928BF-B27F-3740-DEC8-364A30B67CA8}"/>
              </a:ext>
            </a:extLst>
          </p:cNvPr>
          <p:cNvSpPr/>
          <p:nvPr/>
        </p:nvSpPr>
        <p:spPr>
          <a:xfrm>
            <a:off x="8727127" y="4635909"/>
            <a:ext cx="996975" cy="35887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06B7A55-57D8-4D55-6015-26A63BA84FCE}"/>
              </a:ext>
            </a:extLst>
          </p:cNvPr>
          <p:cNvSpPr/>
          <p:nvPr/>
        </p:nvSpPr>
        <p:spPr>
          <a:xfrm>
            <a:off x="4109884" y="4503175"/>
            <a:ext cx="570272" cy="26547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5A3D479-227B-E76A-C42B-5111002C93A8}"/>
              </a:ext>
            </a:extLst>
          </p:cNvPr>
          <p:cNvSpPr/>
          <p:nvPr/>
        </p:nvSpPr>
        <p:spPr>
          <a:xfrm>
            <a:off x="9724101" y="6137147"/>
            <a:ext cx="678427" cy="38164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0018745-F1C6-83BC-2D8D-A885E9BF9925}"/>
              </a:ext>
            </a:extLst>
          </p:cNvPr>
          <p:cNvSpPr/>
          <p:nvPr/>
        </p:nvSpPr>
        <p:spPr>
          <a:xfrm>
            <a:off x="6277897" y="2777611"/>
            <a:ext cx="762000" cy="26547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8514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14430-980A-FACD-FAED-14BECFECA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D835E24-B131-CBF8-79E8-FE4A3716B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38" y="1433020"/>
            <a:ext cx="6866347" cy="477280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954D27-D596-D0B6-0ADB-E9BE03760B7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1.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DAAB2FB-3B6F-1DD6-ACE3-1FA68DAA76D6}"/>
              </a:ext>
            </a:extLst>
          </p:cNvPr>
          <p:cNvSpPr/>
          <p:nvPr/>
        </p:nvSpPr>
        <p:spPr>
          <a:xfrm>
            <a:off x="2041741" y="2544724"/>
            <a:ext cx="1238222" cy="24272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1BF344-676F-5B58-3BE2-C793B4F357F0}"/>
              </a:ext>
            </a:extLst>
          </p:cNvPr>
          <p:cNvSpPr txBox="1"/>
          <p:nvPr/>
        </p:nvSpPr>
        <p:spPr>
          <a:xfrm>
            <a:off x="7404661" y="2409334"/>
            <a:ext cx="46104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</a:t>
            </a:r>
            <a:r>
              <a:rPr lang="en-US" dirty="0" err="1"/>
              <a:t>LED_Basic</a:t>
            </a:r>
            <a:r>
              <a:rPr lang="en-US" dirty="0"/>
              <a:t>(</a:t>
            </a:r>
          </a:p>
          <a:p>
            <a:r>
              <a:rPr lang="en-US" dirty="0"/>
              <a:t>    input  wire [3:0] </a:t>
            </a:r>
            <a:r>
              <a:rPr lang="en-US" dirty="0" err="1"/>
              <a:t>sw</a:t>
            </a:r>
            <a:r>
              <a:rPr lang="en-US" dirty="0"/>
              <a:t>,    // SW3 ~ SW0</a:t>
            </a:r>
          </a:p>
          <a:p>
            <a:r>
              <a:rPr lang="en-US" dirty="0"/>
              <a:t>    output wire [3:0] led    // LED3 ~ LED0</a:t>
            </a:r>
          </a:p>
          <a:p>
            <a:r>
              <a:rPr lang="en-US" dirty="0"/>
              <a:t>);</a:t>
            </a:r>
          </a:p>
          <a:p>
            <a:r>
              <a:rPr lang="en-US" dirty="0"/>
              <a:t>    assign led = </a:t>
            </a:r>
            <a:r>
              <a:rPr lang="en-US" dirty="0" err="1"/>
              <a:t>sw</a:t>
            </a:r>
            <a:r>
              <a:rPr lang="en-US" dirty="0"/>
              <a:t>;</a:t>
            </a:r>
          </a:p>
          <a:p>
            <a:r>
              <a:rPr lang="en-US" dirty="0" err="1"/>
              <a:t>endmodule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CEC843-57B3-EEB2-C73F-55A59A11FFDB}"/>
              </a:ext>
            </a:extLst>
          </p:cNvPr>
          <p:cNvSpPr txBox="1"/>
          <p:nvPr/>
        </p:nvSpPr>
        <p:spPr>
          <a:xfrm>
            <a:off x="8622947" y="1596264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복사용 </a:t>
            </a:r>
            <a:r>
              <a:rPr lang="en-US" altLang="ko-KR" dirty="0"/>
              <a:t>Code</a:t>
            </a:r>
            <a:endParaRPr 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B44933B-D703-77E8-14A1-DD8E6AA61508}"/>
              </a:ext>
            </a:extLst>
          </p:cNvPr>
          <p:cNvSpPr/>
          <p:nvPr/>
        </p:nvSpPr>
        <p:spPr>
          <a:xfrm>
            <a:off x="3633664" y="2544724"/>
            <a:ext cx="2698309" cy="366110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1371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43751-35E9-C18D-E058-83F0D9080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8BFF7CD-CD79-C32B-3464-CCBCEFEC6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9349" y="2356026"/>
            <a:ext cx="2896004" cy="29436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48677DE-6A8A-E5DE-AD60-54F209A9D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42" y="1341172"/>
            <a:ext cx="7013716" cy="5037600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AF25C5-5FA7-2A69-0570-CBC18DFE68D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1.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FAD4C9B-B976-C16A-3439-AEAC7CF0BDC2}"/>
              </a:ext>
            </a:extLst>
          </p:cNvPr>
          <p:cNvSpPr/>
          <p:nvPr/>
        </p:nvSpPr>
        <p:spPr>
          <a:xfrm>
            <a:off x="8667764" y="3859972"/>
            <a:ext cx="1754429" cy="24008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7709A0B-A532-9471-FCD8-3EA8FB1E5749}"/>
              </a:ext>
            </a:extLst>
          </p:cNvPr>
          <p:cNvSpPr/>
          <p:nvPr/>
        </p:nvSpPr>
        <p:spPr>
          <a:xfrm>
            <a:off x="763600" y="6000762"/>
            <a:ext cx="927548" cy="23237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66C72A3-5384-9261-3FA9-6394857CD966}"/>
              </a:ext>
            </a:extLst>
          </p:cNvPr>
          <p:cNvSpPr/>
          <p:nvPr/>
        </p:nvSpPr>
        <p:spPr>
          <a:xfrm flipH="1" flipV="1">
            <a:off x="9202994" y="4778088"/>
            <a:ext cx="875714" cy="39676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3632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BB658-0C14-1DB0-9C1F-8CF45CD90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35A0356-196A-B386-025F-B41AF3647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38" y="1370983"/>
            <a:ext cx="7184034" cy="508070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5A1AC33-7AF5-79F2-1162-9E9486D00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709" y="3598338"/>
            <a:ext cx="5765717" cy="290867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A4364C-DE05-1CBE-262F-785D4FFF154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1.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5219A5F-5A46-8D12-9E24-EAB15D29C561}"/>
              </a:ext>
            </a:extLst>
          </p:cNvPr>
          <p:cNvSpPr/>
          <p:nvPr/>
        </p:nvSpPr>
        <p:spPr>
          <a:xfrm>
            <a:off x="4282569" y="4641003"/>
            <a:ext cx="820373" cy="373449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FA6DF68-C8E0-5566-AFB3-FFE3E583D6B6}"/>
              </a:ext>
            </a:extLst>
          </p:cNvPr>
          <p:cNvSpPr/>
          <p:nvPr/>
        </p:nvSpPr>
        <p:spPr>
          <a:xfrm>
            <a:off x="8428250" y="3537885"/>
            <a:ext cx="1944782" cy="965289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6107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8EE46-CF90-FFA9-FDCB-0D6C5437E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510B9C8-FE95-9D20-5CA0-CF927506E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46" y="1635900"/>
            <a:ext cx="8241549" cy="3576371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838FA1-7782-7621-90D8-8AAF07DD7B6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1.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C8D2618-C956-DEE8-6E3C-A106F999006B}"/>
              </a:ext>
            </a:extLst>
          </p:cNvPr>
          <p:cNvSpPr/>
          <p:nvPr/>
        </p:nvSpPr>
        <p:spPr>
          <a:xfrm>
            <a:off x="5237865" y="2083979"/>
            <a:ext cx="1418574" cy="259565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AE6F887-84E8-CB0D-C80C-1DD879CAD596}"/>
              </a:ext>
            </a:extLst>
          </p:cNvPr>
          <p:cNvSpPr/>
          <p:nvPr/>
        </p:nvSpPr>
        <p:spPr>
          <a:xfrm>
            <a:off x="3413093" y="2055001"/>
            <a:ext cx="1139242" cy="259565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C2DE2B-DD0D-7E27-7E95-49CCCA047E2A}"/>
              </a:ext>
            </a:extLst>
          </p:cNvPr>
          <p:cNvSpPr txBox="1"/>
          <p:nvPr/>
        </p:nvSpPr>
        <p:spPr>
          <a:xfrm>
            <a:off x="321346" y="5631372"/>
            <a:ext cx="54633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4"/>
              </a:rPr>
              <a:t>https://github.com/Digilent/Zybo-Z7-20-XADC/blob/master/src/constraints/Zybo-Z7.xdc</a:t>
            </a:r>
            <a:endParaRPr lang="en-US" sz="1000" dirty="0"/>
          </a:p>
          <a:p>
            <a:endParaRPr lang="en-US" sz="10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FCFF022-F7B0-59F3-1220-7196E073C8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895" y="3158254"/>
            <a:ext cx="3522301" cy="3530768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FE446C3-5308-1F17-4079-C6DF8A595DD5}"/>
              </a:ext>
            </a:extLst>
          </p:cNvPr>
          <p:cNvSpPr/>
          <p:nvPr/>
        </p:nvSpPr>
        <p:spPr>
          <a:xfrm>
            <a:off x="10284715" y="6158080"/>
            <a:ext cx="786407" cy="33121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75638AA-9E81-0DD9-E2CE-217A62D662D0}"/>
              </a:ext>
            </a:extLst>
          </p:cNvPr>
          <p:cNvSpPr/>
          <p:nvPr/>
        </p:nvSpPr>
        <p:spPr>
          <a:xfrm>
            <a:off x="9925834" y="4845472"/>
            <a:ext cx="1415225" cy="29649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8C7F984-CF07-3FB3-0B2E-E67B70A5D5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1969" y="1216799"/>
            <a:ext cx="4699619" cy="198371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FD067B7-A07E-D942-A879-7162C4054E5B}"/>
              </a:ext>
            </a:extLst>
          </p:cNvPr>
          <p:cNvSpPr txBox="1"/>
          <p:nvPr/>
        </p:nvSpPr>
        <p:spPr>
          <a:xfrm>
            <a:off x="6210748" y="319561"/>
            <a:ext cx="1404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Control + S</a:t>
            </a:r>
          </a:p>
        </p:txBody>
      </p:sp>
      <p:sp>
        <p:nvSpPr>
          <p:cNvPr id="20" name="화살표: 왼쪽으로 구부러짐 19">
            <a:extLst>
              <a:ext uri="{FF2B5EF4-FFF2-40B4-BE49-F238E27FC236}">
                <a16:creationId xmlns:a16="http://schemas.microsoft.com/office/drawing/2014/main" id="{2F5DFB1B-D18B-17C8-CC05-B66C3E10E4E5}"/>
              </a:ext>
            </a:extLst>
          </p:cNvPr>
          <p:cNvSpPr/>
          <p:nvPr/>
        </p:nvSpPr>
        <p:spPr>
          <a:xfrm rot="16200000">
            <a:off x="6613364" y="125361"/>
            <a:ext cx="500351" cy="1790717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899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FE79E-BD52-CF88-E938-C71676138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A6FB883-71D1-5B1F-900D-DAC890F01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300" y="3169333"/>
            <a:ext cx="4525006" cy="34199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3E4BB8A-456F-FBED-3DA8-20320556C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38" y="1306973"/>
            <a:ext cx="6893519" cy="5282312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5669A4-D903-BA5A-ACBE-73A8E657153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1.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C4F9A7B-B0F0-D085-D6E1-400A2C6881A5}"/>
              </a:ext>
            </a:extLst>
          </p:cNvPr>
          <p:cNvSpPr/>
          <p:nvPr/>
        </p:nvSpPr>
        <p:spPr>
          <a:xfrm>
            <a:off x="438438" y="6076215"/>
            <a:ext cx="1016038" cy="25922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6E11216-7762-38C2-EBE4-2879CB32612E}"/>
              </a:ext>
            </a:extLst>
          </p:cNvPr>
          <p:cNvSpPr/>
          <p:nvPr/>
        </p:nvSpPr>
        <p:spPr>
          <a:xfrm>
            <a:off x="10019070" y="6046719"/>
            <a:ext cx="855405" cy="36391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78CDD55-A0D7-23DB-7C67-91BAA72122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42" t="5133" r="1761" b="5292"/>
          <a:stretch>
            <a:fillRect/>
          </a:stretch>
        </p:blipFill>
        <p:spPr>
          <a:xfrm>
            <a:off x="6389836" y="1306973"/>
            <a:ext cx="5555226" cy="1723716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87DCA25-D611-C8CE-0A01-94207B3DC3C9}"/>
              </a:ext>
            </a:extLst>
          </p:cNvPr>
          <p:cNvSpPr/>
          <p:nvPr/>
        </p:nvSpPr>
        <p:spPr>
          <a:xfrm>
            <a:off x="10019071" y="2526890"/>
            <a:ext cx="855405" cy="36379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4756566-1A5F-92FD-2733-C3A907EF31EF}"/>
              </a:ext>
            </a:extLst>
          </p:cNvPr>
          <p:cNvCxnSpPr/>
          <p:nvPr/>
        </p:nvCxnSpPr>
        <p:spPr>
          <a:xfrm flipV="1">
            <a:off x="1553497" y="2812026"/>
            <a:ext cx="8131277" cy="32346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006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8594A-ACF6-1097-740A-D4B11C6F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3B6CAB-E98B-1D6D-D599-583A6DDA2E9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1.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Medium" panose="00000600000000000000" pitchFamily="2" charset="-127"/>
            </a:endParaRPr>
          </a:p>
          <a:p>
            <a:endParaRPr lang="en-US" altLang="ko-KR" dirty="0">
              <a:cs typeface="KoPubWorld돋움체 Medium" panose="00000600000000000000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EB9C66A-FDF8-3141-D113-A9AF2133D526}"/>
              </a:ext>
            </a:extLst>
          </p:cNvPr>
          <p:cNvSpPr/>
          <p:nvPr/>
        </p:nvSpPr>
        <p:spPr>
          <a:xfrm>
            <a:off x="4839526" y="5981700"/>
            <a:ext cx="432312" cy="23237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32FE910-D5BA-2ECA-9EEA-475CD6643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838" y="1152525"/>
            <a:ext cx="6557534" cy="472044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DA964D2-25E8-1239-C261-E6D9A98619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895" y="3549743"/>
            <a:ext cx="5035742" cy="28351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B7C5685-543E-2ADB-8B78-A28DAF7BEB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37" y="1236471"/>
            <a:ext cx="2412917" cy="2229326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B9055BF-14FC-D715-D128-980F681F7D70}"/>
              </a:ext>
            </a:extLst>
          </p:cNvPr>
          <p:cNvSpPr/>
          <p:nvPr/>
        </p:nvSpPr>
        <p:spPr>
          <a:xfrm>
            <a:off x="635781" y="2399070"/>
            <a:ext cx="1232348" cy="27530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E134452-BF09-90A3-4E3A-13B22F790EE1}"/>
              </a:ext>
            </a:extLst>
          </p:cNvPr>
          <p:cNvSpPr/>
          <p:nvPr/>
        </p:nvSpPr>
        <p:spPr>
          <a:xfrm>
            <a:off x="7252441" y="1536691"/>
            <a:ext cx="1409777" cy="41992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9776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8CA9E-FCBC-6AD7-C3DA-7FBD57A37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270C82D-A7B6-21A3-684E-3F40FECAB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38" y="1393513"/>
            <a:ext cx="6328369" cy="45881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B0310-FBBD-B61A-1ACE-F72A16DDE8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8438" y="656902"/>
            <a:ext cx="7688263" cy="500352"/>
          </a:xfrm>
        </p:spPr>
        <p:txBody>
          <a:bodyPr/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1.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스위치로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  <a:p>
            <a:endParaRPr lang="en-US" altLang="ko-KR" sz="1800" dirty="0">
              <a:cs typeface="KoPubWorld돋움체 Medium" panose="00000600000000000000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A111293-3CFF-2BA0-0B87-E6E9E44A85BA}"/>
              </a:ext>
            </a:extLst>
          </p:cNvPr>
          <p:cNvSpPr/>
          <p:nvPr/>
        </p:nvSpPr>
        <p:spPr>
          <a:xfrm>
            <a:off x="635780" y="5555226"/>
            <a:ext cx="1037791" cy="35396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5138D99-11F6-98C6-CE8E-3C48C1D8E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723" y="3998576"/>
            <a:ext cx="2766803" cy="155665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2E284F3-40C3-5454-DD02-C92FA0295F6E}"/>
              </a:ext>
            </a:extLst>
          </p:cNvPr>
          <p:cNvSpPr/>
          <p:nvPr/>
        </p:nvSpPr>
        <p:spPr>
          <a:xfrm>
            <a:off x="3724338" y="5245697"/>
            <a:ext cx="533029" cy="24828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F2E99F7-C6DF-9044-7229-A74613A5F046}"/>
              </a:ext>
            </a:extLst>
          </p:cNvPr>
          <p:cNvCxnSpPr>
            <a:cxnSpLocks/>
          </p:cNvCxnSpPr>
          <p:nvPr/>
        </p:nvCxnSpPr>
        <p:spPr>
          <a:xfrm flipV="1">
            <a:off x="1779639" y="5464487"/>
            <a:ext cx="1838632" cy="2382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112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1B16A-5185-891A-5EBB-5770DD394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51A07-21F9-1FD6-0884-D900520F6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055" y="3429000"/>
            <a:ext cx="10744200" cy="1188720"/>
          </a:xfrm>
        </p:spPr>
        <p:txBody>
          <a:bodyPr/>
          <a:lstStyle/>
          <a:p>
            <a:r>
              <a:rPr lang="en-US" altLang="ko-KR" dirty="0">
                <a:cs typeface="KoPubWorld돋움체 Bold" panose="00000800000000000000" pitchFamily="2" charset="-127"/>
              </a:rPr>
              <a:t>2. Clock</a:t>
            </a:r>
            <a:r>
              <a:rPr lang="ko-KR" altLang="en-US" dirty="0">
                <a:cs typeface="KoPubWorld돋움체 Bold" panose="00000800000000000000" pitchFamily="2" charset="-127"/>
              </a:rPr>
              <a:t>과 </a:t>
            </a:r>
            <a:r>
              <a:rPr lang="en-US" altLang="ko-KR" dirty="0">
                <a:cs typeface="KoPubWorld돋움체 Bold" panose="00000800000000000000" pitchFamily="2" charset="-127"/>
              </a:rPr>
              <a:t>Reset</a:t>
            </a:r>
            <a:r>
              <a:rPr lang="ko-KR" altLang="en-US" dirty="0">
                <a:cs typeface="KoPubWorld돋움체 Bold" panose="00000800000000000000" pitchFamily="2" charset="-127"/>
              </a:rPr>
              <a:t>으로 </a:t>
            </a:r>
            <a:r>
              <a:rPr lang="en-US" altLang="ko-KR" dirty="0">
                <a:cs typeface="KoPubWorld돋움체 Bold" panose="00000800000000000000" pitchFamily="2" charset="-127"/>
              </a:rPr>
              <a:t>LED </a:t>
            </a:r>
            <a:r>
              <a:rPr lang="ko-KR" altLang="en-US" dirty="0">
                <a:cs typeface="KoPubWorld돋움체 Bold" panose="00000800000000000000" pitchFamily="2" charset="-127"/>
              </a:rPr>
              <a:t>제어</a:t>
            </a:r>
            <a:endParaRPr lang="en-US" altLang="ko-KR" dirty="0">
              <a:cs typeface="KoPubWorld돋움체 Bold" panose="00000800000000000000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63308B-1C0B-9DA1-E962-44693C221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0426" y="4023360"/>
            <a:ext cx="10827604" cy="677797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175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FC9A6-0786-DBAB-B910-0D3EF041D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9B2CEB-F710-8396-0F71-C4CD35CA406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2. Clock</a:t>
            </a:r>
            <a:r>
              <a:rPr lang="ko-KR" altLang="en-US" sz="2000" dirty="0">
                <a:cs typeface="KoPubWorld돋움체 Bold" panose="00000800000000000000" pitchFamily="2" charset="-127"/>
              </a:rPr>
              <a:t>과 </a:t>
            </a:r>
            <a:r>
              <a:rPr lang="en-US" altLang="ko-KR" sz="2000" dirty="0">
                <a:cs typeface="KoPubWorld돋움체 Bold" panose="00000800000000000000" pitchFamily="2" charset="-127"/>
              </a:rPr>
              <a:t>Reset</a:t>
            </a:r>
            <a:r>
              <a:rPr lang="ko-KR" altLang="en-US" sz="2000" dirty="0">
                <a:cs typeface="KoPubWorld돋움체 Bold" panose="00000800000000000000" pitchFamily="2" charset="-127"/>
              </a:rPr>
              <a:t>으로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4DAC392-BAC2-3CFA-7877-6FAA65D37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20" y="1308645"/>
            <a:ext cx="4344006" cy="174331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06D7371-C07A-2DFE-FEBD-B6271ED4F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1838" y="1424004"/>
            <a:ext cx="6269957" cy="4009991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590FE2B-30D2-51C9-E6D0-D8D7FB7CD3FA}"/>
              </a:ext>
            </a:extLst>
          </p:cNvPr>
          <p:cNvSpPr/>
          <p:nvPr/>
        </p:nvSpPr>
        <p:spPr>
          <a:xfrm>
            <a:off x="438439" y="1308645"/>
            <a:ext cx="4192556" cy="67747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37CFCA6-58F5-6B99-817F-1750F4E1AC05}"/>
              </a:ext>
            </a:extLst>
          </p:cNvPr>
          <p:cNvSpPr/>
          <p:nvPr/>
        </p:nvSpPr>
        <p:spPr>
          <a:xfrm>
            <a:off x="5879843" y="2231922"/>
            <a:ext cx="1012569" cy="216309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9099A84-98AF-BB28-648B-813468A39023}"/>
              </a:ext>
            </a:extLst>
          </p:cNvPr>
          <p:cNvSpPr/>
          <p:nvPr/>
        </p:nvSpPr>
        <p:spPr>
          <a:xfrm>
            <a:off x="9773908" y="5106028"/>
            <a:ext cx="530298" cy="24272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904804-9246-37E1-67B3-4F1D2E4ED6D1}"/>
              </a:ext>
            </a:extLst>
          </p:cNvPr>
          <p:cNvSpPr txBox="1"/>
          <p:nvPr/>
        </p:nvSpPr>
        <p:spPr>
          <a:xfrm>
            <a:off x="1148808" y="5364689"/>
            <a:ext cx="336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linkClick r:id="rId5" action="ppaction://hlinksldjump"/>
              </a:rPr>
              <a:t>앞장의 </a:t>
            </a:r>
            <a:r>
              <a:rPr lang="en-US" altLang="ko-KR" dirty="0">
                <a:hlinkClick r:id="rId5" action="ppaction://hlinksldjump"/>
              </a:rPr>
              <a:t>Project Setup </a:t>
            </a:r>
            <a:r>
              <a:rPr lang="ko-KR" altLang="en-US" dirty="0" err="1">
                <a:hlinkClick r:id="rId5" action="ppaction://hlinksldjump"/>
              </a:rPr>
              <a:t>보러가기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517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2E65E-F229-B54E-6907-5BEFFF3C8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96059DC-59C1-984F-951E-C3396D693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449" y="1845438"/>
            <a:ext cx="5823747" cy="396481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CC8F88-F0CA-236C-7083-92CA0C5DA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54" y="1756948"/>
            <a:ext cx="5128859" cy="3964812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482C17D-12E9-C4DC-E74E-C6617DFB073C}"/>
              </a:ext>
            </a:extLst>
          </p:cNvPr>
          <p:cNvSpPr/>
          <p:nvPr/>
        </p:nvSpPr>
        <p:spPr>
          <a:xfrm>
            <a:off x="7544632" y="4064409"/>
            <a:ext cx="881613" cy="25195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41456B2-D118-586F-D05D-247C4BD0BD33}"/>
              </a:ext>
            </a:extLst>
          </p:cNvPr>
          <p:cNvSpPr/>
          <p:nvPr/>
        </p:nvSpPr>
        <p:spPr>
          <a:xfrm>
            <a:off x="2464934" y="2789335"/>
            <a:ext cx="2136563" cy="209729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959BBAC-7834-CBFF-F51E-8AD0E28B1402}"/>
              </a:ext>
            </a:extLst>
          </p:cNvPr>
          <p:cNvSpPr/>
          <p:nvPr/>
        </p:nvSpPr>
        <p:spPr>
          <a:xfrm>
            <a:off x="7694388" y="4556024"/>
            <a:ext cx="613869" cy="25195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5D903A3C-3D80-2661-ABA8-9D2AF8B7D79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2. Clock</a:t>
            </a:r>
            <a:r>
              <a:rPr lang="ko-KR" altLang="en-US" sz="2000" dirty="0">
                <a:cs typeface="KoPubWorld돋움체 Bold" panose="00000800000000000000" pitchFamily="2" charset="-127"/>
              </a:rPr>
              <a:t>과 </a:t>
            </a:r>
            <a:r>
              <a:rPr lang="en-US" altLang="ko-KR" sz="2000" dirty="0">
                <a:cs typeface="KoPubWorld돋움체 Bold" panose="00000800000000000000" pitchFamily="2" charset="-127"/>
              </a:rPr>
              <a:t>Reset</a:t>
            </a:r>
            <a:r>
              <a:rPr lang="ko-KR" altLang="en-US" sz="2000" dirty="0">
                <a:cs typeface="KoPubWorld돋움체 Bold" panose="00000800000000000000" pitchFamily="2" charset="-127"/>
              </a:rPr>
              <a:t>으로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6245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1896B-CB32-5830-610D-1E2CFB738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16336EB-01E6-0B0A-9D73-B731FBBD6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98" y="1781312"/>
            <a:ext cx="6763758" cy="4177938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AF03FCB-A8C9-3287-2A04-0C6A67BDB5B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70637-62BF-A03E-B923-1651A4EE23D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2. Clock</a:t>
            </a:r>
            <a:r>
              <a:rPr lang="ko-KR" altLang="en-US" sz="2000" dirty="0">
                <a:cs typeface="KoPubWorld돋움체 Bold" panose="00000800000000000000" pitchFamily="2" charset="-127"/>
              </a:rPr>
              <a:t>과 </a:t>
            </a:r>
            <a:r>
              <a:rPr lang="en-US" altLang="ko-KR" sz="2000" dirty="0">
                <a:cs typeface="KoPubWorld돋움체 Bold" panose="00000800000000000000" pitchFamily="2" charset="-127"/>
              </a:rPr>
              <a:t>Reset</a:t>
            </a:r>
            <a:r>
              <a:rPr lang="ko-KR" altLang="en-US" sz="2000" dirty="0">
                <a:cs typeface="KoPubWorld돋움체 Bold" panose="00000800000000000000" pitchFamily="2" charset="-127"/>
              </a:rPr>
              <a:t>으로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BC6DBC8-B68F-722D-0965-47257E497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123" y="5180176"/>
            <a:ext cx="1527596" cy="15581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621098-6910-A51D-8236-6F4E4BED5D4A}"/>
              </a:ext>
            </a:extLst>
          </p:cNvPr>
          <p:cNvSpPr txBox="1"/>
          <p:nvPr/>
        </p:nvSpPr>
        <p:spPr>
          <a:xfrm>
            <a:off x="7597240" y="1223777"/>
            <a:ext cx="5085607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module </a:t>
            </a:r>
            <a:r>
              <a:rPr lang="en-US" sz="1400" dirty="0" err="1"/>
              <a:t>LED_Clock_Reset</a:t>
            </a:r>
            <a:r>
              <a:rPr lang="en-US" sz="1400" dirty="0"/>
              <a:t>(</a:t>
            </a:r>
          </a:p>
          <a:p>
            <a:r>
              <a:rPr lang="en-US" sz="1400" dirty="0"/>
              <a:t>    input  wire       </a:t>
            </a:r>
            <a:r>
              <a:rPr lang="en-US" sz="1400" dirty="0" err="1"/>
              <a:t>clk</a:t>
            </a:r>
            <a:r>
              <a:rPr lang="en-US" sz="1400" dirty="0"/>
              <a:t>,      // 125MHz system clock</a:t>
            </a:r>
          </a:p>
          <a:p>
            <a:r>
              <a:rPr lang="en-US" sz="1400" dirty="0"/>
              <a:t>    input  wire       btn0,     // BTN0 - active high reset</a:t>
            </a:r>
          </a:p>
          <a:p>
            <a:r>
              <a:rPr lang="en-US" sz="1400" dirty="0"/>
              <a:t>    output reg  [3:0] led       // LED0 ~ LED3</a:t>
            </a:r>
          </a:p>
          <a:p>
            <a:r>
              <a:rPr lang="en-US" sz="1400" dirty="0"/>
              <a:t>);</a:t>
            </a:r>
          </a:p>
          <a:p>
            <a:endParaRPr lang="en-US" sz="1400" dirty="0"/>
          </a:p>
          <a:p>
            <a:r>
              <a:rPr lang="en-US" sz="1400" dirty="0"/>
              <a:t>    reg [25:0] counter;</a:t>
            </a:r>
          </a:p>
          <a:p>
            <a:r>
              <a:rPr lang="en-US" sz="1400" dirty="0"/>
              <a:t>    reg [1:0]  index;</a:t>
            </a:r>
          </a:p>
          <a:p>
            <a:endParaRPr lang="en-US" sz="1400" dirty="0"/>
          </a:p>
          <a:p>
            <a:r>
              <a:rPr lang="en-US" sz="1400" dirty="0"/>
              <a:t>    always @(posedge </a:t>
            </a:r>
            <a:r>
              <a:rPr lang="en-US" sz="1400" dirty="0" err="1"/>
              <a:t>clk</a:t>
            </a:r>
            <a:r>
              <a:rPr lang="en-US" sz="1400" dirty="0"/>
              <a:t> or </a:t>
            </a:r>
            <a:r>
              <a:rPr lang="en-US" sz="1400" dirty="0" err="1"/>
              <a:t>posedge</a:t>
            </a:r>
            <a:r>
              <a:rPr lang="en-US" sz="1400" dirty="0"/>
              <a:t> btn0) begin</a:t>
            </a:r>
          </a:p>
          <a:p>
            <a:r>
              <a:rPr lang="en-US" sz="1400" dirty="0"/>
              <a:t>        if (btn0) begin</a:t>
            </a:r>
          </a:p>
          <a:p>
            <a:r>
              <a:rPr lang="en-US" sz="1400" dirty="0"/>
              <a:t>            counter &lt;= 0;</a:t>
            </a:r>
          </a:p>
          <a:p>
            <a:r>
              <a:rPr lang="en-US" sz="1400" dirty="0"/>
              <a:t>            index   &lt;= 0;</a:t>
            </a:r>
          </a:p>
          <a:p>
            <a:r>
              <a:rPr lang="en-US" sz="1400" dirty="0"/>
              <a:t>            led     &lt;= 4'b0000;</a:t>
            </a:r>
          </a:p>
          <a:p>
            <a:r>
              <a:rPr lang="en-US" sz="1400" dirty="0"/>
              <a:t>        end else begin</a:t>
            </a:r>
          </a:p>
          <a:p>
            <a:r>
              <a:rPr lang="en-US" sz="1400" dirty="0"/>
              <a:t>            if (counter == 26'd62_499_999) begin</a:t>
            </a:r>
          </a:p>
          <a:p>
            <a:r>
              <a:rPr lang="en-US" sz="1400" dirty="0"/>
              <a:t>                counter &lt;= 0;</a:t>
            </a:r>
          </a:p>
          <a:p>
            <a:r>
              <a:rPr lang="en-US" sz="1400" dirty="0"/>
              <a:t>                index   &lt;= index + 1;</a:t>
            </a:r>
          </a:p>
          <a:p>
            <a:r>
              <a:rPr lang="en-US" sz="1400" dirty="0"/>
              <a:t>                led     &lt;= 4'b0001 &lt;&lt; index;</a:t>
            </a:r>
          </a:p>
          <a:p>
            <a:r>
              <a:rPr lang="en-US" sz="1400" dirty="0"/>
              <a:t>            end else begin</a:t>
            </a:r>
          </a:p>
          <a:p>
            <a:r>
              <a:rPr lang="en-US" sz="1400" dirty="0"/>
              <a:t>                counter &lt;= counter + 1;</a:t>
            </a:r>
          </a:p>
          <a:p>
            <a:r>
              <a:rPr lang="en-US" sz="1400" dirty="0"/>
              <a:t>            end</a:t>
            </a:r>
          </a:p>
          <a:p>
            <a:r>
              <a:rPr lang="en-US" sz="1400" dirty="0"/>
              <a:t>        end</a:t>
            </a:r>
          </a:p>
          <a:p>
            <a:r>
              <a:rPr lang="en-US" sz="1400" dirty="0"/>
              <a:t>    end</a:t>
            </a:r>
          </a:p>
          <a:p>
            <a:r>
              <a:rPr lang="en-US" sz="1400" dirty="0" err="1"/>
              <a:t>endmodule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0C29B6-9C66-4BD5-B2ED-6B0AC8A115F1}"/>
              </a:ext>
            </a:extLst>
          </p:cNvPr>
          <p:cNvSpPr txBox="1"/>
          <p:nvPr/>
        </p:nvSpPr>
        <p:spPr>
          <a:xfrm>
            <a:off x="8884205" y="717683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복사용 </a:t>
            </a:r>
            <a:r>
              <a:rPr lang="en-US" altLang="ko-KR" dirty="0"/>
              <a:t>Code</a:t>
            </a:r>
            <a:endParaRPr 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315D0F9-1299-9783-7293-B56DBAA045AF}"/>
              </a:ext>
            </a:extLst>
          </p:cNvPr>
          <p:cNvSpPr/>
          <p:nvPr/>
        </p:nvSpPr>
        <p:spPr>
          <a:xfrm>
            <a:off x="3685308" y="2683942"/>
            <a:ext cx="2595419" cy="304826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9C5CE6C-11D9-B306-50B3-C8985DEC62E7}"/>
              </a:ext>
            </a:extLst>
          </p:cNvPr>
          <p:cNvSpPr/>
          <p:nvPr/>
        </p:nvSpPr>
        <p:spPr>
          <a:xfrm>
            <a:off x="555870" y="5147366"/>
            <a:ext cx="957106" cy="22727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EC8D452-3E6D-1A52-7E43-0FC22E9880C2}"/>
              </a:ext>
            </a:extLst>
          </p:cNvPr>
          <p:cNvCxnSpPr>
            <a:cxnSpLocks/>
          </p:cNvCxnSpPr>
          <p:nvPr/>
        </p:nvCxnSpPr>
        <p:spPr>
          <a:xfrm flipH="1">
            <a:off x="6280727" y="1611005"/>
            <a:ext cx="1171674" cy="10729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07D32E5-EB75-4A34-686D-EB4670AC43A5}"/>
              </a:ext>
            </a:extLst>
          </p:cNvPr>
          <p:cNvCxnSpPr>
            <a:cxnSpLocks/>
          </p:cNvCxnSpPr>
          <p:nvPr/>
        </p:nvCxnSpPr>
        <p:spPr>
          <a:xfrm flipH="1">
            <a:off x="1617174" y="3713018"/>
            <a:ext cx="1916889" cy="12922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91DA8DA-7F0D-D807-476C-5FFBA79293E6}"/>
              </a:ext>
            </a:extLst>
          </p:cNvPr>
          <p:cNvSpPr/>
          <p:nvPr/>
        </p:nvSpPr>
        <p:spPr>
          <a:xfrm>
            <a:off x="1846728" y="5911780"/>
            <a:ext cx="981684" cy="22235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6F17DAB-3AC9-8A00-FDF9-CF44A89B1FA4}"/>
              </a:ext>
            </a:extLst>
          </p:cNvPr>
          <p:cNvSpPr/>
          <p:nvPr/>
        </p:nvSpPr>
        <p:spPr>
          <a:xfrm>
            <a:off x="2113388" y="6460598"/>
            <a:ext cx="529402" cy="22235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8927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F8F1E-0E93-9EA5-0D3C-19838A43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92B00F2-4543-CEF0-C26F-B149B52F795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8FDC80-CAF3-6D63-146C-5C79F611152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2. Clock</a:t>
            </a:r>
            <a:r>
              <a:rPr lang="ko-KR" altLang="en-US" sz="2000" dirty="0">
                <a:cs typeface="KoPubWorld돋움체 Bold" panose="00000800000000000000" pitchFamily="2" charset="-127"/>
              </a:rPr>
              <a:t>과 </a:t>
            </a:r>
            <a:r>
              <a:rPr lang="en-US" altLang="ko-KR" sz="2000" dirty="0">
                <a:cs typeface="KoPubWorld돋움체 Bold" panose="00000800000000000000" pitchFamily="2" charset="-127"/>
              </a:rPr>
              <a:t>Reset</a:t>
            </a:r>
            <a:r>
              <a:rPr lang="ko-KR" altLang="en-US" sz="2000" dirty="0">
                <a:cs typeface="KoPubWorld돋움체 Bold" panose="00000800000000000000" pitchFamily="2" charset="-127"/>
              </a:rPr>
              <a:t>으로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19BBDD-3B67-6E70-DF73-61FEBC42C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52" y="1350358"/>
            <a:ext cx="7729248" cy="239401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7E055E3-1D51-CC55-4A23-5DD090F2A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166" y="2583082"/>
            <a:ext cx="3758032" cy="154372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D8F7473-B90A-A1CC-5EDD-EDA6CFB25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2569" y="4361137"/>
            <a:ext cx="7464194" cy="1996791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50C04CA-1636-92DC-EF49-263B3D79CA5A}"/>
              </a:ext>
            </a:extLst>
          </p:cNvPr>
          <p:cNvSpPr/>
          <p:nvPr/>
        </p:nvSpPr>
        <p:spPr>
          <a:xfrm>
            <a:off x="3327894" y="1838632"/>
            <a:ext cx="1263771" cy="172064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8D77A38-F3E9-D720-040D-F3A6F04AF27E}"/>
              </a:ext>
            </a:extLst>
          </p:cNvPr>
          <p:cNvSpPr/>
          <p:nvPr/>
        </p:nvSpPr>
        <p:spPr>
          <a:xfrm>
            <a:off x="5083277" y="1843547"/>
            <a:ext cx="1012723" cy="172064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410FD77-AB41-44C8-B682-30D68CF4CB10}"/>
              </a:ext>
            </a:extLst>
          </p:cNvPr>
          <p:cNvSpPr/>
          <p:nvPr/>
        </p:nvSpPr>
        <p:spPr>
          <a:xfrm>
            <a:off x="9979742" y="3744373"/>
            <a:ext cx="651559" cy="30651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A19E71-589E-6F96-CB02-CBA5C2FD3F0C}"/>
              </a:ext>
            </a:extLst>
          </p:cNvPr>
          <p:cNvSpPr txBox="1"/>
          <p:nvPr/>
        </p:nvSpPr>
        <p:spPr>
          <a:xfrm>
            <a:off x="6525608" y="1399957"/>
            <a:ext cx="1404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Control + S</a:t>
            </a:r>
          </a:p>
        </p:txBody>
      </p:sp>
      <p:sp>
        <p:nvSpPr>
          <p:cNvPr id="18" name="화살표: 왼쪽으로 구부러짐 17">
            <a:extLst>
              <a:ext uri="{FF2B5EF4-FFF2-40B4-BE49-F238E27FC236}">
                <a16:creationId xmlns:a16="http://schemas.microsoft.com/office/drawing/2014/main" id="{B8915DED-2B2D-3149-1FCF-834003CB09F2}"/>
              </a:ext>
            </a:extLst>
          </p:cNvPr>
          <p:cNvSpPr/>
          <p:nvPr/>
        </p:nvSpPr>
        <p:spPr>
          <a:xfrm rot="16200000">
            <a:off x="6928224" y="1205757"/>
            <a:ext cx="500351" cy="1790717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323A47F-4FDA-BE1D-C29E-6784D2E7CA4E}"/>
              </a:ext>
            </a:extLst>
          </p:cNvPr>
          <p:cNvSpPr/>
          <p:nvPr/>
        </p:nvSpPr>
        <p:spPr>
          <a:xfrm>
            <a:off x="4384866" y="5309419"/>
            <a:ext cx="1022876" cy="19822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960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AF1C-D2E2-F687-A225-02060D9D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FA77AAC-1A92-7437-511B-23EF95E64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314" y="1100906"/>
            <a:ext cx="7561905" cy="5299242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28EAAD-28B1-7035-F203-F5485FB16A2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cs typeface="KoPubWorld돋움체 Bold" panose="00000800000000000000" pitchFamily="2" charset="-127"/>
              </a:rPr>
              <a:t>2. Clock</a:t>
            </a:r>
            <a:r>
              <a:rPr lang="ko-KR" altLang="en-US" sz="2000" dirty="0">
                <a:cs typeface="KoPubWorld돋움체 Bold" panose="00000800000000000000" pitchFamily="2" charset="-127"/>
              </a:rPr>
              <a:t>과 </a:t>
            </a:r>
            <a:r>
              <a:rPr lang="en-US" altLang="ko-KR" sz="2000" dirty="0">
                <a:cs typeface="KoPubWorld돋움체 Bold" panose="00000800000000000000" pitchFamily="2" charset="-127"/>
              </a:rPr>
              <a:t>Reset</a:t>
            </a:r>
            <a:r>
              <a:rPr lang="ko-KR" altLang="en-US" sz="2000" dirty="0">
                <a:cs typeface="KoPubWorld돋움체 Bold" panose="00000800000000000000" pitchFamily="2" charset="-127"/>
              </a:rPr>
              <a:t>으로 </a:t>
            </a:r>
            <a:r>
              <a:rPr lang="en-US" altLang="ko-KR" sz="2000" dirty="0">
                <a:cs typeface="KoPubWorld돋움체 Bold" panose="00000800000000000000" pitchFamily="2" charset="-127"/>
              </a:rPr>
              <a:t>LED </a:t>
            </a:r>
            <a:r>
              <a:rPr lang="ko-KR" altLang="en-US" sz="2000" dirty="0">
                <a:cs typeface="KoPubWorld돋움체 Bold" panose="00000800000000000000" pitchFamily="2" charset="-127"/>
              </a:rPr>
              <a:t>제어</a:t>
            </a:r>
            <a:endParaRPr lang="en-US" altLang="ko-KR" sz="2000" dirty="0">
              <a:cs typeface="KoPubWorld돋움체 Bold" panose="000008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8F1C82-71CF-5EF0-8F0E-1FF53F3E9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81" y="1340606"/>
            <a:ext cx="2636320" cy="243573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CC90537-875F-CAC2-B77D-D27795884A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14" y="4054488"/>
            <a:ext cx="3821206" cy="2151339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3D16BBF-A824-D932-2CE7-53014B26C2AB}"/>
              </a:ext>
            </a:extLst>
          </p:cNvPr>
          <p:cNvSpPr/>
          <p:nvPr/>
        </p:nvSpPr>
        <p:spPr>
          <a:xfrm>
            <a:off x="844300" y="2595716"/>
            <a:ext cx="1367958" cy="31463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886FEBC-F381-043F-0F12-68A1C45041EB}"/>
              </a:ext>
            </a:extLst>
          </p:cNvPr>
          <p:cNvSpPr/>
          <p:nvPr/>
        </p:nvSpPr>
        <p:spPr>
          <a:xfrm>
            <a:off x="1743954" y="3328220"/>
            <a:ext cx="645285" cy="31463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D96CC56-CFC5-FB33-3C96-A40395023238}"/>
              </a:ext>
            </a:extLst>
          </p:cNvPr>
          <p:cNvSpPr/>
          <p:nvPr/>
        </p:nvSpPr>
        <p:spPr>
          <a:xfrm>
            <a:off x="5642454" y="2379406"/>
            <a:ext cx="4907559" cy="215133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C07F85-5999-7FD5-C766-6CCC9F2C07FB}"/>
              </a:ext>
            </a:extLst>
          </p:cNvPr>
          <p:cNvSpPr txBox="1"/>
          <p:nvPr/>
        </p:nvSpPr>
        <p:spPr>
          <a:xfrm>
            <a:off x="2516230" y="2373805"/>
            <a:ext cx="2956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우클릭</a:t>
            </a:r>
            <a:r>
              <a:rPr lang="ko-KR" altLang="en-US" dirty="0">
                <a:solidFill>
                  <a:srgbClr val="FF0000"/>
                </a:solidFill>
              </a:rPr>
              <a:t> 후 </a:t>
            </a:r>
            <a:r>
              <a:rPr lang="en-US" altLang="ko-KR" dirty="0">
                <a:solidFill>
                  <a:srgbClr val="FF0000"/>
                </a:solidFill>
              </a:rPr>
              <a:t>Program Device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6515593-D7D1-58A6-4876-1311EDD465C5}"/>
              </a:ext>
            </a:extLst>
          </p:cNvPr>
          <p:cNvCxnSpPr>
            <a:cxnSpLocks/>
          </p:cNvCxnSpPr>
          <p:nvPr/>
        </p:nvCxnSpPr>
        <p:spPr>
          <a:xfrm flipH="1" flipV="1">
            <a:off x="5083277" y="2743137"/>
            <a:ext cx="693093" cy="1672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8415B4D-7ADB-2F96-3DC3-2591BDC3C634}"/>
              </a:ext>
            </a:extLst>
          </p:cNvPr>
          <p:cNvSpPr/>
          <p:nvPr/>
        </p:nvSpPr>
        <p:spPr>
          <a:xfrm>
            <a:off x="9054262" y="4031228"/>
            <a:ext cx="591183" cy="32446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51559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9369</TotalTime>
  <Words>413</Words>
  <Application>Microsoft Office PowerPoint</Application>
  <PresentationFormat>와이드스크린</PresentationFormat>
  <Paragraphs>95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나눔스퀘어 네오 Regular</vt:lpstr>
      <vt:lpstr>맑은 고딕</vt:lpstr>
      <vt:lpstr>Arial</vt:lpstr>
      <vt:lpstr>Office 테마</vt:lpstr>
      <vt:lpstr>SOC301 | ARM Programming</vt:lpstr>
      <vt:lpstr>1. 스위치로 LED 제어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2. Clock과 Reset으로 LED 제어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FPGA</dc:title>
  <dc:creator>예빈 문</dc:creator>
  <cp:lastModifiedBy>Seungan Woo</cp:lastModifiedBy>
  <cp:revision>484</cp:revision>
  <dcterms:created xsi:type="dcterms:W3CDTF">2024-09-20T05:42:48Z</dcterms:created>
  <dcterms:modified xsi:type="dcterms:W3CDTF">2026-09-17T12:37:01Z</dcterms:modified>
</cp:coreProperties>
</file>