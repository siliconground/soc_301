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0" r:id="rId2"/>
    <p:sldId id="378" r:id="rId3"/>
    <p:sldId id="379" r:id="rId4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378"/>
            <p14:sldId id="3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82762" autoAdjust="0"/>
  </p:normalViewPr>
  <p:slideViewPr>
    <p:cSldViewPr snapToGrid="0" showGuides="1">
      <p:cViewPr varScale="1">
        <p:scale>
          <a:sx n="94" d="100"/>
          <a:sy n="94" d="100"/>
        </p:scale>
        <p:origin x="1422" y="78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  <Relationship Id="rId11" Type="http://schemas.openxmlformats.org/officeDocument/2006/relationships/slide" Target="slides/slide4.xml"/>
  <Relationship Id="rId12" Type="http://schemas.openxmlformats.org/officeDocument/2006/relationships/slide" Target="slides/slide5.xml"/>
  <Relationship Id="rId13" Type="http://schemas.openxmlformats.org/officeDocument/2006/relationships/slide" Target="slides/slide6.xml"/>
  <Relationship Id="rId14" Type="http://schemas.openxmlformats.org/officeDocument/2006/relationships/slide" Target="slides/slide7.xml"/>
  <Relationship Id="rId15" Type="http://schemas.openxmlformats.org/officeDocument/2006/relationships/slide" Target="slides/slide8.xml"/>
  <Relationship Id="rId16" Type="http://schemas.openxmlformats.org/officeDocument/2006/relationships/slide" Target="slides/slide9.xml"/>
  <Relationship Id="rId17" Type="http://schemas.openxmlformats.org/officeDocument/2006/relationships/slide" Target="slides/slide10.xml"/>
  <Relationship Id="rId18" Type="http://schemas.openxmlformats.org/officeDocument/2006/relationships/slide" Target="slides/slide11.xml"/>
  <Relationship Id="rId19" Type="http://schemas.openxmlformats.org/officeDocument/2006/relationships/slide" Target="slides/slide12.xml"/>
  <Relationship Id="rId20" Type="http://schemas.openxmlformats.org/officeDocument/2006/relationships/slide" Target="slides/slide1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F1B8-8964-AFB2-0327-F5F2C833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D98677-EE8B-1EDD-948A-661532CA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C3A93-2691-44F2-FC4F-A936FA7CB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AAB7E3-8887-992C-8453-973CE04D0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88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F1B8-8964-AFB2-0327-F5F2C833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D98677-EE8B-1EDD-948A-661532CA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C3A93-2691-44F2-FC4F-A936FA7CB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AAB7E3-8887-992C-8453-973CE04D0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3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C4032A-B341-97E5-5757-11BA6E482407}"/>
              </a:ext>
            </a:extLst>
          </p:cNvPr>
          <p:cNvSpPr txBox="1"/>
          <p:nvPr userDrawn="1"/>
        </p:nvSpPr>
        <p:spPr>
          <a:xfrm>
            <a:off x="195493" y="6511766"/>
            <a:ext cx="28905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700" b="0" i="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</a:rPr>
              <a:t>Copyright ⓒ </a:t>
            </a:r>
            <a:r>
              <a:rPr lang="en-US" altLang="ko-KR" sz="700" b="0" i="0" dirty="0" err="1">
                <a:solidFill>
                  <a:schemeClr val="bg2">
                    <a:lumMod val="90000"/>
                  </a:schemeClr>
                </a:solidFill>
                <a:effectLst/>
                <a:latin typeface="+mn-lt"/>
              </a:rPr>
              <a:t>NineplusIT</a:t>
            </a:r>
            <a:r>
              <a:rPr lang="en-US" altLang="ko-KR" sz="700" b="0" i="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</a:rPr>
              <a:t>. All rights reserved.</a:t>
            </a:r>
            <a:endParaRPr lang="ko-KR" altLang="en-US" sz="700" dirty="0">
              <a:solidFill>
                <a:schemeClr val="bg2">
                  <a:lumMod val="90000"/>
                </a:schemeClr>
              </a:solidFill>
              <a:latin typeface="+mn-lt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44244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SOC301 | ARM Programming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4. Basic C Programming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1. Data Type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201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MCU / CPU 아키텍처별 C 기본 자료형의 크기 비교</a:t>
            </a:r>
          </a:p>
        </p:txBody>
      </p:sp>
      <p:sp>
        <p:nvSpPr>
          <p:cNvPr id="202" name="라벨 기본 자료형"/>
          <p:cNvSpPr txBox="1"/>
          <p:nvPr/>
        </p:nvSpPr>
        <p:spPr>
          <a:xfrm>
            <a:off x="438438" y="1700000"/>
            <a:ext cx="1036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기본 자료형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Data Type Size</a:t>
            </a:r>
          </a:p>
        </p:txBody>
      </p:sp>
      <p:graphicFrame>
        <p:nvGraphicFramePr>
          <p:cNvPr id="250" name="표 자료형"/>
          <p:cNvGraphicFramePr>
            <a:graphicFrameLocks noGrp="1"/>
          </p:cNvGraphicFramePr>
          <p:nvPr/>
        </p:nvGraphicFramePr>
        <p:xfrm>
          <a:off x="438438" y="2030000"/>
          <a:ext cx="10360000" cy="2560000"/>
        </p:xfrm>
        <a:graphic>
          <a:graphicData uri="http://schemas.openxmlformats.org/drawingml/2006/table">
            <a:tbl>
              <a:tblPr firstRow="1"/>
              <a:tblGrid>
                <a:gridCol w="1392473"/>
                <a:gridCol w="1058279"/>
                <a:gridCol w="1058279"/>
                <a:gridCol w="1392473"/>
                <a:gridCol w="3676129"/>
                <a:gridCol w="1782367"/>
              </a:tblGrid>
              <a:tr h="32000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데이터 타입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크기 (Byte)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20000">
                <a:tc vMerge="1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Atmega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ARM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AMD64 (x86)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char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문자 1개 저장 (ASCII Code 기반)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문자형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int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시스템 기본 정수 연산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정수형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short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소수점 없는 숫자 저장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정수형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long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대용량 정수 데이터 처리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정수형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float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정밀도가 낮은 실수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단정도 실수형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double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높은 정밀도가 필요한 일반적인 실수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배정도 실수형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203" name="참고"/>
          <p:cNvSpPr txBox="1"/>
          <p:nvPr/>
        </p:nvSpPr>
        <p:spPr>
          <a:xfrm>
            <a:off x="438438" y="4890000"/>
            <a:ext cx="1036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자료형의 크기는 컴파일러와 OS에 따라 다를 수 있으므로 sizeof() 로 확인합니다. (예: 64비트 Linux/macOS에서 long은 8 Byte)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크기를 고정해야 하는 레지스터·통신 데이터에는 &lt;stdint.h&gt;의 uint8_t, int16_t, uint32_t 등을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581657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Operator (1)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1" name="예시 조건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예시 조건:  int a = 10, b = 3;</a:t>
            </a:r>
          </a:p>
        </p:txBody>
      </p:sp>
      <p:sp>
        <p:nvSpPr>
          <p:cNvPr id="102" name="라벨 산술 연산자"/>
          <p:cNvSpPr txBox="1"/>
          <p:nvPr/>
        </p:nvSpPr>
        <p:spPr>
          <a:xfrm>
            <a:off x="438438" y="170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산술 연산자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Arithmetic</a:t>
            </a:r>
          </a:p>
        </p:txBody>
      </p:sp>
      <p:graphicFrame>
        <p:nvGraphicFramePr>
          <p:cNvPr id="103" name="표 산술 연산자"/>
          <p:cNvGraphicFramePr>
            <a:graphicFrameLocks noGrp="1"/>
          </p:cNvGraphicFramePr>
          <p:nvPr/>
        </p:nvGraphicFramePr>
        <p:xfrm>
          <a:off x="438438" y="2030000"/>
          <a:ext cx="3300000" cy="1920000"/>
        </p:xfrm>
        <a:graphic>
          <a:graphicData uri="http://schemas.openxmlformats.org/drawingml/2006/table">
            <a:tbl>
              <a:tblPr firstRow="1"/>
              <a:tblGrid>
                <a:gridCol w="660000"/>
                <a:gridCol w="1031250"/>
                <a:gridCol w="1113750"/>
                <a:gridCol w="49500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연산자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+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덧셈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+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-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뺄셈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-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*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곱셈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*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30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/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나눗셈 (몫)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/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%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나머지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%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라벨 비교 연산자"/>
          <p:cNvSpPr txBox="1"/>
          <p:nvPr/>
        </p:nvSpPr>
        <p:spPr>
          <a:xfrm>
            <a:off x="3967038" y="170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비교 연산자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Relational</a:t>
            </a:r>
          </a:p>
        </p:txBody>
      </p:sp>
      <p:graphicFrame>
        <p:nvGraphicFramePr>
          <p:cNvPr id="105" name="표 비교 연산자"/>
          <p:cNvGraphicFramePr>
            <a:graphicFrameLocks noGrp="1"/>
          </p:cNvGraphicFramePr>
          <p:nvPr/>
        </p:nvGraphicFramePr>
        <p:xfrm>
          <a:off x="3967038" y="2030000"/>
          <a:ext cx="3300000" cy="2240000"/>
        </p:xfrm>
        <a:graphic>
          <a:graphicData uri="http://schemas.openxmlformats.org/drawingml/2006/table">
            <a:tbl>
              <a:tblPr firstRow="1"/>
              <a:tblGrid>
                <a:gridCol w="660000"/>
                <a:gridCol w="1031250"/>
                <a:gridCol w="1113750"/>
                <a:gridCol w="49500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연산자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==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같다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==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!=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같지 않다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!=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&gt;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크다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&gt;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&lt;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작다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&lt;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&gt;=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크거나 같다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&gt;=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&lt;=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작거나 같다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&lt;=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106" name="라벨 논리 연산자"/>
          <p:cNvSpPr txBox="1"/>
          <p:nvPr/>
        </p:nvSpPr>
        <p:spPr>
          <a:xfrm>
            <a:off x="7495638" y="170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논리 연산자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Logical</a:t>
            </a:r>
          </a:p>
        </p:txBody>
      </p:sp>
      <p:graphicFrame>
        <p:nvGraphicFramePr>
          <p:cNvPr id="107" name="표 논리 연산자"/>
          <p:cNvGraphicFramePr>
            <a:graphicFrameLocks noGrp="1"/>
          </p:cNvGraphicFramePr>
          <p:nvPr/>
        </p:nvGraphicFramePr>
        <p:xfrm>
          <a:off x="7495638" y="2030000"/>
          <a:ext cx="3300000" cy="1280000"/>
        </p:xfrm>
        <a:graphic>
          <a:graphicData uri="http://schemas.openxmlformats.org/drawingml/2006/table">
            <a:tbl>
              <a:tblPr firstRow="1"/>
              <a:tblGrid>
                <a:gridCol w="603658"/>
                <a:gridCol w="804878"/>
                <a:gridCol w="1489024"/>
                <a:gridCol w="40244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연산자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&amp;&amp;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논리 AND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(a&gt;5) &amp;&amp; (b&gt;5)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||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논리 OR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(a&gt;5) || (b&gt;5)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!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논리 NOT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!(a&gt;5)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참고"/>
          <p:cNvSpPr txBox="1"/>
          <p:nvPr/>
        </p:nvSpPr>
        <p:spPr>
          <a:xfrm>
            <a:off x="438438" y="4570000"/>
            <a:ext cx="1036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정수끼리의 나눗셈(/)은 소수점 이하를 버립니다. (10 / 3 = 3)  /  % 연산자는 정수형에만 사용할 수 있습니다.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비교·논리 연산의 결과는 참이면 1, 거짓이면 0 (int)입니다. C에서는 0이 아닌 모든 값을 참으로 취급합니다.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&amp;&amp;, || 는 단락 평가(short-circuit): 왼쪽 결과만으로 답이 정해지면 오른쪽 식은 실행되지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Operator (2)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9" name="예시 조건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예시 조건:  비트 → uint8_t a = 0x0C (0000 1100), b = 0x0A (0000 1010)   |   복합 대입 → int a = 10   |   증감 → int a = 5</a:t>
            </a:r>
          </a:p>
        </p:txBody>
      </p:sp>
      <p:sp>
        <p:nvSpPr>
          <p:cNvPr id="110" name="라벨 비트 연산자"/>
          <p:cNvSpPr txBox="1"/>
          <p:nvPr/>
        </p:nvSpPr>
        <p:spPr>
          <a:xfrm>
            <a:off x="438438" y="1700000"/>
            <a:ext cx="385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비트 연산자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Bitwise</a:t>
            </a:r>
          </a:p>
        </p:txBody>
      </p:sp>
      <p:graphicFrame>
        <p:nvGraphicFramePr>
          <p:cNvPr id="111" name="표 비트 연산자"/>
          <p:cNvGraphicFramePr>
            <a:graphicFrameLocks noGrp="1"/>
          </p:cNvGraphicFramePr>
          <p:nvPr/>
        </p:nvGraphicFramePr>
        <p:xfrm>
          <a:off x="438438" y="2030000"/>
          <a:ext cx="3850000" cy="2100000"/>
        </p:xfrm>
        <a:graphic>
          <a:graphicData uri="http://schemas.openxmlformats.org/drawingml/2006/table">
            <a:tbl>
              <a:tblPr firstRow="1"/>
              <a:tblGrid>
                <a:gridCol w="671282"/>
                <a:gridCol w="937820"/>
                <a:gridCol w="710769"/>
                <a:gridCol w="1530129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연산자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&amp;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AND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&amp;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0x08 (1000)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|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OR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|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0x0E (1110)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^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XOR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^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0x06 (0110)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~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NOT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~a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0xF3 (1111 0011)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&lt;&lt;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왼쪽 시프트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&lt;&lt; 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0x18 (0001 1000)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&gt;&gt;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오른쪽 시프트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&gt;&gt; 2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0x03 (0011)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112" name="참고 비트"/>
          <p:cNvSpPr txBox="1"/>
          <p:nvPr/>
        </p:nvSpPr>
        <p:spPr>
          <a:xfrm>
            <a:off x="438438" y="4330000"/>
            <a:ext cx="385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시프트: &lt;&lt; 1 은 ×2, &gt;&gt; 1 은 ÷2 와 같은 효과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~a 는 int로 승격되어 계산되며, uint8_t 변수에 저장하면 0xF3</a:t>
            </a:r>
          </a:p>
        </p:txBody>
      </p:sp>
      <p:sp>
        <p:nvSpPr>
          <p:cNvPr id="113" name="라벨 복합 대입 연산자"/>
          <p:cNvSpPr txBox="1"/>
          <p:nvPr/>
        </p:nvSpPr>
        <p:spPr>
          <a:xfrm>
            <a:off x="4517038" y="170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복합 대입 연산자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Assignment</a:t>
            </a:r>
          </a:p>
        </p:txBody>
      </p:sp>
      <p:graphicFrame>
        <p:nvGraphicFramePr>
          <p:cNvPr id="114" name="표 복합 대입 연산자"/>
          <p:cNvGraphicFramePr>
            <a:graphicFrameLocks noGrp="1"/>
          </p:cNvGraphicFramePr>
          <p:nvPr/>
        </p:nvGraphicFramePr>
        <p:xfrm>
          <a:off x="4517038" y="2030000"/>
          <a:ext cx="3000000" cy="3600000"/>
        </p:xfrm>
        <a:graphic>
          <a:graphicData uri="http://schemas.openxmlformats.org/drawingml/2006/table">
            <a:tbl>
              <a:tblPr firstRow="1"/>
              <a:tblGrid>
                <a:gridCol w="584905"/>
                <a:gridCol w="867924"/>
                <a:gridCol w="1056603"/>
                <a:gridCol w="490568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연산자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동일 표현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+=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+=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+ 3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-=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-=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- 3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*=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*=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*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30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/=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/=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/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%=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%=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%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&amp;=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&amp;=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&amp;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|=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|=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|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^=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^=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^ 3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&lt;&lt;=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&lt;&lt;= 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&lt;&lt; 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20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&gt;&gt;=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&gt;&gt;= 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= a &gt;&gt; 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5" name="라벨 증감 연산자"/>
          <p:cNvSpPr txBox="1"/>
          <p:nvPr/>
        </p:nvSpPr>
        <p:spPr>
          <a:xfrm>
            <a:off x="7745638" y="1700000"/>
            <a:ext cx="305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증감 연산자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Increment / Decrement</a:t>
            </a:r>
          </a:p>
        </p:txBody>
      </p:sp>
      <p:graphicFrame>
        <p:nvGraphicFramePr>
          <p:cNvPr id="116" name="표 증감 연산자"/>
          <p:cNvGraphicFramePr>
            <a:graphicFrameLocks noGrp="1"/>
          </p:cNvGraphicFramePr>
          <p:nvPr/>
        </p:nvGraphicFramePr>
        <p:xfrm>
          <a:off x="7745638" y="2030000"/>
          <a:ext cx="3050000" cy="1500000"/>
        </p:xfrm>
        <a:graphic>
          <a:graphicData uri="http://schemas.openxmlformats.org/drawingml/2006/table">
            <a:tbl>
              <a:tblPr firstRow="1"/>
              <a:tblGrid>
                <a:gridCol w="597694"/>
                <a:gridCol w="720749"/>
                <a:gridCol w="808645"/>
                <a:gridCol w="922912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연산자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++a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전위 증가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b = ++a;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a=6, b=6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a++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후위 증가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b = a++;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a=6, b=5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--a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전위 감소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b = --a;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a=4, b=4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a--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후위 감소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b = a--;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a=4, b=5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117" name="참고 증감"/>
          <p:cNvSpPr txBox="1"/>
          <p:nvPr/>
        </p:nvSpPr>
        <p:spPr>
          <a:xfrm>
            <a:off x="7745638" y="3810000"/>
            <a:ext cx="3050000" cy="1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전위(++a): 먼저 증가시킨 뒤 값을 사용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후위(a++): 현재 값을 먼저 사용한 뒤 증가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레지스터 제어 예: REG |= (1&lt;&lt;n) 설정, REG &amp;= ~(1&lt;&lt;n) 클리어, REG ^= (1&lt;&lt;n) 토글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3. Control Statement (1)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01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if 문: 조건식의 결과(참 / 거짓)에 따라 실행할 문장을 선택하는 분기문입니다. C에서는 0이면 거짓, 0이 아닌 값이면 참입니다.</a:t>
            </a:r>
          </a:p>
        </p:txBody>
      </p:sp>
      <p:sp>
        <p:nvSpPr>
          <p:cNvPr id="302" name="라벨 if"/>
          <p:cNvSpPr txBox="1"/>
          <p:nvPr/>
        </p:nvSpPr>
        <p:spPr>
          <a:xfrm>
            <a:off x="438912" y="1700784"/>
            <a:ext cx="329184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if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조건이 참일 때만 실행</a:t>
            </a:r>
          </a:p>
        </p:txBody>
      </p:sp>
      <p:sp>
        <p:nvSpPr>
          <p:cNvPr id="303" name="조건 if"/>
          <p:cNvSpPr/>
          <p:nvPr/>
        </p:nvSpPr>
        <p:spPr>
          <a:xfrm>
            <a:off x="1399032" y="2112264"/>
            <a:ext cx="1371600" cy="566928"/>
          </a:xfrm>
          <a:prstGeom prst="diamond">
            <a:avLst/>
          </a:prstGeom>
          <a:solidFill>
            <a:srgbClr val="147BD1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</a:rPr>
              <a:t>조건식</a:t>
            </a:r>
          </a:p>
        </p:txBody>
      </p:sp>
      <p:cxnSp>
        <p:nvCxnSpPr>
          <p:cNvPr id="304" name="연결선 304"/>
          <p:cNvCxnSpPr/>
          <p:nvPr/>
        </p:nvCxnSpPr>
        <p:spPr>
          <a:xfrm>
            <a:off x="2084832" y="2679192"/>
            <a:ext cx="0" cy="24688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05" name="라벨 참"/>
          <p:cNvSpPr txBox="1"/>
          <p:nvPr/>
        </p:nvSpPr>
        <p:spPr>
          <a:xfrm>
            <a:off x="1792224" y="270662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참</a:t>
            </a:r>
          </a:p>
        </p:txBody>
      </p:sp>
      <p:sp>
        <p:nvSpPr>
          <p:cNvPr id="306" name="문장 A"/>
          <p:cNvSpPr/>
          <p:nvPr/>
        </p:nvSpPr>
        <p:spPr>
          <a:xfrm>
            <a:off x="1490472" y="29260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문장 A</a:t>
            </a:r>
          </a:p>
        </p:txBody>
      </p:sp>
      <p:cxnSp>
        <p:nvCxnSpPr>
          <p:cNvPr id="307" name="연결선 307"/>
          <p:cNvCxnSpPr/>
          <p:nvPr/>
        </p:nvCxnSpPr>
        <p:spPr>
          <a:xfrm>
            <a:off x="2084832" y="3291840"/>
            <a:ext cx="0" cy="256032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08" name="다음 문장 1"/>
          <p:cNvSpPr/>
          <p:nvPr/>
        </p:nvSpPr>
        <p:spPr>
          <a:xfrm>
            <a:off x="1490472" y="3547872"/>
            <a:ext cx="1188720" cy="36576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9DB9D6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다음 문장</a:t>
            </a:r>
          </a:p>
        </p:txBody>
      </p:sp>
      <p:cxnSp>
        <p:nvCxnSpPr>
          <p:cNvPr id="309" name="연결선 309"/>
          <p:cNvCxnSpPr/>
          <p:nvPr/>
        </p:nvCxnSpPr>
        <p:spPr>
          <a:xfrm>
            <a:off x="2770632" y="2395728"/>
            <a:ext cx="594360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10" name="연결선 310"/>
          <p:cNvCxnSpPr/>
          <p:nvPr/>
        </p:nvCxnSpPr>
        <p:spPr>
          <a:xfrm>
            <a:off x="3364992" y="2395728"/>
            <a:ext cx="0" cy="1335024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11" name="연결선 311"/>
          <p:cNvCxnSpPr/>
          <p:nvPr/>
        </p:nvCxnSpPr>
        <p:spPr>
          <a:xfrm flipH="1">
            <a:off x="2679192" y="3730752"/>
            <a:ext cx="685800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12" name="라벨 거짓"/>
          <p:cNvSpPr txBox="1"/>
          <p:nvPr/>
        </p:nvSpPr>
        <p:spPr>
          <a:xfrm>
            <a:off x="2834640" y="2194560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거짓</a:t>
            </a:r>
          </a:p>
        </p:txBody>
      </p:sp>
      <p:sp>
        <p:nvSpPr>
          <p:cNvPr id="313" name="코드 if"/>
          <p:cNvSpPr/>
          <p:nvPr/>
        </p:nvSpPr>
        <p:spPr>
          <a:xfrm>
            <a:off x="438912" y="4160520"/>
            <a:ext cx="3291840" cy="16002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if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(조건식) 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문장 A;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참일 때 실행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다음 문장;</a:t>
            </a:r>
          </a:p>
        </p:txBody>
      </p:sp>
      <p:sp>
        <p:nvSpPr>
          <p:cNvPr id="314" name="라벨 if – else"/>
          <p:cNvSpPr txBox="1"/>
          <p:nvPr/>
        </p:nvSpPr>
        <p:spPr>
          <a:xfrm>
            <a:off x="3973068" y="1700784"/>
            <a:ext cx="329184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if – else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참 / 거짓 중 하나를 실행</a:t>
            </a:r>
          </a:p>
        </p:txBody>
      </p:sp>
      <p:sp>
        <p:nvSpPr>
          <p:cNvPr id="315" name="조건 if-else"/>
          <p:cNvSpPr/>
          <p:nvPr/>
        </p:nvSpPr>
        <p:spPr>
          <a:xfrm>
            <a:off x="4933188" y="2112264"/>
            <a:ext cx="1371600" cy="566928"/>
          </a:xfrm>
          <a:prstGeom prst="diamond">
            <a:avLst/>
          </a:prstGeom>
          <a:solidFill>
            <a:srgbClr val="147BD1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</a:rPr>
              <a:t>조건식</a:t>
            </a:r>
          </a:p>
        </p:txBody>
      </p:sp>
      <p:cxnSp>
        <p:nvCxnSpPr>
          <p:cNvPr id="316" name="연결선 316"/>
          <p:cNvCxnSpPr/>
          <p:nvPr/>
        </p:nvCxnSpPr>
        <p:spPr>
          <a:xfrm flipH="1">
            <a:off x="4613148" y="2395728"/>
            <a:ext cx="320040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17" name="연결선 317"/>
          <p:cNvCxnSpPr/>
          <p:nvPr/>
        </p:nvCxnSpPr>
        <p:spPr>
          <a:xfrm>
            <a:off x="4613148" y="2395728"/>
            <a:ext cx="0" cy="530352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18" name="라벨 참"/>
          <p:cNvSpPr txBox="1"/>
          <p:nvPr/>
        </p:nvSpPr>
        <p:spPr>
          <a:xfrm>
            <a:off x="4658868" y="2194560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참</a:t>
            </a:r>
          </a:p>
        </p:txBody>
      </p:sp>
      <p:cxnSp>
        <p:nvCxnSpPr>
          <p:cNvPr id="319" name="연결선 319"/>
          <p:cNvCxnSpPr/>
          <p:nvPr/>
        </p:nvCxnSpPr>
        <p:spPr>
          <a:xfrm>
            <a:off x="6304788" y="2395728"/>
            <a:ext cx="320040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20" name="연결선 320"/>
          <p:cNvCxnSpPr/>
          <p:nvPr/>
        </p:nvCxnSpPr>
        <p:spPr>
          <a:xfrm>
            <a:off x="6624828" y="2395728"/>
            <a:ext cx="0" cy="530352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21" name="라벨 거짓"/>
          <p:cNvSpPr txBox="1"/>
          <p:nvPr/>
        </p:nvSpPr>
        <p:spPr>
          <a:xfrm>
            <a:off x="6332220" y="2194560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거짓</a:t>
            </a:r>
          </a:p>
        </p:txBody>
      </p:sp>
      <p:sp>
        <p:nvSpPr>
          <p:cNvPr id="322" name="문장 A"/>
          <p:cNvSpPr/>
          <p:nvPr/>
        </p:nvSpPr>
        <p:spPr>
          <a:xfrm>
            <a:off x="4087368" y="2926080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문장 A</a:t>
            </a:r>
          </a:p>
        </p:txBody>
      </p:sp>
      <p:sp>
        <p:nvSpPr>
          <p:cNvPr id="323" name="문장 B"/>
          <p:cNvSpPr/>
          <p:nvPr/>
        </p:nvSpPr>
        <p:spPr>
          <a:xfrm>
            <a:off x="6099048" y="2926080"/>
            <a:ext cx="1051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문장 B</a:t>
            </a:r>
          </a:p>
        </p:txBody>
      </p:sp>
      <p:cxnSp>
        <p:nvCxnSpPr>
          <p:cNvPr id="324" name="연결선 324"/>
          <p:cNvCxnSpPr/>
          <p:nvPr/>
        </p:nvCxnSpPr>
        <p:spPr>
          <a:xfrm>
            <a:off x="4613148" y="3291840"/>
            <a:ext cx="0" cy="438912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25" name="연결선 325"/>
          <p:cNvCxnSpPr/>
          <p:nvPr/>
        </p:nvCxnSpPr>
        <p:spPr>
          <a:xfrm>
            <a:off x="4613148" y="3730752"/>
            <a:ext cx="411480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cxnSp>
        <p:nvCxnSpPr>
          <p:cNvPr id="326" name="연결선 326"/>
          <p:cNvCxnSpPr/>
          <p:nvPr/>
        </p:nvCxnSpPr>
        <p:spPr>
          <a:xfrm>
            <a:off x="6624828" y="3291840"/>
            <a:ext cx="0" cy="438912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27" name="연결선 327"/>
          <p:cNvCxnSpPr/>
          <p:nvPr/>
        </p:nvCxnSpPr>
        <p:spPr>
          <a:xfrm flipH="1">
            <a:off x="6213348" y="3730752"/>
            <a:ext cx="411480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28" name="다음 문장 2"/>
          <p:cNvSpPr/>
          <p:nvPr/>
        </p:nvSpPr>
        <p:spPr>
          <a:xfrm>
            <a:off x="5024628" y="3547872"/>
            <a:ext cx="1188720" cy="36576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9DB9D6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다음 문장</a:t>
            </a:r>
          </a:p>
        </p:txBody>
      </p:sp>
      <p:sp>
        <p:nvSpPr>
          <p:cNvPr id="329" name="코드 if-else"/>
          <p:cNvSpPr/>
          <p:nvPr/>
        </p:nvSpPr>
        <p:spPr>
          <a:xfrm>
            <a:off x="3973068" y="4160520"/>
            <a:ext cx="3291840" cy="16002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if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(조건식) 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문장 A;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참일 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} 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else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문장 B;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거짓일 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330" name="라벨 if – else if – else"/>
          <p:cNvSpPr txBox="1"/>
          <p:nvPr/>
        </p:nvSpPr>
        <p:spPr>
          <a:xfrm>
            <a:off x="7507224" y="1700784"/>
            <a:ext cx="329184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if – else if – else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여러 조건을 차례로 검사</a:t>
            </a:r>
          </a:p>
        </p:txBody>
      </p:sp>
      <p:sp>
        <p:nvSpPr>
          <p:cNvPr id="331" name="조건식1"/>
          <p:cNvSpPr/>
          <p:nvPr/>
        </p:nvSpPr>
        <p:spPr>
          <a:xfrm>
            <a:off x="7987284" y="2057400"/>
            <a:ext cx="1234440" cy="457200"/>
          </a:xfrm>
          <a:prstGeom prst="diamond">
            <a:avLst/>
          </a:prstGeom>
          <a:solidFill>
            <a:srgbClr val="147BD1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</a:rPr>
              <a:t>조건식1</a:t>
            </a:r>
          </a:p>
        </p:txBody>
      </p:sp>
      <p:cxnSp>
        <p:nvCxnSpPr>
          <p:cNvPr id="332" name="연결선 332"/>
          <p:cNvCxnSpPr/>
          <p:nvPr/>
        </p:nvCxnSpPr>
        <p:spPr>
          <a:xfrm>
            <a:off x="9221724" y="2286000"/>
            <a:ext cx="434340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33" name="라벨 참"/>
          <p:cNvSpPr txBox="1"/>
          <p:nvPr/>
        </p:nvSpPr>
        <p:spPr>
          <a:xfrm>
            <a:off x="9290304" y="2093976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참</a:t>
            </a:r>
          </a:p>
        </p:txBody>
      </p:sp>
      <p:sp>
        <p:nvSpPr>
          <p:cNvPr id="334" name="문장 A"/>
          <p:cNvSpPr/>
          <p:nvPr/>
        </p:nvSpPr>
        <p:spPr>
          <a:xfrm>
            <a:off x="9656064" y="2139696"/>
            <a:ext cx="914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문장 A</a:t>
            </a:r>
          </a:p>
        </p:txBody>
      </p:sp>
      <p:cxnSp>
        <p:nvCxnSpPr>
          <p:cNvPr id="335" name="연결선 335"/>
          <p:cNvCxnSpPr/>
          <p:nvPr/>
        </p:nvCxnSpPr>
        <p:spPr>
          <a:xfrm>
            <a:off x="8604504" y="2514600"/>
            <a:ext cx="0" cy="18288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36" name="라벨 거짓"/>
          <p:cNvSpPr txBox="1"/>
          <p:nvPr/>
        </p:nvSpPr>
        <p:spPr>
          <a:xfrm>
            <a:off x="8668512" y="2523744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거짓</a:t>
            </a:r>
          </a:p>
        </p:txBody>
      </p:sp>
      <p:sp>
        <p:nvSpPr>
          <p:cNvPr id="337" name="조건식2"/>
          <p:cNvSpPr/>
          <p:nvPr/>
        </p:nvSpPr>
        <p:spPr>
          <a:xfrm>
            <a:off x="7987284" y="2697480"/>
            <a:ext cx="1234440" cy="457200"/>
          </a:xfrm>
          <a:prstGeom prst="diamond">
            <a:avLst/>
          </a:prstGeom>
          <a:solidFill>
            <a:srgbClr val="147BD1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</a:rPr>
              <a:t>조건식2</a:t>
            </a:r>
          </a:p>
        </p:txBody>
      </p:sp>
      <p:cxnSp>
        <p:nvCxnSpPr>
          <p:cNvPr id="338" name="연결선 338"/>
          <p:cNvCxnSpPr/>
          <p:nvPr/>
        </p:nvCxnSpPr>
        <p:spPr>
          <a:xfrm>
            <a:off x="9221724" y="2926080"/>
            <a:ext cx="434340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39" name="라벨 참"/>
          <p:cNvSpPr txBox="1"/>
          <p:nvPr/>
        </p:nvSpPr>
        <p:spPr>
          <a:xfrm>
            <a:off x="9290304" y="2734056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참</a:t>
            </a:r>
          </a:p>
        </p:txBody>
      </p:sp>
      <p:sp>
        <p:nvSpPr>
          <p:cNvPr id="340" name="문장 B"/>
          <p:cNvSpPr/>
          <p:nvPr/>
        </p:nvSpPr>
        <p:spPr>
          <a:xfrm>
            <a:off x="9656064" y="2779776"/>
            <a:ext cx="914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문장 B</a:t>
            </a:r>
          </a:p>
        </p:txBody>
      </p:sp>
      <p:cxnSp>
        <p:nvCxnSpPr>
          <p:cNvPr id="341" name="연결선 341"/>
          <p:cNvCxnSpPr/>
          <p:nvPr/>
        </p:nvCxnSpPr>
        <p:spPr>
          <a:xfrm>
            <a:off x="8604504" y="3154680"/>
            <a:ext cx="0" cy="15544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42" name="라벨 거짓"/>
          <p:cNvSpPr txBox="1"/>
          <p:nvPr/>
        </p:nvSpPr>
        <p:spPr>
          <a:xfrm>
            <a:off x="8668512" y="3145536"/>
            <a:ext cx="4572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거짓</a:t>
            </a:r>
          </a:p>
        </p:txBody>
      </p:sp>
      <p:sp>
        <p:nvSpPr>
          <p:cNvPr id="343" name="문장 C"/>
          <p:cNvSpPr/>
          <p:nvPr/>
        </p:nvSpPr>
        <p:spPr>
          <a:xfrm>
            <a:off x="8147304" y="331012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문장 C</a:t>
            </a:r>
          </a:p>
        </p:txBody>
      </p:sp>
      <p:cxnSp>
        <p:nvCxnSpPr>
          <p:cNvPr id="344" name="연결선 344"/>
          <p:cNvCxnSpPr/>
          <p:nvPr/>
        </p:nvCxnSpPr>
        <p:spPr>
          <a:xfrm>
            <a:off x="8604504" y="3584448"/>
            <a:ext cx="0" cy="18288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45" name="다음 문장 3"/>
          <p:cNvSpPr/>
          <p:nvPr/>
        </p:nvSpPr>
        <p:spPr>
          <a:xfrm>
            <a:off x="8330184" y="3767328"/>
            <a:ext cx="1188720" cy="292608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9DB9D6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다음 문장</a:t>
            </a:r>
          </a:p>
        </p:txBody>
      </p:sp>
      <p:cxnSp>
        <p:nvCxnSpPr>
          <p:cNvPr id="346" name="연결선 346"/>
          <p:cNvCxnSpPr/>
          <p:nvPr/>
        </p:nvCxnSpPr>
        <p:spPr>
          <a:xfrm>
            <a:off x="10570464" y="2286000"/>
            <a:ext cx="164592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47" name="연결선 347"/>
          <p:cNvCxnSpPr/>
          <p:nvPr/>
        </p:nvCxnSpPr>
        <p:spPr>
          <a:xfrm>
            <a:off x="10735056" y="2286000"/>
            <a:ext cx="0" cy="1627632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48" name="연결선 348"/>
          <p:cNvCxnSpPr/>
          <p:nvPr/>
        </p:nvCxnSpPr>
        <p:spPr>
          <a:xfrm flipH="1">
            <a:off x="9518904" y="3913632"/>
            <a:ext cx="1216152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cxnSp>
        <p:nvCxnSpPr>
          <p:cNvPr id="349" name="연결선 349"/>
          <p:cNvCxnSpPr/>
          <p:nvPr/>
        </p:nvCxnSpPr>
        <p:spPr>
          <a:xfrm>
            <a:off x="10570464" y="2926080"/>
            <a:ext cx="164592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sp>
        <p:nvSpPr>
          <p:cNvPr id="350" name="코드 else if"/>
          <p:cNvSpPr/>
          <p:nvPr/>
        </p:nvSpPr>
        <p:spPr>
          <a:xfrm>
            <a:off x="7507224" y="4160520"/>
            <a:ext cx="3291840" cy="16002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if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(조건식1) 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문장 A;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} 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else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if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(조건식2) 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문장 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} 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else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문장 C;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모두 거짓일 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351" name="참고"/>
          <p:cNvSpPr txBox="1"/>
          <p:nvPr/>
        </p:nvSpPr>
        <p:spPr>
          <a:xfrm>
            <a:off x="438912" y="5870448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실행할 문장이 한 줄이면 { } 를 생략할 수 있지만, 실수를 막기 위해 항상 { } 를 쓰는 것을 권장합니다.   /   if (a = 1) 처럼 == 대신 = 를 쓰는 실수에 주의!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3. Control Statement (2)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52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switch – case 문: 식의 값과 일치하는 case 로 이동해 실행하는 다중 분기문입니다. 정수형(char, int, enum) 값 비교에 사용합니다.</a:t>
            </a:r>
          </a:p>
        </p:txBody>
      </p:sp>
      <p:sp>
        <p:nvSpPr>
          <p:cNvPr id="353" name="라벨 switch – case"/>
          <p:cNvSpPr txBox="1"/>
          <p:nvPr/>
        </p:nvSpPr>
        <p:spPr>
          <a:xfrm>
            <a:off x="438912" y="1700784"/>
            <a:ext cx="539496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switch – case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동작 흐름</a:t>
            </a:r>
          </a:p>
        </p:txBody>
      </p:sp>
      <p:sp>
        <p:nvSpPr>
          <p:cNvPr id="354" name="switch 식"/>
          <p:cNvSpPr/>
          <p:nvPr/>
        </p:nvSpPr>
        <p:spPr>
          <a:xfrm>
            <a:off x="2267712" y="2057400"/>
            <a:ext cx="1737360" cy="548640"/>
          </a:xfrm>
          <a:prstGeom prst="diamond">
            <a:avLst/>
          </a:prstGeom>
          <a:solidFill>
            <a:srgbClr val="147BD1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</a:rPr>
              <a:t>switch (식)</a:t>
            </a:r>
          </a:p>
        </p:txBody>
      </p:sp>
      <p:cxnSp>
        <p:nvCxnSpPr>
          <p:cNvPr id="355" name="연결선 355"/>
          <p:cNvCxnSpPr/>
          <p:nvPr/>
        </p:nvCxnSpPr>
        <p:spPr>
          <a:xfrm>
            <a:off x="3136392" y="2606040"/>
            <a:ext cx="0" cy="18288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56" name="연결선 356"/>
          <p:cNvCxnSpPr/>
          <p:nvPr/>
        </p:nvCxnSpPr>
        <p:spPr>
          <a:xfrm>
            <a:off x="1353312" y="2788920"/>
            <a:ext cx="3566160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57" name="연결선 357"/>
          <p:cNvCxnSpPr/>
          <p:nvPr/>
        </p:nvCxnSpPr>
        <p:spPr>
          <a:xfrm>
            <a:off x="1353312" y="2788920"/>
            <a:ext cx="0" cy="32004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58" name="라벨 값 == 1"/>
          <p:cNvSpPr txBox="1"/>
          <p:nvPr/>
        </p:nvSpPr>
        <p:spPr>
          <a:xfrm>
            <a:off x="1417320" y="2852928"/>
            <a:ext cx="82296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값 == 1</a:t>
            </a:r>
          </a:p>
        </p:txBody>
      </p:sp>
      <p:sp>
        <p:nvSpPr>
          <p:cNvPr id="359" name="case 1 헤더"/>
          <p:cNvSpPr/>
          <p:nvPr/>
        </p:nvSpPr>
        <p:spPr>
          <a:xfrm>
            <a:off x="621792" y="3127248"/>
            <a:ext cx="1463040" cy="274320"/>
          </a:xfrm>
          <a:prstGeom prst="rect">
            <a:avLst/>
          </a:prstGeom>
          <a:solidFill>
            <a:srgbClr val="147BD1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Consolas"/>
                <a:cs typeface="Consolas"/>
              </a:rPr>
              <a:t>case 값1</a:t>
            </a:r>
          </a:p>
        </p:txBody>
      </p:sp>
      <p:sp>
        <p:nvSpPr>
          <p:cNvPr id="360" name="case 1 본문"/>
          <p:cNvSpPr/>
          <p:nvPr/>
        </p:nvSpPr>
        <p:spPr>
          <a:xfrm>
            <a:off x="621792" y="340156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  <a:latin typeface="Consolas"/>
                <a:cs typeface="Consolas"/>
              </a:rPr>
              <a:t>문장 1;</a:t>
            </a:r>
          </a:p>
          <a:p>
            <a:pPr algn="ctr"/>
            <a:r>
              <a:rPr lang="ko-KR" altLang="en-US" sz="1050" dirty="0">
                <a:solidFill>
                  <a:srgbClr val="262626"/>
                </a:solidFill>
                <a:latin typeface="Consolas"/>
                <a:cs typeface="Consolas"/>
              </a:rPr>
              <a:t>break;</a:t>
            </a:r>
          </a:p>
        </p:txBody>
      </p:sp>
      <p:cxnSp>
        <p:nvCxnSpPr>
          <p:cNvPr id="361" name="연결선 361"/>
          <p:cNvCxnSpPr/>
          <p:nvPr/>
        </p:nvCxnSpPr>
        <p:spPr>
          <a:xfrm>
            <a:off x="1353312" y="3904488"/>
            <a:ext cx="0" cy="210312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62" name="연결선 362"/>
          <p:cNvCxnSpPr/>
          <p:nvPr/>
        </p:nvCxnSpPr>
        <p:spPr>
          <a:xfrm>
            <a:off x="3136392" y="2788920"/>
            <a:ext cx="0" cy="32004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63" name="라벨 값 == 2"/>
          <p:cNvSpPr txBox="1"/>
          <p:nvPr/>
        </p:nvSpPr>
        <p:spPr>
          <a:xfrm>
            <a:off x="3200400" y="2852928"/>
            <a:ext cx="82296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값 == 2</a:t>
            </a:r>
          </a:p>
        </p:txBody>
      </p:sp>
      <p:sp>
        <p:nvSpPr>
          <p:cNvPr id="364" name="case 2 헤더"/>
          <p:cNvSpPr/>
          <p:nvPr/>
        </p:nvSpPr>
        <p:spPr>
          <a:xfrm>
            <a:off x="2404872" y="3127248"/>
            <a:ext cx="1463040" cy="274320"/>
          </a:xfrm>
          <a:prstGeom prst="rect">
            <a:avLst/>
          </a:prstGeom>
          <a:solidFill>
            <a:srgbClr val="147BD1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Consolas"/>
                <a:cs typeface="Consolas"/>
              </a:rPr>
              <a:t>case 값2</a:t>
            </a:r>
          </a:p>
        </p:txBody>
      </p:sp>
      <p:sp>
        <p:nvSpPr>
          <p:cNvPr id="365" name="case 2 본문"/>
          <p:cNvSpPr/>
          <p:nvPr/>
        </p:nvSpPr>
        <p:spPr>
          <a:xfrm>
            <a:off x="2404872" y="340156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  <a:latin typeface="Consolas"/>
                <a:cs typeface="Consolas"/>
              </a:rPr>
              <a:t>문장 2;</a:t>
            </a:r>
          </a:p>
          <a:p>
            <a:pPr algn="ctr"/>
            <a:r>
              <a:rPr lang="ko-KR" altLang="en-US" sz="1050" dirty="0">
                <a:solidFill>
                  <a:srgbClr val="262626"/>
                </a:solidFill>
                <a:latin typeface="Consolas"/>
                <a:cs typeface="Consolas"/>
              </a:rPr>
              <a:t>break;</a:t>
            </a:r>
          </a:p>
        </p:txBody>
      </p:sp>
      <p:cxnSp>
        <p:nvCxnSpPr>
          <p:cNvPr id="366" name="연결선 366"/>
          <p:cNvCxnSpPr/>
          <p:nvPr/>
        </p:nvCxnSpPr>
        <p:spPr>
          <a:xfrm>
            <a:off x="3136392" y="3904488"/>
            <a:ext cx="0" cy="210312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67" name="연결선 367"/>
          <p:cNvCxnSpPr/>
          <p:nvPr/>
        </p:nvCxnSpPr>
        <p:spPr>
          <a:xfrm>
            <a:off x="4919472" y="2788920"/>
            <a:ext cx="0" cy="32004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68" name="라벨 그 외"/>
          <p:cNvSpPr txBox="1"/>
          <p:nvPr/>
        </p:nvSpPr>
        <p:spPr>
          <a:xfrm>
            <a:off x="4983480" y="2852928"/>
            <a:ext cx="82296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147BD1"/>
                </a:solidFill>
              </a:rPr>
              <a:t>그 외</a:t>
            </a:r>
          </a:p>
        </p:txBody>
      </p:sp>
      <p:sp>
        <p:nvSpPr>
          <p:cNvPr id="369" name="default 헤더"/>
          <p:cNvSpPr/>
          <p:nvPr/>
        </p:nvSpPr>
        <p:spPr>
          <a:xfrm>
            <a:off x="4187952" y="3127248"/>
            <a:ext cx="1463040" cy="274320"/>
          </a:xfrm>
          <a:prstGeom prst="rect">
            <a:avLst/>
          </a:prstGeom>
          <a:solidFill>
            <a:srgbClr val="147BD1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Consolas"/>
                <a:cs typeface="Consolas"/>
              </a:rPr>
              <a:t>default</a:t>
            </a:r>
          </a:p>
        </p:txBody>
      </p:sp>
      <p:sp>
        <p:nvSpPr>
          <p:cNvPr id="370" name="default 본문"/>
          <p:cNvSpPr/>
          <p:nvPr/>
        </p:nvSpPr>
        <p:spPr>
          <a:xfrm>
            <a:off x="4187952" y="340156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  <a:latin typeface="Consolas"/>
                <a:cs typeface="Consolas"/>
              </a:rPr>
              <a:t>문장 3;</a:t>
            </a:r>
          </a:p>
        </p:txBody>
      </p:sp>
      <p:cxnSp>
        <p:nvCxnSpPr>
          <p:cNvPr id="371" name="연결선 371"/>
          <p:cNvCxnSpPr/>
          <p:nvPr/>
        </p:nvCxnSpPr>
        <p:spPr>
          <a:xfrm>
            <a:off x="4919472" y="3904488"/>
            <a:ext cx="0" cy="210312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72" name="연결선 372"/>
          <p:cNvCxnSpPr/>
          <p:nvPr/>
        </p:nvCxnSpPr>
        <p:spPr>
          <a:xfrm>
            <a:off x="1353312" y="4114800"/>
            <a:ext cx="3566160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373" name="연결선 373"/>
          <p:cNvCxnSpPr/>
          <p:nvPr/>
        </p:nvCxnSpPr>
        <p:spPr>
          <a:xfrm>
            <a:off x="3136392" y="4114800"/>
            <a:ext cx="0" cy="164592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374" name="다음 문장 s"/>
          <p:cNvSpPr/>
          <p:nvPr/>
        </p:nvSpPr>
        <p:spPr>
          <a:xfrm>
            <a:off x="2496312" y="4279392"/>
            <a:ext cx="1280160" cy="36576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9DB9D6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050" dirty="0">
                <a:solidFill>
                  <a:srgbClr val="262626"/>
                </a:solidFill>
              </a:rPr>
              <a:t>다음 문장</a:t>
            </a:r>
          </a:p>
        </p:txBody>
      </p:sp>
      <p:sp>
        <p:nvSpPr>
          <p:cNvPr id="375" name="참고"/>
          <p:cNvSpPr txBox="1"/>
          <p:nvPr/>
        </p:nvSpPr>
        <p:spPr>
          <a:xfrm>
            <a:off x="438912" y="493776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break 를 만나면 switch 문을 빠져나갑니다.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break 가 없으면 다음 case 까지 이어서 실행됩니다. (fall-through)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default 는 일치하는 case 가 없을 때 실행되며 생략할 수 있습니다.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case 값은 중복되지 않는 정수 상수만 가능 (실수·문자열·변수 X)</a:t>
            </a:r>
          </a:p>
        </p:txBody>
      </p:sp>
      <p:sp>
        <p:nvSpPr>
          <p:cNvPr id="376" name="라벨 문법"/>
          <p:cNvSpPr txBox="1"/>
          <p:nvPr/>
        </p:nvSpPr>
        <p:spPr>
          <a:xfrm>
            <a:off x="6053328" y="1700784"/>
            <a:ext cx="47548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문법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Syntax</a:t>
            </a:r>
          </a:p>
        </p:txBody>
      </p:sp>
      <p:sp>
        <p:nvSpPr>
          <p:cNvPr id="377" name="코드 switch 문법"/>
          <p:cNvSpPr/>
          <p:nvPr/>
        </p:nvSpPr>
        <p:spPr>
          <a:xfrm>
            <a:off x="6053328" y="2057400"/>
            <a:ext cx="4754880" cy="21945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switch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(식) 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case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값1:</a:t>
            </a:r>
          </a:p>
          <a:p>
            <a:pPr marL="61468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문장 1;</a:t>
            </a:r>
          </a:p>
          <a:p>
            <a:pPr marL="61468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break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;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case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값2:</a:t>
            </a:r>
          </a:p>
          <a:p>
            <a:pPr marL="61468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문장 2;</a:t>
            </a:r>
          </a:p>
          <a:p>
            <a:pPr marL="61468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break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;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default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:</a:t>
            </a:r>
          </a:p>
          <a:p>
            <a:pPr marL="61468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문장 3;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378" name="라벨 예제"/>
          <p:cNvSpPr txBox="1"/>
          <p:nvPr/>
        </p:nvSpPr>
        <p:spPr>
          <a:xfrm>
            <a:off x="6053328" y="4407408"/>
            <a:ext cx="47548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예제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UART 명령으로 LED 제어</a:t>
            </a:r>
          </a:p>
        </p:txBody>
      </p:sp>
      <p:sp>
        <p:nvSpPr>
          <p:cNvPr id="379" name="코드 switch 예제"/>
          <p:cNvSpPr/>
          <p:nvPr/>
        </p:nvSpPr>
        <p:spPr>
          <a:xfrm>
            <a:off x="6053328" y="4754880"/>
            <a:ext cx="4754880" cy="118872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switch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(cmd) 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case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'R': LED_Red_On();   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break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;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case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'G': LED_Green_On(); 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break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;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default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: LED_All_Off();  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break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4. Array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01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배열(Array): 같은 자료형의 데이터 여러 개를 연속된 메모리에 순서대로 저장하고, 하나의 이름 + 번호(인덱스)로 접근하는 자료구조입니다.</a:t>
            </a:r>
          </a:p>
        </p:txBody>
      </p:sp>
      <p:sp>
        <p:nvSpPr>
          <p:cNvPr id="402" name="라벨 변수 vs 배열"/>
          <p:cNvSpPr txBox="1"/>
          <p:nvPr/>
        </p:nvSpPr>
        <p:spPr>
          <a:xfrm>
            <a:off x="438912" y="1700784"/>
            <a:ext cx="38404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변수 vs 배열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왜 배열을 쓸까?</a:t>
            </a:r>
          </a:p>
        </p:txBody>
      </p:sp>
      <p:sp>
        <p:nvSpPr>
          <p:cNvPr id="403" name="텍스트 403"/>
          <p:cNvSpPr txBox="1"/>
          <p:nvPr/>
        </p:nvSpPr>
        <p:spPr>
          <a:xfrm>
            <a:off x="438912" y="2103120"/>
            <a:ext cx="36576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dirty="0">
                <a:solidFill>
                  <a:srgbClr val="595959"/>
                </a:solidFill>
              </a:rPr>
              <a:t>① 변수 5개를 따로 선언  →  이름이 5개, 메모리 위치도 제각각</a:t>
            </a:r>
          </a:p>
        </p:txBody>
      </p:sp>
      <p:sp>
        <p:nvSpPr>
          <p:cNvPr id="404" name="칸 90"/>
          <p:cNvSpPr/>
          <p:nvPr/>
        </p:nvSpPr>
        <p:spPr>
          <a:xfrm>
            <a:off x="566928" y="2450592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90</a:t>
            </a:r>
          </a:p>
        </p:txBody>
      </p:sp>
      <p:sp>
        <p:nvSpPr>
          <p:cNvPr id="405" name="텍스트 405"/>
          <p:cNvSpPr txBox="1"/>
          <p:nvPr/>
        </p:nvSpPr>
        <p:spPr>
          <a:xfrm>
            <a:off x="566928" y="2843784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s1</a:t>
            </a:r>
          </a:p>
        </p:txBody>
      </p:sp>
      <p:sp>
        <p:nvSpPr>
          <p:cNvPr id="406" name="칸 85"/>
          <p:cNvSpPr/>
          <p:nvPr/>
        </p:nvSpPr>
        <p:spPr>
          <a:xfrm>
            <a:off x="1298448" y="2578608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85</a:t>
            </a:r>
          </a:p>
        </p:txBody>
      </p:sp>
      <p:sp>
        <p:nvSpPr>
          <p:cNvPr id="407" name="텍스트 407"/>
          <p:cNvSpPr txBox="1"/>
          <p:nvPr/>
        </p:nvSpPr>
        <p:spPr>
          <a:xfrm>
            <a:off x="1298448" y="2971800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s2</a:t>
            </a:r>
          </a:p>
        </p:txBody>
      </p:sp>
      <p:sp>
        <p:nvSpPr>
          <p:cNvPr id="408" name="칸 70"/>
          <p:cNvSpPr/>
          <p:nvPr/>
        </p:nvSpPr>
        <p:spPr>
          <a:xfrm>
            <a:off x="2011680" y="2414016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70</a:t>
            </a:r>
          </a:p>
        </p:txBody>
      </p:sp>
      <p:sp>
        <p:nvSpPr>
          <p:cNvPr id="409" name="텍스트 409"/>
          <p:cNvSpPr txBox="1"/>
          <p:nvPr/>
        </p:nvSpPr>
        <p:spPr>
          <a:xfrm>
            <a:off x="2011680" y="2807208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s3</a:t>
            </a:r>
          </a:p>
        </p:txBody>
      </p:sp>
      <p:sp>
        <p:nvSpPr>
          <p:cNvPr id="410" name="칸 100"/>
          <p:cNvSpPr/>
          <p:nvPr/>
        </p:nvSpPr>
        <p:spPr>
          <a:xfrm>
            <a:off x="2743200" y="25603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100</a:t>
            </a:r>
          </a:p>
        </p:txBody>
      </p:sp>
      <p:sp>
        <p:nvSpPr>
          <p:cNvPr id="411" name="텍스트 411"/>
          <p:cNvSpPr txBox="1"/>
          <p:nvPr/>
        </p:nvSpPr>
        <p:spPr>
          <a:xfrm>
            <a:off x="2743200" y="2953512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s4</a:t>
            </a:r>
          </a:p>
        </p:txBody>
      </p:sp>
      <p:sp>
        <p:nvSpPr>
          <p:cNvPr id="412" name="칸 65"/>
          <p:cNvSpPr/>
          <p:nvPr/>
        </p:nvSpPr>
        <p:spPr>
          <a:xfrm>
            <a:off x="3474720" y="246888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65</a:t>
            </a:r>
          </a:p>
        </p:txBody>
      </p:sp>
      <p:sp>
        <p:nvSpPr>
          <p:cNvPr id="413" name="텍스트 413"/>
          <p:cNvSpPr txBox="1"/>
          <p:nvPr/>
        </p:nvSpPr>
        <p:spPr>
          <a:xfrm>
            <a:off x="3474720" y="2862072"/>
            <a:ext cx="566928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s5</a:t>
            </a:r>
          </a:p>
        </p:txBody>
      </p:sp>
      <p:cxnSp>
        <p:nvCxnSpPr>
          <p:cNvPr id="414" name="연결선 414"/>
          <p:cNvCxnSpPr/>
          <p:nvPr/>
        </p:nvCxnSpPr>
        <p:spPr>
          <a:xfrm>
            <a:off x="2212848" y="3200400"/>
            <a:ext cx="0" cy="29260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15" name="텍스트 415"/>
          <p:cNvSpPr txBox="1"/>
          <p:nvPr/>
        </p:nvSpPr>
        <p:spPr>
          <a:xfrm>
            <a:off x="2331720" y="3255264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rgbClr val="147BD1"/>
                </a:solidFill>
              </a:rPr>
              <a:t>같은 자료형을 하나로 묶기</a:t>
            </a:r>
          </a:p>
        </p:txBody>
      </p:sp>
      <p:sp>
        <p:nvSpPr>
          <p:cNvPr id="416" name="텍스트 416"/>
          <p:cNvSpPr txBox="1"/>
          <p:nvPr/>
        </p:nvSpPr>
        <p:spPr>
          <a:xfrm>
            <a:off x="438912" y="3584448"/>
            <a:ext cx="36576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dirty="0">
                <a:solidFill>
                  <a:srgbClr val="595959"/>
                </a:solidFill>
              </a:rPr>
              <a:t>② 배열 1개로 선언  →  int score[5];  이름 1개 + 번호로 구분</a:t>
            </a:r>
          </a:p>
        </p:txBody>
      </p:sp>
      <p:sp>
        <p:nvSpPr>
          <p:cNvPr id="417" name="칸 90"/>
          <p:cNvSpPr/>
          <p:nvPr/>
        </p:nvSpPr>
        <p:spPr>
          <a:xfrm>
            <a:off x="1188720" y="384048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90</a:t>
            </a:r>
          </a:p>
        </p:txBody>
      </p:sp>
      <p:sp>
        <p:nvSpPr>
          <p:cNvPr id="418" name="텍스트 418"/>
          <p:cNvSpPr txBox="1"/>
          <p:nvPr/>
        </p:nvSpPr>
        <p:spPr>
          <a:xfrm>
            <a:off x="1188720" y="4233672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147BD1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19" name="칸 85"/>
          <p:cNvSpPr/>
          <p:nvPr/>
        </p:nvSpPr>
        <p:spPr>
          <a:xfrm>
            <a:off x="1755648" y="384048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85</a:t>
            </a:r>
          </a:p>
        </p:txBody>
      </p:sp>
      <p:sp>
        <p:nvSpPr>
          <p:cNvPr id="420" name="텍스트 420"/>
          <p:cNvSpPr txBox="1"/>
          <p:nvPr/>
        </p:nvSpPr>
        <p:spPr>
          <a:xfrm>
            <a:off x="1755648" y="4233672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147BD1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21" name="칸 70"/>
          <p:cNvSpPr/>
          <p:nvPr/>
        </p:nvSpPr>
        <p:spPr>
          <a:xfrm>
            <a:off x="2322576" y="384048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70</a:t>
            </a:r>
          </a:p>
        </p:txBody>
      </p:sp>
      <p:sp>
        <p:nvSpPr>
          <p:cNvPr id="422" name="텍스트 422"/>
          <p:cNvSpPr txBox="1"/>
          <p:nvPr/>
        </p:nvSpPr>
        <p:spPr>
          <a:xfrm>
            <a:off x="2322576" y="4233672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147BD1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423" name="칸 100"/>
          <p:cNvSpPr/>
          <p:nvPr/>
        </p:nvSpPr>
        <p:spPr>
          <a:xfrm>
            <a:off x="2889504" y="384048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100</a:t>
            </a:r>
          </a:p>
        </p:txBody>
      </p:sp>
      <p:sp>
        <p:nvSpPr>
          <p:cNvPr id="424" name="텍스트 424"/>
          <p:cNvSpPr txBox="1"/>
          <p:nvPr/>
        </p:nvSpPr>
        <p:spPr>
          <a:xfrm>
            <a:off x="2889504" y="4233672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147BD1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425" name="칸 65"/>
          <p:cNvSpPr/>
          <p:nvPr/>
        </p:nvSpPr>
        <p:spPr>
          <a:xfrm>
            <a:off x="3456432" y="384048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65</a:t>
            </a:r>
          </a:p>
        </p:txBody>
      </p:sp>
      <p:sp>
        <p:nvSpPr>
          <p:cNvPr id="426" name="텍스트 426"/>
          <p:cNvSpPr txBox="1"/>
          <p:nvPr/>
        </p:nvSpPr>
        <p:spPr>
          <a:xfrm>
            <a:off x="3456432" y="4233672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147BD1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427" name="텍스트 427"/>
          <p:cNvSpPr txBox="1"/>
          <p:nvPr/>
        </p:nvSpPr>
        <p:spPr>
          <a:xfrm>
            <a:off x="438912" y="3840480"/>
            <a:ext cx="65836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score</a:t>
            </a:r>
          </a:p>
        </p:txBody>
      </p:sp>
      <p:sp>
        <p:nvSpPr>
          <p:cNvPr id="428" name="라벨 배열의 메모리 구조"/>
          <p:cNvSpPr txBox="1"/>
          <p:nvPr/>
        </p:nvSpPr>
        <p:spPr>
          <a:xfrm>
            <a:off x="4572000" y="1700784"/>
            <a:ext cx="621792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배열의 메모리 구조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int score[5] = {90, 85, 70, 100, 65};</a:t>
            </a:r>
          </a:p>
        </p:txBody>
      </p:sp>
      <p:sp>
        <p:nvSpPr>
          <p:cNvPr id="429" name="텍스트 429"/>
          <p:cNvSpPr txBox="1"/>
          <p:nvPr/>
        </p:nvSpPr>
        <p:spPr>
          <a:xfrm>
            <a:off x="4572000" y="2212848"/>
            <a:ext cx="86868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dirty="0">
                <a:solidFill>
                  <a:srgbClr val="7F8C99"/>
                </a:solidFill>
              </a:rPr>
              <a:t>메모리 주소</a:t>
            </a:r>
          </a:p>
        </p:txBody>
      </p:sp>
      <p:sp>
        <p:nvSpPr>
          <p:cNvPr id="430" name="텍스트 430"/>
          <p:cNvSpPr txBox="1"/>
          <p:nvPr/>
        </p:nvSpPr>
        <p:spPr>
          <a:xfrm>
            <a:off x="5532120" y="2212848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0x2000</a:t>
            </a:r>
          </a:p>
        </p:txBody>
      </p:sp>
      <p:sp>
        <p:nvSpPr>
          <p:cNvPr id="431" name="칸 90"/>
          <p:cNvSpPr/>
          <p:nvPr/>
        </p:nvSpPr>
        <p:spPr>
          <a:xfrm>
            <a:off x="5532120" y="246888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90</a:t>
            </a:r>
          </a:p>
        </p:txBody>
      </p:sp>
      <p:sp>
        <p:nvSpPr>
          <p:cNvPr id="432" name="텍스트 432"/>
          <p:cNvSpPr txBox="1"/>
          <p:nvPr/>
        </p:nvSpPr>
        <p:spPr>
          <a:xfrm>
            <a:off x="5532120" y="3090672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score[0]</a:t>
            </a:r>
          </a:p>
        </p:txBody>
      </p:sp>
      <p:sp>
        <p:nvSpPr>
          <p:cNvPr id="433" name="텍스트 433"/>
          <p:cNvSpPr txBox="1"/>
          <p:nvPr/>
        </p:nvSpPr>
        <p:spPr>
          <a:xfrm>
            <a:off x="6446520" y="2212848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0x2004</a:t>
            </a:r>
          </a:p>
        </p:txBody>
      </p:sp>
      <p:sp>
        <p:nvSpPr>
          <p:cNvPr id="434" name="칸 85"/>
          <p:cNvSpPr/>
          <p:nvPr/>
        </p:nvSpPr>
        <p:spPr>
          <a:xfrm>
            <a:off x="6446520" y="246888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85</a:t>
            </a:r>
          </a:p>
        </p:txBody>
      </p:sp>
      <p:sp>
        <p:nvSpPr>
          <p:cNvPr id="435" name="텍스트 435"/>
          <p:cNvSpPr txBox="1"/>
          <p:nvPr/>
        </p:nvSpPr>
        <p:spPr>
          <a:xfrm>
            <a:off x="6446520" y="3090672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score[1]</a:t>
            </a:r>
          </a:p>
        </p:txBody>
      </p:sp>
      <p:sp>
        <p:nvSpPr>
          <p:cNvPr id="436" name="텍스트 436"/>
          <p:cNvSpPr txBox="1"/>
          <p:nvPr/>
        </p:nvSpPr>
        <p:spPr>
          <a:xfrm>
            <a:off x="7360920" y="2212848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0x2008</a:t>
            </a:r>
          </a:p>
        </p:txBody>
      </p:sp>
      <p:sp>
        <p:nvSpPr>
          <p:cNvPr id="437" name="칸 70"/>
          <p:cNvSpPr/>
          <p:nvPr/>
        </p:nvSpPr>
        <p:spPr>
          <a:xfrm>
            <a:off x="7360920" y="2468880"/>
            <a:ext cx="914400" cy="548640"/>
          </a:xfrm>
          <a:prstGeom prst="rect">
            <a:avLst/>
          </a:prstGeom>
          <a:solidFill>
            <a:srgbClr val="EEF5FC"/>
          </a:solidFill>
          <a:ln w="28575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147BD1"/>
                </a:solidFill>
                <a:latin typeface="Consolas"/>
                <a:cs typeface="Consolas"/>
              </a:rPr>
              <a:t>70</a:t>
            </a:r>
          </a:p>
        </p:txBody>
      </p:sp>
      <p:sp>
        <p:nvSpPr>
          <p:cNvPr id="438" name="텍스트 438"/>
          <p:cNvSpPr txBox="1"/>
          <p:nvPr/>
        </p:nvSpPr>
        <p:spPr>
          <a:xfrm>
            <a:off x="7360920" y="3090672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score[2]</a:t>
            </a:r>
          </a:p>
        </p:txBody>
      </p:sp>
      <p:sp>
        <p:nvSpPr>
          <p:cNvPr id="439" name="텍스트 439"/>
          <p:cNvSpPr txBox="1"/>
          <p:nvPr/>
        </p:nvSpPr>
        <p:spPr>
          <a:xfrm>
            <a:off x="8275320" y="2212848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0x200C</a:t>
            </a:r>
          </a:p>
        </p:txBody>
      </p:sp>
      <p:sp>
        <p:nvSpPr>
          <p:cNvPr id="440" name="칸 100"/>
          <p:cNvSpPr/>
          <p:nvPr/>
        </p:nvSpPr>
        <p:spPr>
          <a:xfrm>
            <a:off x="8275320" y="246888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100</a:t>
            </a:r>
          </a:p>
        </p:txBody>
      </p:sp>
      <p:sp>
        <p:nvSpPr>
          <p:cNvPr id="441" name="텍스트 441"/>
          <p:cNvSpPr txBox="1"/>
          <p:nvPr/>
        </p:nvSpPr>
        <p:spPr>
          <a:xfrm>
            <a:off x="8275320" y="3090672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score[3]</a:t>
            </a:r>
          </a:p>
        </p:txBody>
      </p:sp>
      <p:sp>
        <p:nvSpPr>
          <p:cNvPr id="442" name="텍스트 442"/>
          <p:cNvSpPr txBox="1"/>
          <p:nvPr/>
        </p:nvSpPr>
        <p:spPr>
          <a:xfrm>
            <a:off x="9189720" y="2212848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0x2010</a:t>
            </a:r>
          </a:p>
        </p:txBody>
      </p:sp>
      <p:sp>
        <p:nvSpPr>
          <p:cNvPr id="443" name="칸 65"/>
          <p:cNvSpPr/>
          <p:nvPr/>
        </p:nvSpPr>
        <p:spPr>
          <a:xfrm>
            <a:off x="9189720" y="246888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65</a:t>
            </a:r>
          </a:p>
        </p:txBody>
      </p:sp>
      <p:sp>
        <p:nvSpPr>
          <p:cNvPr id="444" name="텍스트 444"/>
          <p:cNvSpPr txBox="1"/>
          <p:nvPr/>
        </p:nvSpPr>
        <p:spPr>
          <a:xfrm>
            <a:off x="9189720" y="3090672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score[4]</a:t>
            </a:r>
          </a:p>
        </p:txBody>
      </p:sp>
      <p:sp>
        <p:nvSpPr>
          <p:cNvPr id="445" name="텍스트 445"/>
          <p:cNvSpPr txBox="1"/>
          <p:nvPr/>
        </p:nvSpPr>
        <p:spPr>
          <a:xfrm>
            <a:off x="10104120" y="2212848"/>
            <a:ext cx="6858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C0392B"/>
                </a:solidFill>
                <a:latin typeface="Consolas"/>
                <a:cs typeface="Consolas"/>
              </a:rPr>
              <a:t>0x2014</a:t>
            </a:r>
          </a:p>
        </p:txBody>
      </p:sp>
      <p:sp>
        <p:nvSpPr>
          <p:cNvPr id="446" name="칸 ?"/>
          <p:cNvSpPr/>
          <p:nvPr/>
        </p:nvSpPr>
        <p:spPr>
          <a:xfrm>
            <a:off x="10104120" y="2468880"/>
            <a:ext cx="685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C0392B"/>
                </a:solidFill>
                <a:latin typeface="Consolas"/>
                <a:cs typeface="Consolas"/>
              </a:rPr>
              <a:t>?</a:t>
            </a:r>
          </a:p>
        </p:txBody>
      </p:sp>
      <p:sp>
        <p:nvSpPr>
          <p:cNvPr id="447" name="텍스트 447"/>
          <p:cNvSpPr txBox="1"/>
          <p:nvPr/>
        </p:nvSpPr>
        <p:spPr>
          <a:xfrm>
            <a:off x="10104120" y="309067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C0392B"/>
                </a:solidFill>
                <a:latin typeface="Consolas"/>
                <a:cs typeface="Consolas"/>
              </a:rPr>
              <a:t>score[5]</a:t>
            </a:r>
          </a:p>
        </p:txBody>
      </p:sp>
      <p:sp>
        <p:nvSpPr>
          <p:cNvPr id="448" name="텍스트 448"/>
          <p:cNvSpPr txBox="1"/>
          <p:nvPr/>
        </p:nvSpPr>
        <p:spPr>
          <a:xfrm>
            <a:off x="10104120" y="3310128"/>
            <a:ext cx="6858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C0392B"/>
                </a:solidFill>
              </a:rPr>
              <a:t>범위 초과 ✗</a:t>
            </a:r>
          </a:p>
        </p:txBody>
      </p:sp>
      <p:sp>
        <p:nvSpPr>
          <p:cNvPr id="449" name="배열 이름"/>
          <p:cNvSpPr/>
          <p:nvPr/>
        </p:nvSpPr>
        <p:spPr>
          <a:xfrm>
            <a:off x="4572000" y="2560320"/>
            <a:ext cx="685800" cy="365760"/>
          </a:xfrm>
          <a:prstGeom prst="roundRect">
            <a:avLst/>
          </a:prstGeom>
          <a:solidFill>
            <a:srgbClr val="147BD1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Consolas"/>
                <a:cs typeface="Consolas"/>
              </a:rPr>
              <a:t>score</a:t>
            </a:r>
          </a:p>
        </p:txBody>
      </p:sp>
      <p:cxnSp>
        <p:nvCxnSpPr>
          <p:cNvPr id="450" name="연결선 450"/>
          <p:cNvCxnSpPr/>
          <p:nvPr/>
        </p:nvCxnSpPr>
        <p:spPr>
          <a:xfrm>
            <a:off x="5257800" y="2743200"/>
            <a:ext cx="274320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51" name="텍스트 451"/>
          <p:cNvSpPr txBox="1"/>
          <p:nvPr/>
        </p:nvSpPr>
        <p:spPr>
          <a:xfrm>
            <a:off x="4572000" y="2971800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dirty="0">
                <a:solidFill>
                  <a:srgbClr val="7F8C99"/>
                </a:solidFill>
              </a:rPr>
              <a:t>배열 이름</a:t>
            </a:r>
          </a:p>
        </p:txBody>
      </p:sp>
      <p:cxnSp>
        <p:nvCxnSpPr>
          <p:cNvPr id="452" name="연결선 452"/>
          <p:cNvCxnSpPr/>
          <p:nvPr/>
        </p:nvCxnSpPr>
        <p:spPr>
          <a:xfrm>
            <a:off x="5532120" y="3364992"/>
            <a:ext cx="0" cy="73152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453" name="연결선 453"/>
          <p:cNvCxnSpPr/>
          <p:nvPr/>
        </p:nvCxnSpPr>
        <p:spPr>
          <a:xfrm>
            <a:off x="10104120" y="3364992"/>
            <a:ext cx="0" cy="73152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cxnSp>
        <p:nvCxnSpPr>
          <p:cNvPr id="454" name="연결선 454"/>
          <p:cNvCxnSpPr/>
          <p:nvPr/>
        </p:nvCxnSpPr>
        <p:spPr>
          <a:xfrm>
            <a:off x="5532120" y="3438144"/>
            <a:ext cx="4572000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sp>
        <p:nvSpPr>
          <p:cNvPr id="455" name="텍스트 455"/>
          <p:cNvSpPr txBox="1"/>
          <p:nvPr/>
        </p:nvSpPr>
        <p:spPr>
          <a:xfrm>
            <a:off x="5532120" y="3511296"/>
            <a:ext cx="45720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262626"/>
                </a:solidFill>
              </a:rPr>
              <a:t>요소(element) 5개  ×  4 Byte  =  20 Byte   (주소가 4씩 증가 → 연속된 메모리)</a:t>
            </a:r>
          </a:p>
        </p:txBody>
      </p:sp>
      <p:sp>
        <p:nvSpPr>
          <p:cNvPr id="456" name="텍스트 456"/>
          <p:cNvSpPr txBox="1"/>
          <p:nvPr/>
        </p:nvSpPr>
        <p:spPr>
          <a:xfrm>
            <a:off x="5532120" y="3822192"/>
            <a:ext cx="45720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147BD1"/>
                </a:solidFill>
              </a:rPr>
              <a:t>예)  score[2]  →  인덱스 2 = 세 번째 칸 = 70</a:t>
            </a:r>
          </a:p>
        </p:txBody>
      </p:sp>
      <p:sp>
        <p:nvSpPr>
          <p:cNvPr id="457" name="라벨 사용 방법"/>
          <p:cNvSpPr txBox="1"/>
          <p:nvPr/>
        </p:nvSpPr>
        <p:spPr>
          <a:xfrm>
            <a:off x="438912" y="4526280"/>
            <a:ext cx="52120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사용 방법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자료형 배열이름[크기];</a:t>
            </a:r>
          </a:p>
        </p:txBody>
      </p:sp>
      <p:sp>
        <p:nvSpPr>
          <p:cNvPr id="458" name="코드 배열"/>
          <p:cNvSpPr/>
          <p:nvPr/>
        </p:nvSpPr>
        <p:spPr>
          <a:xfrm>
            <a:off x="438912" y="4828032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int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score[5];                     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선언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int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score[5] = {90, 85, 70, 100, 65};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선언 + 초기화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score[2] = 75;                    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3번째 요소에 대입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for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(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int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i = 0; i &lt; 5; i++) {     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전체 요소 접근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sum += score[i];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459" name="라벨 꼭 기억할 점"/>
          <p:cNvSpPr txBox="1"/>
          <p:nvPr/>
        </p:nvSpPr>
        <p:spPr>
          <a:xfrm>
            <a:off x="5897880" y="4526280"/>
            <a:ext cx="489204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꼭 기억할 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Key Points</a:t>
            </a:r>
          </a:p>
        </p:txBody>
      </p:sp>
      <p:sp>
        <p:nvSpPr>
          <p:cNvPr id="460" name="참고"/>
          <p:cNvSpPr txBox="1"/>
          <p:nvPr/>
        </p:nvSpPr>
        <p:spPr>
          <a:xfrm>
            <a:off x="5897880" y="4873752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인덱스는 0부터 시작 → 크기가 N이면 0 ~ N-1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범위를 벗어난 접근(score[5])은 오류 없이 다른 메모리를 침범 → 버그 주의!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모든 요소는 같은 자료형이며, 크기는 선언할 때 고정됩니다.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요소 개수 = sizeof(score) / sizeof(score[0]) = 20 / 4 = 5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5. Function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01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함수(Function): 특정 작업을 하는 코드 묶음에 이름을 붙인 것입니다. 입력(매개변수)을 받아 처리하고, 결과(반환값)를 돌려줍니다.</a:t>
            </a:r>
          </a:p>
        </p:txBody>
      </p:sp>
      <p:sp>
        <p:nvSpPr>
          <p:cNvPr id="402" name="라벨 함수의 개념"/>
          <p:cNvSpPr txBox="1"/>
          <p:nvPr/>
        </p:nvSpPr>
        <p:spPr>
          <a:xfrm>
            <a:off x="438912" y="1700784"/>
            <a:ext cx="438912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함수의 개념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입력 → 처리 → 출력</a:t>
            </a:r>
          </a:p>
        </p:txBody>
      </p:sp>
      <p:sp>
        <p:nvSpPr>
          <p:cNvPr id="403" name="입력 a"/>
          <p:cNvSpPr/>
          <p:nvPr/>
        </p:nvSpPr>
        <p:spPr>
          <a:xfrm>
            <a:off x="502920" y="2286000"/>
            <a:ext cx="914400" cy="384048"/>
          </a:xfrm>
          <a:prstGeom prst="roundRect">
            <a:avLst/>
          </a:prstGeom>
          <a:solidFill>
            <a:srgbClr val="DFF3E6"/>
          </a:solidFill>
          <a:ln w="12700">
            <a:solidFill>
              <a:srgbClr val="1E8449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1B5E20"/>
                </a:solidFill>
                <a:latin typeface="Consolas"/>
                <a:cs typeface="Consolas"/>
              </a:rPr>
              <a:t>a = 3</a:t>
            </a:r>
          </a:p>
        </p:txBody>
      </p:sp>
      <p:sp>
        <p:nvSpPr>
          <p:cNvPr id="404" name="입력 b"/>
          <p:cNvSpPr/>
          <p:nvPr/>
        </p:nvSpPr>
        <p:spPr>
          <a:xfrm>
            <a:off x="502920" y="2852928"/>
            <a:ext cx="914400" cy="384048"/>
          </a:xfrm>
          <a:prstGeom prst="roundRect">
            <a:avLst/>
          </a:prstGeom>
          <a:solidFill>
            <a:srgbClr val="DFF3E6"/>
          </a:solidFill>
          <a:ln w="12700">
            <a:solidFill>
              <a:srgbClr val="1E8449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1B5E20"/>
                </a:solidFill>
                <a:latin typeface="Consolas"/>
                <a:cs typeface="Consolas"/>
              </a:rPr>
              <a:t>b = 5</a:t>
            </a:r>
          </a:p>
        </p:txBody>
      </p:sp>
      <p:cxnSp>
        <p:nvCxnSpPr>
          <p:cNvPr id="405" name="연결선 405"/>
          <p:cNvCxnSpPr/>
          <p:nvPr/>
        </p:nvCxnSpPr>
        <p:spPr>
          <a:xfrm>
            <a:off x="1417320" y="2478024"/>
            <a:ext cx="457200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cxnSp>
        <p:nvCxnSpPr>
          <p:cNvPr id="406" name="연결선 406"/>
          <p:cNvCxnSpPr/>
          <p:nvPr/>
        </p:nvCxnSpPr>
        <p:spPr>
          <a:xfrm>
            <a:off x="1417320" y="3044952"/>
            <a:ext cx="457200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07" name="함수 상자"/>
          <p:cNvSpPr/>
          <p:nvPr/>
        </p:nvSpPr>
        <p:spPr>
          <a:xfrm>
            <a:off x="1874520" y="2148840"/>
            <a:ext cx="1371600" cy="1234440"/>
          </a:xfrm>
          <a:prstGeom prst="rect">
            <a:avLst/>
          </a:prstGeom>
          <a:solidFill>
            <a:srgbClr val="147BD1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Consolas"/>
                <a:cs typeface="Consolas"/>
              </a:rPr>
              <a:t>add()</a:t>
            </a:r>
          </a:p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Consolas"/>
                <a:cs typeface="Consolas"/>
              </a:rPr>
              <a:t>a + b 계산</a:t>
            </a:r>
          </a:p>
        </p:txBody>
      </p:sp>
      <p:cxnSp>
        <p:nvCxnSpPr>
          <p:cNvPr id="408" name="연결선 408"/>
          <p:cNvCxnSpPr/>
          <p:nvPr/>
        </p:nvCxnSpPr>
        <p:spPr>
          <a:xfrm>
            <a:off x="3246120" y="2761488"/>
            <a:ext cx="457200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09" name="출력"/>
          <p:cNvSpPr/>
          <p:nvPr/>
        </p:nvSpPr>
        <p:spPr>
          <a:xfrm>
            <a:off x="3703320" y="2560320"/>
            <a:ext cx="822960" cy="402336"/>
          </a:xfrm>
          <a:prstGeom prst="roundRect">
            <a:avLst/>
          </a:prstGeom>
          <a:solidFill>
            <a:srgbClr val="FDEBD9"/>
          </a:solidFill>
          <a:ln w="12700">
            <a:solidFill>
              <a:srgbClr val="D35400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D35400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410" name="텍스트 410"/>
          <p:cNvSpPr txBox="1"/>
          <p:nvPr/>
        </p:nvSpPr>
        <p:spPr>
          <a:xfrm>
            <a:off x="365760" y="3474720"/>
            <a:ext cx="118872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1E8449"/>
                </a:solidFill>
              </a:rPr>
              <a:t>매개변수 (입력)</a:t>
            </a:r>
          </a:p>
        </p:txBody>
      </p:sp>
      <p:sp>
        <p:nvSpPr>
          <p:cNvPr id="411" name="텍스트 411"/>
          <p:cNvSpPr txBox="1"/>
          <p:nvPr/>
        </p:nvSpPr>
        <p:spPr>
          <a:xfrm>
            <a:off x="1874520" y="3474720"/>
            <a:ext cx="13716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147BD1"/>
                </a:solidFill>
              </a:rPr>
              <a:t>함수 몸체 (처리)</a:t>
            </a:r>
          </a:p>
        </p:txBody>
      </p:sp>
      <p:sp>
        <p:nvSpPr>
          <p:cNvPr id="412" name="텍스트 412"/>
          <p:cNvSpPr txBox="1"/>
          <p:nvPr/>
        </p:nvSpPr>
        <p:spPr>
          <a:xfrm>
            <a:off x="3566160" y="3474720"/>
            <a:ext cx="109728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D35400"/>
                </a:solidFill>
              </a:rPr>
              <a:t>반환값 (출력)</a:t>
            </a:r>
          </a:p>
        </p:txBody>
      </p:sp>
      <p:sp>
        <p:nvSpPr>
          <p:cNvPr id="413" name="텍스트 413"/>
          <p:cNvSpPr txBox="1"/>
          <p:nvPr/>
        </p:nvSpPr>
        <p:spPr>
          <a:xfrm>
            <a:off x="438912" y="3840480"/>
            <a:ext cx="438912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dirty="0">
                <a:solidFill>
                  <a:srgbClr val="595959"/>
                </a:solidFill>
              </a:rPr>
              <a:t>※ 자판기처럼: 돈·버튼(입력) → 내부 동작(처리) → 음료(출력)</a:t>
            </a:r>
          </a:p>
        </p:txBody>
      </p:sp>
      <p:sp>
        <p:nvSpPr>
          <p:cNvPr id="414" name="라벨 함수의 구조"/>
          <p:cNvSpPr txBox="1"/>
          <p:nvPr/>
        </p:nvSpPr>
        <p:spPr>
          <a:xfrm>
            <a:off x="5257800" y="1700784"/>
            <a:ext cx="54864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함수의 구조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정의 (Definition)</a:t>
            </a:r>
          </a:p>
        </p:txBody>
      </p:sp>
      <p:sp>
        <p:nvSpPr>
          <p:cNvPr id="415" name="구조 반환형"/>
          <p:cNvSpPr/>
          <p:nvPr/>
        </p:nvSpPr>
        <p:spPr>
          <a:xfrm>
            <a:off x="5257800" y="2194560"/>
            <a:ext cx="685800" cy="457200"/>
          </a:xfrm>
          <a:prstGeom prst="rect">
            <a:avLst/>
          </a:prstGeom>
          <a:solidFill>
            <a:srgbClr val="FDEBD9"/>
          </a:solidFill>
          <a:ln w="12700">
            <a:solidFill>
              <a:srgbClr val="D35400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D35400"/>
                </a:solidFill>
                <a:latin typeface="Consolas"/>
                <a:cs typeface="Consolas"/>
              </a:rPr>
              <a:t>int</a:t>
            </a:r>
          </a:p>
        </p:txBody>
      </p:sp>
      <p:sp>
        <p:nvSpPr>
          <p:cNvPr id="416" name="텍스트 416"/>
          <p:cNvSpPr txBox="1"/>
          <p:nvPr/>
        </p:nvSpPr>
        <p:spPr>
          <a:xfrm>
            <a:off x="5257800" y="2715768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D35400"/>
                </a:solidFill>
              </a:rPr>
              <a:t>반환형</a:t>
            </a:r>
          </a:p>
        </p:txBody>
      </p:sp>
      <p:sp>
        <p:nvSpPr>
          <p:cNvPr id="417" name="구조 함수 이름"/>
          <p:cNvSpPr/>
          <p:nvPr/>
        </p:nvSpPr>
        <p:spPr>
          <a:xfrm>
            <a:off x="6016752" y="2194560"/>
            <a:ext cx="73152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147BD1"/>
                </a:solidFill>
                <a:latin typeface="Consolas"/>
                <a:cs typeface="Consolas"/>
              </a:rPr>
              <a:t>add</a:t>
            </a:r>
          </a:p>
        </p:txBody>
      </p:sp>
      <p:sp>
        <p:nvSpPr>
          <p:cNvPr id="418" name="텍스트 418"/>
          <p:cNvSpPr txBox="1"/>
          <p:nvPr/>
        </p:nvSpPr>
        <p:spPr>
          <a:xfrm>
            <a:off x="6016752" y="2715768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147BD1"/>
                </a:solidFill>
              </a:rPr>
              <a:t>함수 이름</a:t>
            </a:r>
          </a:p>
        </p:txBody>
      </p:sp>
      <p:sp>
        <p:nvSpPr>
          <p:cNvPr id="419" name="구조 매개변수"/>
          <p:cNvSpPr/>
          <p:nvPr/>
        </p:nvSpPr>
        <p:spPr>
          <a:xfrm>
            <a:off x="6821424" y="2194560"/>
            <a:ext cx="1920240" cy="457200"/>
          </a:xfrm>
          <a:prstGeom prst="rect">
            <a:avLst/>
          </a:prstGeom>
          <a:solidFill>
            <a:srgbClr val="DFF3E6"/>
          </a:solidFill>
          <a:ln w="12700">
            <a:solidFill>
              <a:srgbClr val="1E8449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1E8449"/>
                </a:solidFill>
                <a:latin typeface="Consolas"/>
                <a:cs typeface="Consolas"/>
              </a:rPr>
              <a:t>(int a, int b)</a:t>
            </a:r>
          </a:p>
        </p:txBody>
      </p:sp>
      <p:sp>
        <p:nvSpPr>
          <p:cNvPr id="420" name="텍스트 420"/>
          <p:cNvSpPr txBox="1"/>
          <p:nvPr/>
        </p:nvSpPr>
        <p:spPr>
          <a:xfrm>
            <a:off x="6821424" y="2715768"/>
            <a:ext cx="19202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1E8449"/>
                </a:solidFill>
              </a:rPr>
              <a:t>매개변수</a:t>
            </a:r>
          </a:p>
        </p:txBody>
      </p:sp>
      <p:sp>
        <p:nvSpPr>
          <p:cNvPr id="421" name="텍스트 421"/>
          <p:cNvSpPr txBox="1"/>
          <p:nvPr/>
        </p:nvSpPr>
        <p:spPr>
          <a:xfrm>
            <a:off x="8860536" y="2194560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dirty="0">
                <a:solidFill>
                  <a:srgbClr val="595959"/>
                </a:solidFill>
              </a:rPr>
              <a:t>← 머리 (Header)</a:t>
            </a:r>
          </a:p>
        </p:txBody>
      </p:sp>
      <p:sp>
        <p:nvSpPr>
          <p:cNvPr id="422" name="코드 함수 몸체"/>
          <p:cNvSpPr/>
          <p:nvPr/>
        </p:nvSpPr>
        <p:spPr>
          <a:xfrm>
            <a:off x="5257800" y="3063240"/>
            <a:ext cx="3483864" cy="8686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return a + 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423" name="텍스트 423"/>
          <p:cNvSpPr txBox="1"/>
          <p:nvPr/>
        </p:nvSpPr>
        <p:spPr>
          <a:xfrm>
            <a:off x="8869680" y="3154680"/>
            <a:ext cx="19202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dirty="0">
                <a:solidFill>
                  <a:srgbClr val="595959"/>
                </a:solidFill>
              </a:rPr>
              <a:t>← 몸체 (Body)</a:t>
            </a:r>
          </a:p>
        </p:txBody>
      </p:sp>
      <p:sp>
        <p:nvSpPr>
          <p:cNvPr id="424" name="텍스트 424"/>
          <p:cNvSpPr txBox="1"/>
          <p:nvPr/>
        </p:nvSpPr>
        <p:spPr>
          <a:xfrm>
            <a:off x="8869680" y="3429000"/>
            <a:ext cx="19202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rgbClr val="D35400"/>
                </a:solidFill>
              </a:rPr>
              <a:t>return: 결과를 돌려주고 종료</a:t>
            </a:r>
          </a:p>
        </p:txBody>
      </p:sp>
      <p:sp>
        <p:nvSpPr>
          <p:cNvPr id="425" name="텍스트 425"/>
          <p:cNvSpPr txBox="1"/>
          <p:nvPr/>
        </p:nvSpPr>
        <p:spPr>
          <a:xfrm>
            <a:off x="8869680" y="3675888"/>
            <a:ext cx="19202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dirty="0">
                <a:solidFill>
                  <a:srgbClr val="595959"/>
                </a:solidFill>
              </a:rPr>
              <a:t>반환형과 같은 자료형이어야 함</a:t>
            </a:r>
          </a:p>
        </p:txBody>
      </p:sp>
      <p:sp>
        <p:nvSpPr>
          <p:cNvPr id="426" name="라벨 함수 호출 흐름"/>
          <p:cNvSpPr txBox="1"/>
          <p:nvPr/>
        </p:nvSpPr>
        <p:spPr>
          <a:xfrm>
            <a:off x="438912" y="4315968"/>
            <a:ext cx="539496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함수 호출 흐름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Call &amp; Return</a:t>
            </a:r>
          </a:p>
        </p:txBody>
      </p:sp>
      <p:sp>
        <p:nvSpPr>
          <p:cNvPr id="427" name="코드 main"/>
          <p:cNvSpPr/>
          <p:nvPr/>
        </p:nvSpPr>
        <p:spPr>
          <a:xfrm>
            <a:off x="438912" y="4663440"/>
            <a:ext cx="2240280" cy="12801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int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main(void)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int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r;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r = add(3, 5);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428" name="코드 add"/>
          <p:cNvSpPr/>
          <p:nvPr/>
        </p:nvSpPr>
        <p:spPr>
          <a:xfrm>
            <a:off x="3657600" y="466344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int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add(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int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a, 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int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b)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{</a:t>
            </a:r>
          </a:p>
          <a:p>
            <a:pPr marL="30734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return a + 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429" name="텍스트 429"/>
          <p:cNvSpPr txBox="1"/>
          <p:nvPr/>
        </p:nvSpPr>
        <p:spPr>
          <a:xfrm>
            <a:off x="438912" y="5989320"/>
            <a:ext cx="224028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595959"/>
                </a:solidFill>
              </a:rPr>
              <a:t>호출하는 쪽 (Caller)</a:t>
            </a:r>
          </a:p>
        </p:txBody>
      </p:sp>
      <p:sp>
        <p:nvSpPr>
          <p:cNvPr id="430" name="텍스트 430"/>
          <p:cNvSpPr txBox="1"/>
          <p:nvPr/>
        </p:nvSpPr>
        <p:spPr>
          <a:xfrm>
            <a:off x="3657600" y="5989320"/>
            <a:ext cx="210312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595959"/>
                </a:solidFill>
              </a:rPr>
              <a:t>호출되는 함수 (Callee)</a:t>
            </a:r>
          </a:p>
        </p:txBody>
      </p:sp>
      <p:cxnSp>
        <p:nvCxnSpPr>
          <p:cNvPr id="431" name="연결선 431"/>
          <p:cNvCxnSpPr/>
          <p:nvPr/>
        </p:nvCxnSpPr>
        <p:spPr>
          <a:xfrm>
            <a:off x="2679192" y="5138928"/>
            <a:ext cx="978408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32" name="텍스트 432"/>
          <p:cNvSpPr txBox="1"/>
          <p:nvPr/>
        </p:nvSpPr>
        <p:spPr>
          <a:xfrm>
            <a:off x="2679192" y="4919472"/>
            <a:ext cx="978408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1E8449"/>
                </a:solidFill>
              </a:rPr>
              <a:t>① 호출: 3, 5</a:t>
            </a:r>
          </a:p>
        </p:txBody>
      </p:sp>
      <p:cxnSp>
        <p:nvCxnSpPr>
          <p:cNvPr id="433" name="연결선 433"/>
          <p:cNvCxnSpPr/>
          <p:nvPr/>
        </p:nvCxnSpPr>
        <p:spPr>
          <a:xfrm flipH="1">
            <a:off x="2679192" y="5596128"/>
            <a:ext cx="978408" cy="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34" name="텍스트 434"/>
          <p:cNvSpPr txBox="1"/>
          <p:nvPr/>
        </p:nvSpPr>
        <p:spPr>
          <a:xfrm>
            <a:off x="2679192" y="5376672"/>
            <a:ext cx="978408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D35400"/>
                </a:solidFill>
              </a:rPr>
              <a:t>② 반환: 8</a:t>
            </a:r>
          </a:p>
        </p:txBody>
      </p:sp>
      <p:sp>
        <p:nvSpPr>
          <p:cNvPr id="435" name="라벨 꼭 기억할 점"/>
          <p:cNvSpPr txBox="1"/>
          <p:nvPr/>
        </p:nvSpPr>
        <p:spPr>
          <a:xfrm>
            <a:off x="6172200" y="4315968"/>
            <a:ext cx="461772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꼭 기억할 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Key Points</a:t>
            </a:r>
          </a:p>
        </p:txBody>
      </p:sp>
      <p:sp>
        <p:nvSpPr>
          <p:cNvPr id="436" name="참고"/>
          <p:cNvSpPr txBox="1"/>
          <p:nvPr/>
        </p:nvSpPr>
        <p:spPr>
          <a:xfrm>
            <a:off x="6172200" y="4663440"/>
            <a:ext cx="46177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같은 코드를 반복하지 않고 재사용 → 프로그램이 짧고 읽기 쉬워집니다.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돌려줄 값이 없으면 void,  입력이 없으면 (void):  void LED_On(void)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사용하기 전에 선언(프로토타입)이 필요:  int add(int a, int b);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매개변수는 값이 복사되어 전달됩니다. (Call by Value)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6. Bitwise Operator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01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비트 연산자: 정수를 2진수 비트 단위로 계산합니다. MCU 레지스터의 특정 비트를 켜고(Set)·끄고(Clear)·반전(Toggle)·확인할 때 사용합니다.</a:t>
            </a:r>
          </a:p>
        </p:txBody>
      </p:sp>
      <p:sp>
        <p:nvSpPr>
          <p:cNvPr id="402" name="라벨 비트 논리 연산자"/>
          <p:cNvSpPr txBox="1"/>
          <p:nvPr/>
        </p:nvSpPr>
        <p:spPr>
          <a:xfrm>
            <a:off x="438912" y="1700784"/>
            <a:ext cx="694944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비트 논리 연산자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a = 0000 1100 (0x0C),  b = 0000 1010 (0x0A)</a:t>
            </a:r>
          </a:p>
        </p:txBody>
      </p:sp>
      <p:graphicFrame>
        <p:nvGraphicFramePr>
          <p:cNvPr id="403" name="표 비트 논리 연산자"/>
          <p:cNvGraphicFramePr>
            <a:graphicFrameLocks noGrp="1"/>
          </p:cNvGraphicFramePr>
          <p:nvPr/>
        </p:nvGraphicFramePr>
        <p:xfrm>
          <a:off x="438912" y="2029968"/>
          <a:ext cx="6949440" cy="1600000"/>
        </p:xfrm>
        <a:graphic>
          <a:graphicData uri="http://schemas.openxmlformats.org/drawingml/2006/table">
            <a:tbl>
              <a:tblPr firstRow="1"/>
              <a:tblGrid>
                <a:gridCol w="594360"/>
                <a:gridCol w="1005840"/>
                <a:gridCol w="1783080"/>
                <a:gridCol w="731520"/>
                <a:gridCol w="1463040"/>
                <a:gridCol w="137160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연산자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동작 규칙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주요 용도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&amp;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AND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둘 다 1일 때만 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&amp;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0000 1000 (0x08)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끄기 · 검사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|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OR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하나라도 1이면 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|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0000 1110 (0x0E)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켜기 (Set)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^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XOR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서로 다르면 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^ 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0000 0110 (0x06)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반전 (Toggle)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~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비트 NOT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0 ↔ 1 반전 (단항)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~a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1111 0011 (0xF3)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마스크: ~(1 &lt;&lt; n)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404" name="라벨 비트 진리표"/>
          <p:cNvSpPr txBox="1"/>
          <p:nvPr/>
        </p:nvSpPr>
        <p:spPr>
          <a:xfrm>
            <a:off x="7635240" y="1700784"/>
            <a:ext cx="31546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비트 진리표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Truth Table</a:t>
            </a:r>
          </a:p>
        </p:txBody>
      </p:sp>
      <p:graphicFrame>
        <p:nvGraphicFramePr>
          <p:cNvPr id="405" name="표 진리표"/>
          <p:cNvGraphicFramePr>
            <a:graphicFrameLocks noGrp="1"/>
          </p:cNvGraphicFramePr>
          <p:nvPr/>
        </p:nvGraphicFramePr>
        <p:xfrm>
          <a:off x="7635240" y="2029968"/>
          <a:ext cx="3154680" cy="1600000"/>
        </p:xfrm>
        <a:graphic>
          <a:graphicData uri="http://schemas.openxmlformats.org/drawingml/2006/table">
            <a:tbl>
              <a:tblPr firstRow="1"/>
              <a:tblGrid>
                <a:gridCol w="525780"/>
                <a:gridCol w="525780"/>
                <a:gridCol w="525780"/>
                <a:gridCol w="525780"/>
                <a:gridCol w="525780"/>
                <a:gridCol w="52578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A&amp;B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A|B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A^B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~A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406" name="라벨 비트 이동(시프트) 연산자"/>
          <p:cNvSpPr txBox="1"/>
          <p:nvPr/>
        </p:nvSpPr>
        <p:spPr>
          <a:xfrm>
            <a:off x="438912" y="3794760"/>
            <a:ext cx="694944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비트 이동(시프트) 연산자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a = 0000 1100 (0x0C)</a:t>
            </a:r>
          </a:p>
        </p:txBody>
      </p:sp>
      <p:graphicFrame>
        <p:nvGraphicFramePr>
          <p:cNvPr id="407" name="표 비트 이동 연산자"/>
          <p:cNvGraphicFramePr>
            <a:graphicFrameLocks noGrp="1"/>
          </p:cNvGraphicFramePr>
          <p:nvPr/>
        </p:nvGraphicFramePr>
        <p:xfrm>
          <a:off x="438912" y="4123944"/>
          <a:ext cx="6949440" cy="960000"/>
        </p:xfrm>
        <a:graphic>
          <a:graphicData uri="http://schemas.openxmlformats.org/drawingml/2006/table">
            <a:tbl>
              <a:tblPr firstRow="1"/>
              <a:tblGrid>
                <a:gridCol w="594360"/>
                <a:gridCol w="1005840"/>
                <a:gridCol w="1783080"/>
                <a:gridCol w="731520"/>
                <a:gridCol w="1463040"/>
                <a:gridCol w="1371600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연산자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동작 규칙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주요 용도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&lt;&lt;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왼쪽 시프트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n칸 왼쪽 이동, 빈칸 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&lt;&lt; 1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0001 1000 (0x18)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×2ⁿ,  1 &lt;&lt; n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&gt;&gt;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오른쪽 시프트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n칸 오른쪽 이동, 빈칸 0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a &gt;&gt; 2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0000 0011 (0x03)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solidFill>
                            <a:srgbClr val="262626"/>
                          </a:solidFill>
                        </a:rPr>
                        <a:t>÷2ⁿ,  비트 추출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408" name="참고"/>
          <p:cNvSpPr txBox="1"/>
          <p:nvPr/>
        </p:nvSpPr>
        <p:spPr>
          <a:xfrm>
            <a:off x="438912" y="544068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레지스터 조작은 unsigned(uint8_t, uint32_t) 사용 — signed 음수의 &gt;&gt; 는 결과가 컴파일러마다 다름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비트 연산자(&amp;, |)와 논리 연산자(&amp;&amp;, ||)는 다릅니다: 비트 단위 계산 vs 참/거짓 판단</a:t>
            </a:r>
          </a:p>
        </p:txBody>
      </p:sp>
      <p:sp>
        <p:nvSpPr>
          <p:cNvPr id="409" name="라벨 시프트 동작"/>
          <p:cNvSpPr txBox="1"/>
          <p:nvPr/>
        </p:nvSpPr>
        <p:spPr>
          <a:xfrm>
            <a:off x="7635240" y="3794760"/>
            <a:ext cx="31546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시프트 동작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a &lt;&lt; 1</a:t>
            </a:r>
          </a:p>
        </p:txBody>
      </p:sp>
      <p:sp>
        <p:nvSpPr>
          <p:cNvPr id="410" name="텍스트 410"/>
          <p:cNvSpPr txBox="1"/>
          <p:nvPr/>
        </p:nvSpPr>
        <p:spPr>
          <a:xfrm>
            <a:off x="7635240" y="4114800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a</a:t>
            </a:r>
          </a:p>
        </p:txBody>
      </p:sp>
      <p:sp>
        <p:nvSpPr>
          <p:cNvPr id="411" name="칸 0"/>
          <p:cNvSpPr/>
          <p:nvPr/>
        </p:nvSpPr>
        <p:spPr>
          <a:xfrm>
            <a:off x="7891272" y="4407408"/>
            <a:ext cx="329184" cy="310896"/>
          </a:xfrm>
          <a:prstGeom prst="rect">
            <a:avLst/>
          </a:prstGeom>
          <a:solidFill>
            <a:srgbClr val="FDEBD9"/>
          </a:solidFill>
          <a:ln w="12700">
            <a:solidFill>
              <a:srgbClr val="D35400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D35400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12" name="칸 0"/>
          <p:cNvSpPr/>
          <p:nvPr/>
        </p:nvSpPr>
        <p:spPr>
          <a:xfrm>
            <a:off x="7891272" y="504748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13" name="칸 0"/>
          <p:cNvSpPr/>
          <p:nvPr/>
        </p:nvSpPr>
        <p:spPr>
          <a:xfrm>
            <a:off x="8220456" y="440740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14" name="칸 0"/>
          <p:cNvSpPr/>
          <p:nvPr/>
        </p:nvSpPr>
        <p:spPr>
          <a:xfrm>
            <a:off x="8220456" y="504748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cxnSp>
        <p:nvCxnSpPr>
          <p:cNvPr id="415" name="연결선 415"/>
          <p:cNvCxnSpPr/>
          <p:nvPr/>
        </p:nvCxnSpPr>
        <p:spPr>
          <a:xfrm flipH="1">
            <a:off x="8055864" y="4736592"/>
            <a:ext cx="329184" cy="29260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16" name="칸 0"/>
          <p:cNvSpPr/>
          <p:nvPr/>
        </p:nvSpPr>
        <p:spPr>
          <a:xfrm>
            <a:off x="8549640" y="440740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17" name="칸 0"/>
          <p:cNvSpPr/>
          <p:nvPr/>
        </p:nvSpPr>
        <p:spPr>
          <a:xfrm>
            <a:off x="8549640" y="504748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cxnSp>
        <p:nvCxnSpPr>
          <p:cNvPr id="418" name="연결선 418"/>
          <p:cNvCxnSpPr/>
          <p:nvPr/>
        </p:nvCxnSpPr>
        <p:spPr>
          <a:xfrm flipH="1">
            <a:off x="8385048" y="4736592"/>
            <a:ext cx="329184" cy="29260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19" name="칸 0"/>
          <p:cNvSpPr/>
          <p:nvPr/>
        </p:nvSpPr>
        <p:spPr>
          <a:xfrm>
            <a:off x="8878824" y="440740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20" name="칸 1"/>
          <p:cNvSpPr/>
          <p:nvPr/>
        </p:nvSpPr>
        <p:spPr>
          <a:xfrm>
            <a:off x="8878824" y="5047488"/>
            <a:ext cx="329184" cy="310896"/>
          </a:xfrm>
          <a:prstGeom prst="rect">
            <a:avLst/>
          </a:prstGeom>
          <a:solidFill>
            <a:srgbClr val="147BD1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cxnSp>
        <p:nvCxnSpPr>
          <p:cNvPr id="421" name="연결선 421"/>
          <p:cNvCxnSpPr/>
          <p:nvPr/>
        </p:nvCxnSpPr>
        <p:spPr>
          <a:xfrm flipH="1">
            <a:off x="8714232" y="4736592"/>
            <a:ext cx="329184" cy="29260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22" name="칸 1"/>
          <p:cNvSpPr/>
          <p:nvPr/>
        </p:nvSpPr>
        <p:spPr>
          <a:xfrm>
            <a:off x="9208008" y="4407408"/>
            <a:ext cx="329184" cy="310896"/>
          </a:xfrm>
          <a:prstGeom prst="rect">
            <a:avLst/>
          </a:prstGeom>
          <a:solidFill>
            <a:srgbClr val="147BD1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23" name="칸 1"/>
          <p:cNvSpPr/>
          <p:nvPr/>
        </p:nvSpPr>
        <p:spPr>
          <a:xfrm>
            <a:off x="9208008" y="5047488"/>
            <a:ext cx="329184" cy="310896"/>
          </a:xfrm>
          <a:prstGeom prst="rect">
            <a:avLst/>
          </a:prstGeom>
          <a:solidFill>
            <a:srgbClr val="147BD1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cxnSp>
        <p:nvCxnSpPr>
          <p:cNvPr id="424" name="연결선 424"/>
          <p:cNvCxnSpPr/>
          <p:nvPr/>
        </p:nvCxnSpPr>
        <p:spPr>
          <a:xfrm flipH="1">
            <a:off x="9043416" y="4736592"/>
            <a:ext cx="329184" cy="29260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25" name="칸 1"/>
          <p:cNvSpPr/>
          <p:nvPr/>
        </p:nvSpPr>
        <p:spPr>
          <a:xfrm>
            <a:off x="9537192" y="4407408"/>
            <a:ext cx="329184" cy="310896"/>
          </a:xfrm>
          <a:prstGeom prst="rect">
            <a:avLst/>
          </a:prstGeom>
          <a:solidFill>
            <a:srgbClr val="147BD1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26" name="칸 0"/>
          <p:cNvSpPr/>
          <p:nvPr/>
        </p:nvSpPr>
        <p:spPr>
          <a:xfrm>
            <a:off x="9537192" y="504748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cxnSp>
        <p:nvCxnSpPr>
          <p:cNvPr id="427" name="연결선 427"/>
          <p:cNvCxnSpPr/>
          <p:nvPr/>
        </p:nvCxnSpPr>
        <p:spPr>
          <a:xfrm flipH="1">
            <a:off x="9372600" y="4736592"/>
            <a:ext cx="329184" cy="29260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28" name="칸 0"/>
          <p:cNvSpPr/>
          <p:nvPr/>
        </p:nvSpPr>
        <p:spPr>
          <a:xfrm>
            <a:off x="9866376" y="440740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29" name="칸 0"/>
          <p:cNvSpPr/>
          <p:nvPr/>
        </p:nvSpPr>
        <p:spPr>
          <a:xfrm>
            <a:off x="9866376" y="504748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cxnSp>
        <p:nvCxnSpPr>
          <p:cNvPr id="430" name="연결선 430"/>
          <p:cNvCxnSpPr/>
          <p:nvPr/>
        </p:nvCxnSpPr>
        <p:spPr>
          <a:xfrm flipH="1">
            <a:off x="9701784" y="4736592"/>
            <a:ext cx="329184" cy="29260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31" name="칸 0"/>
          <p:cNvSpPr/>
          <p:nvPr/>
        </p:nvSpPr>
        <p:spPr>
          <a:xfrm>
            <a:off x="10195560" y="4407408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32" name="칸 0"/>
          <p:cNvSpPr/>
          <p:nvPr/>
        </p:nvSpPr>
        <p:spPr>
          <a:xfrm>
            <a:off x="10195560" y="5047488"/>
            <a:ext cx="329184" cy="310896"/>
          </a:xfrm>
          <a:prstGeom prst="rect">
            <a:avLst/>
          </a:prstGeom>
          <a:solidFill>
            <a:srgbClr val="FDEBD9"/>
          </a:solidFill>
          <a:ln w="12700">
            <a:solidFill>
              <a:srgbClr val="D35400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D35400"/>
                </a:solidFill>
                <a:latin typeface="Consolas"/>
                <a:cs typeface="Consolas"/>
              </a:rPr>
              <a:t>0</a:t>
            </a:r>
          </a:p>
        </p:txBody>
      </p:sp>
      <p:cxnSp>
        <p:nvCxnSpPr>
          <p:cNvPr id="433" name="연결선 433"/>
          <p:cNvCxnSpPr/>
          <p:nvPr/>
        </p:nvCxnSpPr>
        <p:spPr>
          <a:xfrm flipH="1">
            <a:off x="10030968" y="4736592"/>
            <a:ext cx="329184" cy="292608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34" name="텍스트 434"/>
          <p:cNvSpPr txBox="1"/>
          <p:nvPr/>
        </p:nvSpPr>
        <p:spPr>
          <a:xfrm>
            <a:off x="7845552" y="4187952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D35400"/>
                </a:solidFill>
              </a:rPr>
              <a:t>버려짐 ✕</a:t>
            </a:r>
          </a:p>
        </p:txBody>
      </p:sp>
      <p:sp>
        <p:nvSpPr>
          <p:cNvPr id="435" name="텍스트 435"/>
          <p:cNvSpPr txBox="1"/>
          <p:nvPr/>
        </p:nvSpPr>
        <p:spPr>
          <a:xfrm>
            <a:off x="9692640" y="5394960"/>
            <a:ext cx="86868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900" b="1" dirty="0">
                <a:solidFill>
                  <a:srgbClr val="D35400"/>
                </a:solidFill>
              </a:rPr>
              <a:t>0 채움</a:t>
            </a:r>
          </a:p>
        </p:txBody>
      </p:sp>
      <p:sp>
        <p:nvSpPr>
          <p:cNvPr id="436" name="텍스트 436"/>
          <p:cNvSpPr txBox="1"/>
          <p:nvPr/>
        </p:nvSpPr>
        <p:spPr>
          <a:xfrm>
            <a:off x="7635240" y="5623560"/>
            <a:ext cx="315468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rgbClr val="147BD1"/>
                </a:solidFill>
              </a:rPr>
              <a:t>0x0C (12)  &lt;&lt;  1   =   0x18 (24)   → 값이 2배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7. Bit Manipulation (1)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85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다른 비트는 그대로 두고 n번 비트만 바꾸려면, 먼저 마스크(Mask) = (1 &lt;&lt; n)을 만든 뒤 비트 연산을 합니다.   예) n = 3</a:t>
            </a:r>
          </a:p>
        </p:txBody>
      </p:sp>
      <p:sp>
        <p:nvSpPr>
          <p:cNvPr id="401" name="라벨 ① 비트 세트"/>
          <p:cNvSpPr txBox="1"/>
          <p:nvPr/>
        </p:nvSpPr>
        <p:spPr>
          <a:xfrm>
            <a:off x="438912" y="1700784"/>
            <a:ext cx="493776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① 비트 세트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Set: n번 비트를 1로 만들기</a:t>
            </a:r>
          </a:p>
        </p:txBody>
      </p:sp>
      <p:sp>
        <p:nvSpPr>
          <p:cNvPr id="402" name="코드 비트 세트"/>
          <p:cNvSpPr/>
          <p:nvPr/>
        </p:nvSpPr>
        <p:spPr>
          <a:xfrm>
            <a:off x="438912" y="2057400"/>
            <a:ext cx="4937760" cy="38404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REG |= (1 &lt;&lt; 3);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3번 비트 = 1</a:t>
            </a:r>
          </a:p>
        </p:txBody>
      </p:sp>
      <p:sp>
        <p:nvSpPr>
          <p:cNvPr id="403" name="강조 열"/>
          <p:cNvSpPr/>
          <p:nvPr/>
        </p:nvSpPr>
        <p:spPr>
          <a:xfrm>
            <a:off x="3172968" y="2724912"/>
            <a:ext cx="457200" cy="1664208"/>
          </a:xfrm>
          <a:prstGeom prst="rect">
            <a:avLst/>
          </a:prstGeom>
          <a:solidFill>
            <a:srgbClr val="FDEBD9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262626"/>
                </a:solidFill>
              </a:rPr>
              <a:t/>
            </a:r>
          </a:p>
        </p:txBody>
      </p:sp>
      <p:sp>
        <p:nvSpPr>
          <p:cNvPr id="404" name="텍스트 404"/>
          <p:cNvSpPr txBox="1"/>
          <p:nvPr/>
        </p:nvSpPr>
        <p:spPr>
          <a:xfrm>
            <a:off x="1673352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405" name="텍스트 405"/>
          <p:cNvSpPr txBox="1"/>
          <p:nvPr/>
        </p:nvSpPr>
        <p:spPr>
          <a:xfrm>
            <a:off x="2057400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406" name="텍스트 406"/>
          <p:cNvSpPr txBox="1"/>
          <p:nvPr/>
        </p:nvSpPr>
        <p:spPr>
          <a:xfrm>
            <a:off x="2441448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407" name="텍스트 407"/>
          <p:cNvSpPr txBox="1"/>
          <p:nvPr/>
        </p:nvSpPr>
        <p:spPr>
          <a:xfrm>
            <a:off x="2825496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408" name="텍스트 408"/>
          <p:cNvSpPr txBox="1"/>
          <p:nvPr/>
        </p:nvSpPr>
        <p:spPr>
          <a:xfrm>
            <a:off x="3209544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D35400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409" name="텍스트 409"/>
          <p:cNvSpPr txBox="1"/>
          <p:nvPr/>
        </p:nvSpPr>
        <p:spPr>
          <a:xfrm>
            <a:off x="3593592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410" name="텍스트 410"/>
          <p:cNvSpPr txBox="1"/>
          <p:nvPr/>
        </p:nvSpPr>
        <p:spPr>
          <a:xfrm>
            <a:off x="3977640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11" name="텍스트 411"/>
          <p:cNvSpPr txBox="1"/>
          <p:nvPr/>
        </p:nvSpPr>
        <p:spPr>
          <a:xfrm>
            <a:off x="4361688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12" name="텍스트 412"/>
          <p:cNvSpPr txBox="1"/>
          <p:nvPr/>
        </p:nvSpPr>
        <p:spPr>
          <a:xfrm>
            <a:off x="438912" y="2743200"/>
            <a:ext cx="12344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dirty="0">
                <a:solidFill>
                  <a:srgbClr val="7F8C99"/>
                </a:solidFill>
              </a:rPr>
              <a:t>비트 번호</a:t>
            </a:r>
          </a:p>
        </p:txBody>
      </p:sp>
      <p:sp>
        <p:nvSpPr>
          <p:cNvPr id="413" name="칸 1"/>
          <p:cNvSpPr/>
          <p:nvPr/>
        </p:nvSpPr>
        <p:spPr>
          <a:xfrm>
            <a:off x="1673352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14" name="칸 0"/>
          <p:cNvSpPr/>
          <p:nvPr/>
        </p:nvSpPr>
        <p:spPr>
          <a:xfrm>
            <a:off x="2057400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15" name="칸 1"/>
          <p:cNvSpPr/>
          <p:nvPr/>
        </p:nvSpPr>
        <p:spPr>
          <a:xfrm>
            <a:off x="2441448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16" name="칸 0"/>
          <p:cNvSpPr/>
          <p:nvPr/>
        </p:nvSpPr>
        <p:spPr>
          <a:xfrm>
            <a:off x="2825496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17" name="칸 0"/>
          <p:cNvSpPr/>
          <p:nvPr/>
        </p:nvSpPr>
        <p:spPr>
          <a:xfrm>
            <a:off x="3209544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18" name="칸 1"/>
          <p:cNvSpPr/>
          <p:nvPr/>
        </p:nvSpPr>
        <p:spPr>
          <a:xfrm>
            <a:off x="3593592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19" name="칸 0"/>
          <p:cNvSpPr/>
          <p:nvPr/>
        </p:nvSpPr>
        <p:spPr>
          <a:xfrm>
            <a:off x="3977640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20" name="칸 1"/>
          <p:cNvSpPr/>
          <p:nvPr/>
        </p:nvSpPr>
        <p:spPr>
          <a:xfrm>
            <a:off x="4361688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21" name="텍스트 421"/>
          <p:cNvSpPr txBox="1"/>
          <p:nvPr/>
        </p:nvSpPr>
        <p:spPr>
          <a:xfrm>
            <a:off x="438912" y="2999232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262626"/>
                </a:solidFill>
                <a:latin typeface="Consolas"/>
                <a:cs typeface="Consolas"/>
              </a:rPr>
              <a:t>REG  0xA5</a:t>
            </a:r>
          </a:p>
        </p:txBody>
      </p:sp>
      <p:sp>
        <p:nvSpPr>
          <p:cNvPr id="422" name="칸 0"/>
          <p:cNvSpPr/>
          <p:nvPr/>
        </p:nvSpPr>
        <p:spPr>
          <a:xfrm>
            <a:off x="1673352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23" name="칸 0"/>
          <p:cNvSpPr/>
          <p:nvPr/>
        </p:nvSpPr>
        <p:spPr>
          <a:xfrm>
            <a:off x="2057400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24" name="칸 0"/>
          <p:cNvSpPr/>
          <p:nvPr/>
        </p:nvSpPr>
        <p:spPr>
          <a:xfrm>
            <a:off x="2441448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25" name="칸 0"/>
          <p:cNvSpPr/>
          <p:nvPr/>
        </p:nvSpPr>
        <p:spPr>
          <a:xfrm>
            <a:off x="2825496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26" name="칸 1"/>
          <p:cNvSpPr/>
          <p:nvPr/>
        </p:nvSpPr>
        <p:spPr>
          <a:xfrm>
            <a:off x="3209544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27" name="칸 0"/>
          <p:cNvSpPr/>
          <p:nvPr/>
        </p:nvSpPr>
        <p:spPr>
          <a:xfrm>
            <a:off x="3593592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28" name="칸 0"/>
          <p:cNvSpPr/>
          <p:nvPr/>
        </p:nvSpPr>
        <p:spPr>
          <a:xfrm>
            <a:off x="3977640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29" name="칸 0"/>
          <p:cNvSpPr/>
          <p:nvPr/>
        </p:nvSpPr>
        <p:spPr>
          <a:xfrm>
            <a:off x="4361688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30" name="텍스트 430"/>
          <p:cNvSpPr txBox="1"/>
          <p:nvPr/>
        </p:nvSpPr>
        <p:spPr>
          <a:xfrm>
            <a:off x="438912" y="3438144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|  1 &lt;&lt; 3</a:t>
            </a:r>
          </a:p>
        </p:txBody>
      </p:sp>
      <p:cxnSp>
        <p:nvCxnSpPr>
          <p:cNvPr id="431" name="연결선 431"/>
          <p:cNvCxnSpPr/>
          <p:nvPr/>
        </p:nvCxnSpPr>
        <p:spPr>
          <a:xfrm>
            <a:off x="484632" y="3904488"/>
            <a:ext cx="4261104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sp>
        <p:nvSpPr>
          <p:cNvPr id="432" name="칸 1"/>
          <p:cNvSpPr/>
          <p:nvPr/>
        </p:nvSpPr>
        <p:spPr>
          <a:xfrm>
            <a:off x="1673352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33" name="칸 0"/>
          <p:cNvSpPr/>
          <p:nvPr/>
        </p:nvSpPr>
        <p:spPr>
          <a:xfrm>
            <a:off x="2057400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34" name="칸 1"/>
          <p:cNvSpPr/>
          <p:nvPr/>
        </p:nvSpPr>
        <p:spPr>
          <a:xfrm>
            <a:off x="2441448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35" name="칸 0"/>
          <p:cNvSpPr/>
          <p:nvPr/>
        </p:nvSpPr>
        <p:spPr>
          <a:xfrm>
            <a:off x="2825496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36" name="칸 1"/>
          <p:cNvSpPr/>
          <p:nvPr/>
        </p:nvSpPr>
        <p:spPr>
          <a:xfrm>
            <a:off x="3209544" y="3968496"/>
            <a:ext cx="384048" cy="365760"/>
          </a:xfrm>
          <a:prstGeom prst="rect">
            <a:avLst/>
          </a:prstGeom>
          <a:solidFill>
            <a:srgbClr val="D35400"/>
          </a:solidFill>
          <a:ln w="19050">
            <a:solidFill>
              <a:srgbClr val="D35400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37" name="칸 1"/>
          <p:cNvSpPr/>
          <p:nvPr/>
        </p:nvSpPr>
        <p:spPr>
          <a:xfrm>
            <a:off x="3593592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38" name="칸 0"/>
          <p:cNvSpPr/>
          <p:nvPr/>
        </p:nvSpPr>
        <p:spPr>
          <a:xfrm>
            <a:off x="3977640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39" name="칸 1"/>
          <p:cNvSpPr/>
          <p:nvPr/>
        </p:nvSpPr>
        <p:spPr>
          <a:xfrm>
            <a:off x="4361688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40" name="텍스트 440"/>
          <p:cNvSpPr txBox="1"/>
          <p:nvPr/>
        </p:nvSpPr>
        <p:spPr>
          <a:xfrm>
            <a:off x="438912" y="3968496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D35400"/>
                </a:solidFill>
                <a:latin typeface="Consolas"/>
                <a:cs typeface="Consolas"/>
              </a:rPr>
              <a:t>=  0xAD</a:t>
            </a:r>
          </a:p>
        </p:txBody>
      </p:sp>
      <p:sp>
        <p:nvSpPr>
          <p:cNvPr id="441" name="텍스트 441"/>
          <p:cNvSpPr txBox="1"/>
          <p:nvPr/>
        </p:nvSpPr>
        <p:spPr>
          <a:xfrm>
            <a:off x="1673352" y="4425696"/>
            <a:ext cx="3072384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D35400"/>
                </a:solidFill>
              </a:rPr>
              <a:t>3번 비트만 0 → 1,  나머지는 그대로</a:t>
            </a:r>
          </a:p>
        </p:txBody>
      </p:sp>
      <p:sp>
        <p:nvSpPr>
          <p:cNvPr id="442" name="참고"/>
          <p:cNvSpPr txBox="1"/>
          <p:nvPr/>
        </p:nvSpPr>
        <p:spPr>
          <a:xfrm>
            <a:off x="438912" y="4791456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OR 규칙:  x | 1 = 1 (무조건 켜짐),   x | 0 = x (그대로)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마스크가 1인 자리만 켜지고 0인 자리는 변하지 않습니다.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예) GPIOA-&gt;ODR |= (1 &lt;&lt; 5);   // PA5 핀 HIGH</a:t>
            </a:r>
          </a:p>
        </p:txBody>
      </p:sp>
      <p:sp>
        <p:nvSpPr>
          <p:cNvPr id="443" name="라벨 ② 비트 클리어"/>
          <p:cNvSpPr txBox="1"/>
          <p:nvPr/>
        </p:nvSpPr>
        <p:spPr>
          <a:xfrm>
            <a:off x="5852160" y="1700784"/>
            <a:ext cx="493776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② 비트 클리어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Clear: n번 비트를 0으로 만들기</a:t>
            </a:r>
          </a:p>
        </p:txBody>
      </p:sp>
      <p:sp>
        <p:nvSpPr>
          <p:cNvPr id="444" name="코드 비트 클리어"/>
          <p:cNvSpPr/>
          <p:nvPr/>
        </p:nvSpPr>
        <p:spPr>
          <a:xfrm>
            <a:off x="5852160" y="2057400"/>
            <a:ext cx="4937760" cy="38404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REG &amp;= ~(1 &lt;&lt; 3);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3번 비트 = 0</a:t>
            </a:r>
          </a:p>
        </p:txBody>
      </p:sp>
      <p:sp>
        <p:nvSpPr>
          <p:cNvPr id="445" name="강조 열"/>
          <p:cNvSpPr/>
          <p:nvPr/>
        </p:nvSpPr>
        <p:spPr>
          <a:xfrm>
            <a:off x="8586216" y="2724912"/>
            <a:ext cx="457200" cy="1664208"/>
          </a:xfrm>
          <a:prstGeom prst="rect">
            <a:avLst/>
          </a:prstGeom>
          <a:solidFill>
            <a:srgbClr val="FDEBD9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262626"/>
                </a:solidFill>
              </a:rPr>
              <a:t/>
            </a:r>
          </a:p>
        </p:txBody>
      </p:sp>
      <p:sp>
        <p:nvSpPr>
          <p:cNvPr id="446" name="텍스트 446"/>
          <p:cNvSpPr txBox="1"/>
          <p:nvPr/>
        </p:nvSpPr>
        <p:spPr>
          <a:xfrm>
            <a:off x="7086600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447" name="텍스트 447"/>
          <p:cNvSpPr txBox="1"/>
          <p:nvPr/>
        </p:nvSpPr>
        <p:spPr>
          <a:xfrm>
            <a:off x="7470648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448" name="텍스트 448"/>
          <p:cNvSpPr txBox="1"/>
          <p:nvPr/>
        </p:nvSpPr>
        <p:spPr>
          <a:xfrm>
            <a:off x="7854696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449" name="텍스트 449"/>
          <p:cNvSpPr txBox="1"/>
          <p:nvPr/>
        </p:nvSpPr>
        <p:spPr>
          <a:xfrm>
            <a:off x="8238744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450" name="텍스트 450"/>
          <p:cNvSpPr txBox="1"/>
          <p:nvPr/>
        </p:nvSpPr>
        <p:spPr>
          <a:xfrm>
            <a:off x="8622792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D35400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451" name="텍스트 451"/>
          <p:cNvSpPr txBox="1"/>
          <p:nvPr/>
        </p:nvSpPr>
        <p:spPr>
          <a:xfrm>
            <a:off x="9006840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452" name="텍스트 452"/>
          <p:cNvSpPr txBox="1"/>
          <p:nvPr/>
        </p:nvSpPr>
        <p:spPr>
          <a:xfrm>
            <a:off x="9390888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53" name="텍스트 453"/>
          <p:cNvSpPr txBox="1"/>
          <p:nvPr/>
        </p:nvSpPr>
        <p:spPr>
          <a:xfrm>
            <a:off x="9774936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54" name="텍스트 454"/>
          <p:cNvSpPr txBox="1"/>
          <p:nvPr/>
        </p:nvSpPr>
        <p:spPr>
          <a:xfrm>
            <a:off x="5852160" y="2743200"/>
            <a:ext cx="12344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dirty="0">
                <a:solidFill>
                  <a:srgbClr val="7F8C99"/>
                </a:solidFill>
              </a:rPr>
              <a:t>비트 번호</a:t>
            </a:r>
          </a:p>
        </p:txBody>
      </p:sp>
      <p:sp>
        <p:nvSpPr>
          <p:cNvPr id="455" name="칸 1"/>
          <p:cNvSpPr/>
          <p:nvPr/>
        </p:nvSpPr>
        <p:spPr>
          <a:xfrm>
            <a:off x="7086600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56" name="칸 0"/>
          <p:cNvSpPr/>
          <p:nvPr/>
        </p:nvSpPr>
        <p:spPr>
          <a:xfrm>
            <a:off x="7470648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57" name="칸 1"/>
          <p:cNvSpPr/>
          <p:nvPr/>
        </p:nvSpPr>
        <p:spPr>
          <a:xfrm>
            <a:off x="7854696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58" name="칸 0"/>
          <p:cNvSpPr/>
          <p:nvPr/>
        </p:nvSpPr>
        <p:spPr>
          <a:xfrm>
            <a:off x="8238744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59" name="칸 1"/>
          <p:cNvSpPr/>
          <p:nvPr/>
        </p:nvSpPr>
        <p:spPr>
          <a:xfrm>
            <a:off x="8622792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60" name="칸 1"/>
          <p:cNvSpPr/>
          <p:nvPr/>
        </p:nvSpPr>
        <p:spPr>
          <a:xfrm>
            <a:off x="9006840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61" name="칸 0"/>
          <p:cNvSpPr/>
          <p:nvPr/>
        </p:nvSpPr>
        <p:spPr>
          <a:xfrm>
            <a:off x="9390888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62" name="칸 1"/>
          <p:cNvSpPr/>
          <p:nvPr/>
        </p:nvSpPr>
        <p:spPr>
          <a:xfrm>
            <a:off x="9774936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63" name="텍스트 463"/>
          <p:cNvSpPr txBox="1"/>
          <p:nvPr/>
        </p:nvSpPr>
        <p:spPr>
          <a:xfrm>
            <a:off x="5852160" y="2999232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262626"/>
                </a:solidFill>
                <a:latin typeface="Consolas"/>
                <a:cs typeface="Consolas"/>
              </a:rPr>
              <a:t>REG  0xAD</a:t>
            </a:r>
          </a:p>
        </p:txBody>
      </p:sp>
      <p:sp>
        <p:nvSpPr>
          <p:cNvPr id="464" name="칸 1"/>
          <p:cNvSpPr/>
          <p:nvPr/>
        </p:nvSpPr>
        <p:spPr>
          <a:xfrm>
            <a:off x="7086600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65" name="칸 1"/>
          <p:cNvSpPr/>
          <p:nvPr/>
        </p:nvSpPr>
        <p:spPr>
          <a:xfrm>
            <a:off x="7470648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66" name="칸 1"/>
          <p:cNvSpPr/>
          <p:nvPr/>
        </p:nvSpPr>
        <p:spPr>
          <a:xfrm>
            <a:off x="7854696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67" name="칸 1"/>
          <p:cNvSpPr/>
          <p:nvPr/>
        </p:nvSpPr>
        <p:spPr>
          <a:xfrm>
            <a:off x="8238744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68" name="칸 0"/>
          <p:cNvSpPr/>
          <p:nvPr/>
        </p:nvSpPr>
        <p:spPr>
          <a:xfrm>
            <a:off x="8622792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69" name="칸 1"/>
          <p:cNvSpPr/>
          <p:nvPr/>
        </p:nvSpPr>
        <p:spPr>
          <a:xfrm>
            <a:off x="9006840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70" name="칸 1"/>
          <p:cNvSpPr/>
          <p:nvPr/>
        </p:nvSpPr>
        <p:spPr>
          <a:xfrm>
            <a:off x="9390888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71" name="칸 1"/>
          <p:cNvSpPr/>
          <p:nvPr/>
        </p:nvSpPr>
        <p:spPr>
          <a:xfrm>
            <a:off x="9774936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72" name="텍스트 472"/>
          <p:cNvSpPr txBox="1"/>
          <p:nvPr/>
        </p:nvSpPr>
        <p:spPr>
          <a:xfrm>
            <a:off x="5852160" y="3438144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&amp;  ~(1 &lt;&lt; 3)</a:t>
            </a:r>
          </a:p>
        </p:txBody>
      </p:sp>
      <p:cxnSp>
        <p:nvCxnSpPr>
          <p:cNvPr id="473" name="연결선 473"/>
          <p:cNvCxnSpPr/>
          <p:nvPr/>
        </p:nvCxnSpPr>
        <p:spPr>
          <a:xfrm>
            <a:off x="5897880" y="3904488"/>
            <a:ext cx="4261104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sp>
        <p:nvSpPr>
          <p:cNvPr id="474" name="칸 1"/>
          <p:cNvSpPr/>
          <p:nvPr/>
        </p:nvSpPr>
        <p:spPr>
          <a:xfrm>
            <a:off x="7086600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75" name="칸 0"/>
          <p:cNvSpPr/>
          <p:nvPr/>
        </p:nvSpPr>
        <p:spPr>
          <a:xfrm>
            <a:off x="7470648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76" name="칸 1"/>
          <p:cNvSpPr/>
          <p:nvPr/>
        </p:nvSpPr>
        <p:spPr>
          <a:xfrm>
            <a:off x="7854696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77" name="칸 0"/>
          <p:cNvSpPr/>
          <p:nvPr/>
        </p:nvSpPr>
        <p:spPr>
          <a:xfrm>
            <a:off x="8238744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78" name="칸 0"/>
          <p:cNvSpPr/>
          <p:nvPr/>
        </p:nvSpPr>
        <p:spPr>
          <a:xfrm>
            <a:off x="8622792" y="3968496"/>
            <a:ext cx="384048" cy="365760"/>
          </a:xfrm>
          <a:prstGeom prst="rect">
            <a:avLst/>
          </a:prstGeom>
          <a:solidFill>
            <a:srgbClr val="D35400"/>
          </a:solidFill>
          <a:ln w="19050">
            <a:solidFill>
              <a:srgbClr val="D35400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79" name="칸 1"/>
          <p:cNvSpPr/>
          <p:nvPr/>
        </p:nvSpPr>
        <p:spPr>
          <a:xfrm>
            <a:off x="9006840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80" name="칸 0"/>
          <p:cNvSpPr/>
          <p:nvPr/>
        </p:nvSpPr>
        <p:spPr>
          <a:xfrm>
            <a:off x="9390888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81" name="칸 1"/>
          <p:cNvSpPr/>
          <p:nvPr/>
        </p:nvSpPr>
        <p:spPr>
          <a:xfrm>
            <a:off x="9774936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82" name="텍스트 482"/>
          <p:cNvSpPr txBox="1"/>
          <p:nvPr/>
        </p:nvSpPr>
        <p:spPr>
          <a:xfrm>
            <a:off x="5852160" y="3968496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D35400"/>
                </a:solidFill>
                <a:latin typeface="Consolas"/>
                <a:cs typeface="Consolas"/>
              </a:rPr>
              <a:t>=  0xA5</a:t>
            </a:r>
          </a:p>
        </p:txBody>
      </p:sp>
      <p:sp>
        <p:nvSpPr>
          <p:cNvPr id="483" name="텍스트 483"/>
          <p:cNvSpPr txBox="1"/>
          <p:nvPr/>
        </p:nvSpPr>
        <p:spPr>
          <a:xfrm>
            <a:off x="7086600" y="4425696"/>
            <a:ext cx="3072384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D35400"/>
                </a:solidFill>
              </a:rPr>
              <a:t>3번 비트만 1 → 0,  나머지는 그대로</a:t>
            </a:r>
          </a:p>
        </p:txBody>
      </p:sp>
      <p:sp>
        <p:nvSpPr>
          <p:cNvPr id="484" name="참고"/>
          <p:cNvSpPr txBox="1"/>
          <p:nvPr/>
        </p:nvSpPr>
        <p:spPr>
          <a:xfrm>
            <a:off x="5852160" y="4791456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마스크 만들기:  1 &lt;&lt; 3 = 0000 1000  →  ~  →  1111 0111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AND 규칙:  x &amp; 0 = 0 (무조건 꺼짐),   x &amp; 1 = x (그대로)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~ 를 빼먹으면 3번 비트만 남고 나머지가 모두 0이 되니 주의!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7. Bit Manipulation (2)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70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앞 장에 이어서: 비트 반전(Toggle)과 비트 검사(Read). 원리는 같습니다 — 마스크 (1 &lt;&lt; n)으로 원하는 비트만 골라냅니다.   예) n = 3</a:t>
            </a:r>
          </a:p>
        </p:txBody>
      </p:sp>
      <p:sp>
        <p:nvSpPr>
          <p:cNvPr id="486" name="라벨 ③ 비트 반전"/>
          <p:cNvSpPr txBox="1"/>
          <p:nvPr/>
        </p:nvSpPr>
        <p:spPr>
          <a:xfrm>
            <a:off x="438912" y="1700784"/>
            <a:ext cx="493776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③ 비트 반전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Toggle: n번 비트를 뒤집기</a:t>
            </a:r>
          </a:p>
        </p:txBody>
      </p:sp>
      <p:sp>
        <p:nvSpPr>
          <p:cNvPr id="487" name="코드 비트 반전"/>
          <p:cNvSpPr/>
          <p:nvPr/>
        </p:nvSpPr>
        <p:spPr>
          <a:xfrm>
            <a:off x="438912" y="2057400"/>
            <a:ext cx="4937760" cy="38404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REG ^= (1 &lt;&lt; 3);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3번 비트 반전</a:t>
            </a:r>
          </a:p>
        </p:txBody>
      </p:sp>
      <p:sp>
        <p:nvSpPr>
          <p:cNvPr id="488" name="강조 열"/>
          <p:cNvSpPr/>
          <p:nvPr/>
        </p:nvSpPr>
        <p:spPr>
          <a:xfrm>
            <a:off x="3172968" y="2724912"/>
            <a:ext cx="457200" cy="1664208"/>
          </a:xfrm>
          <a:prstGeom prst="rect">
            <a:avLst/>
          </a:prstGeom>
          <a:solidFill>
            <a:srgbClr val="FDEBD9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262626"/>
                </a:solidFill>
              </a:rPr>
              <a:t/>
            </a:r>
          </a:p>
        </p:txBody>
      </p:sp>
      <p:sp>
        <p:nvSpPr>
          <p:cNvPr id="489" name="텍스트 489"/>
          <p:cNvSpPr txBox="1"/>
          <p:nvPr/>
        </p:nvSpPr>
        <p:spPr>
          <a:xfrm>
            <a:off x="1673352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490" name="텍스트 490"/>
          <p:cNvSpPr txBox="1"/>
          <p:nvPr/>
        </p:nvSpPr>
        <p:spPr>
          <a:xfrm>
            <a:off x="2057400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491" name="텍스트 491"/>
          <p:cNvSpPr txBox="1"/>
          <p:nvPr/>
        </p:nvSpPr>
        <p:spPr>
          <a:xfrm>
            <a:off x="2441448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492" name="텍스트 492"/>
          <p:cNvSpPr txBox="1"/>
          <p:nvPr/>
        </p:nvSpPr>
        <p:spPr>
          <a:xfrm>
            <a:off x="2825496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493" name="텍스트 493"/>
          <p:cNvSpPr txBox="1"/>
          <p:nvPr/>
        </p:nvSpPr>
        <p:spPr>
          <a:xfrm>
            <a:off x="3209544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D35400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494" name="텍스트 494"/>
          <p:cNvSpPr txBox="1"/>
          <p:nvPr/>
        </p:nvSpPr>
        <p:spPr>
          <a:xfrm>
            <a:off x="3593592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495" name="텍스트 495"/>
          <p:cNvSpPr txBox="1"/>
          <p:nvPr/>
        </p:nvSpPr>
        <p:spPr>
          <a:xfrm>
            <a:off x="3977640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96" name="텍스트 496"/>
          <p:cNvSpPr txBox="1"/>
          <p:nvPr/>
        </p:nvSpPr>
        <p:spPr>
          <a:xfrm>
            <a:off x="4361688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497" name="텍스트 497"/>
          <p:cNvSpPr txBox="1"/>
          <p:nvPr/>
        </p:nvSpPr>
        <p:spPr>
          <a:xfrm>
            <a:off x="438912" y="2743200"/>
            <a:ext cx="12344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dirty="0">
                <a:solidFill>
                  <a:srgbClr val="7F8C99"/>
                </a:solidFill>
              </a:rPr>
              <a:t>비트 번호</a:t>
            </a:r>
          </a:p>
        </p:txBody>
      </p:sp>
      <p:sp>
        <p:nvSpPr>
          <p:cNvPr id="498" name="칸 1"/>
          <p:cNvSpPr/>
          <p:nvPr/>
        </p:nvSpPr>
        <p:spPr>
          <a:xfrm>
            <a:off x="1673352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499" name="칸 0"/>
          <p:cNvSpPr/>
          <p:nvPr/>
        </p:nvSpPr>
        <p:spPr>
          <a:xfrm>
            <a:off x="2057400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00" name="칸 1"/>
          <p:cNvSpPr/>
          <p:nvPr/>
        </p:nvSpPr>
        <p:spPr>
          <a:xfrm>
            <a:off x="2441448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01" name="칸 0"/>
          <p:cNvSpPr/>
          <p:nvPr/>
        </p:nvSpPr>
        <p:spPr>
          <a:xfrm>
            <a:off x="2825496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02" name="칸 0"/>
          <p:cNvSpPr/>
          <p:nvPr/>
        </p:nvSpPr>
        <p:spPr>
          <a:xfrm>
            <a:off x="3209544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03" name="칸 1"/>
          <p:cNvSpPr/>
          <p:nvPr/>
        </p:nvSpPr>
        <p:spPr>
          <a:xfrm>
            <a:off x="3593592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04" name="칸 0"/>
          <p:cNvSpPr/>
          <p:nvPr/>
        </p:nvSpPr>
        <p:spPr>
          <a:xfrm>
            <a:off x="3977640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05" name="칸 1"/>
          <p:cNvSpPr/>
          <p:nvPr/>
        </p:nvSpPr>
        <p:spPr>
          <a:xfrm>
            <a:off x="4361688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06" name="텍스트 506"/>
          <p:cNvSpPr txBox="1"/>
          <p:nvPr/>
        </p:nvSpPr>
        <p:spPr>
          <a:xfrm>
            <a:off x="438912" y="2999232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262626"/>
                </a:solidFill>
                <a:latin typeface="Consolas"/>
                <a:cs typeface="Consolas"/>
              </a:rPr>
              <a:t>REG  0xA5</a:t>
            </a:r>
          </a:p>
        </p:txBody>
      </p:sp>
      <p:sp>
        <p:nvSpPr>
          <p:cNvPr id="507" name="칸 0"/>
          <p:cNvSpPr/>
          <p:nvPr/>
        </p:nvSpPr>
        <p:spPr>
          <a:xfrm>
            <a:off x="1673352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08" name="칸 0"/>
          <p:cNvSpPr/>
          <p:nvPr/>
        </p:nvSpPr>
        <p:spPr>
          <a:xfrm>
            <a:off x="2057400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09" name="칸 0"/>
          <p:cNvSpPr/>
          <p:nvPr/>
        </p:nvSpPr>
        <p:spPr>
          <a:xfrm>
            <a:off x="2441448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10" name="칸 0"/>
          <p:cNvSpPr/>
          <p:nvPr/>
        </p:nvSpPr>
        <p:spPr>
          <a:xfrm>
            <a:off x="2825496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11" name="칸 1"/>
          <p:cNvSpPr/>
          <p:nvPr/>
        </p:nvSpPr>
        <p:spPr>
          <a:xfrm>
            <a:off x="3209544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12" name="칸 0"/>
          <p:cNvSpPr/>
          <p:nvPr/>
        </p:nvSpPr>
        <p:spPr>
          <a:xfrm>
            <a:off x="3593592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13" name="칸 0"/>
          <p:cNvSpPr/>
          <p:nvPr/>
        </p:nvSpPr>
        <p:spPr>
          <a:xfrm>
            <a:off x="3977640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14" name="칸 0"/>
          <p:cNvSpPr/>
          <p:nvPr/>
        </p:nvSpPr>
        <p:spPr>
          <a:xfrm>
            <a:off x="4361688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15" name="텍스트 515"/>
          <p:cNvSpPr txBox="1"/>
          <p:nvPr/>
        </p:nvSpPr>
        <p:spPr>
          <a:xfrm>
            <a:off x="438912" y="3438144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^  1 &lt;&lt; 3</a:t>
            </a:r>
          </a:p>
        </p:txBody>
      </p:sp>
      <p:cxnSp>
        <p:nvCxnSpPr>
          <p:cNvPr id="516" name="연결선 516"/>
          <p:cNvCxnSpPr/>
          <p:nvPr/>
        </p:nvCxnSpPr>
        <p:spPr>
          <a:xfrm>
            <a:off x="484632" y="3904488"/>
            <a:ext cx="4261104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sp>
        <p:nvSpPr>
          <p:cNvPr id="517" name="칸 1"/>
          <p:cNvSpPr/>
          <p:nvPr/>
        </p:nvSpPr>
        <p:spPr>
          <a:xfrm>
            <a:off x="1673352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18" name="칸 0"/>
          <p:cNvSpPr/>
          <p:nvPr/>
        </p:nvSpPr>
        <p:spPr>
          <a:xfrm>
            <a:off x="2057400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19" name="칸 1"/>
          <p:cNvSpPr/>
          <p:nvPr/>
        </p:nvSpPr>
        <p:spPr>
          <a:xfrm>
            <a:off x="2441448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20" name="칸 0"/>
          <p:cNvSpPr/>
          <p:nvPr/>
        </p:nvSpPr>
        <p:spPr>
          <a:xfrm>
            <a:off x="2825496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21" name="칸 1"/>
          <p:cNvSpPr/>
          <p:nvPr/>
        </p:nvSpPr>
        <p:spPr>
          <a:xfrm>
            <a:off x="3209544" y="3968496"/>
            <a:ext cx="384048" cy="365760"/>
          </a:xfrm>
          <a:prstGeom prst="rect">
            <a:avLst/>
          </a:prstGeom>
          <a:solidFill>
            <a:srgbClr val="D35400"/>
          </a:solidFill>
          <a:ln w="19050">
            <a:solidFill>
              <a:srgbClr val="D35400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22" name="칸 1"/>
          <p:cNvSpPr/>
          <p:nvPr/>
        </p:nvSpPr>
        <p:spPr>
          <a:xfrm>
            <a:off x="3593592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23" name="칸 0"/>
          <p:cNvSpPr/>
          <p:nvPr/>
        </p:nvSpPr>
        <p:spPr>
          <a:xfrm>
            <a:off x="3977640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24" name="칸 1"/>
          <p:cNvSpPr/>
          <p:nvPr/>
        </p:nvSpPr>
        <p:spPr>
          <a:xfrm>
            <a:off x="4361688" y="3968496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25" name="텍스트 525"/>
          <p:cNvSpPr txBox="1"/>
          <p:nvPr/>
        </p:nvSpPr>
        <p:spPr>
          <a:xfrm>
            <a:off x="438912" y="3968496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D35400"/>
                </a:solidFill>
                <a:latin typeface="Consolas"/>
                <a:cs typeface="Consolas"/>
              </a:rPr>
              <a:t>=  0xAD</a:t>
            </a:r>
          </a:p>
        </p:txBody>
      </p:sp>
      <p:sp>
        <p:nvSpPr>
          <p:cNvPr id="526" name="텍스트 526"/>
          <p:cNvSpPr txBox="1"/>
          <p:nvPr/>
        </p:nvSpPr>
        <p:spPr>
          <a:xfrm>
            <a:off x="1673352" y="4425696"/>
            <a:ext cx="3072384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D35400"/>
                </a:solidFill>
              </a:rPr>
              <a:t>3번 비트만 0 → 1 (1이었다면 1 → 0)</a:t>
            </a:r>
          </a:p>
        </p:txBody>
      </p:sp>
      <p:sp>
        <p:nvSpPr>
          <p:cNvPr id="527" name="참고"/>
          <p:cNvSpPr txBox="1"/>
          <p:nvPr/>
        </p:nvSpPr>
        <p:spPr>
          <a:xfrm>
            <a:off x="438912" y="4791456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XOR 규칙:  x ^ 1 = 반전,   x ^ 0 = x (그대로)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같은 코드를 한 번 더 실행하면 원래 값(0xA5)으로 돌아옵니다.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예) 주기적으로 실행하면 LED 깜빡이기 (Blink)</a:t>
            </a:r>
          </a:p>
        </p:txBody>
      </p:sp>
      <p:sp>
        <p:nvSpPr>
          <p:cNvPr id="528" name="라벨 ④ 비트 검사 / 읽기"/>
          <p:cNvSpPr txBox="1"/>
          <p:nvPr/>
        </p:nvSpPr>
        <p:spPr>
          <a:xfrm>
            <a:off x="5852160" y="1700784"/>
            <a:ext cx="493776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④ 비트 검사 / 읽기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Read: n번 비트가 1인지 확인</a:t>
            </a:r>
          </a:p>
        </p:txBody>
      </p:sp>
      <p:sp>
        <p:nvSpPr>
          <p:cNvPr id="529" name="코드 비트 검사 / 읽기"/>
          <p:cNvSpPr/>
          <p:nvPr/>
        </p:nvSpPr>
        <p:spPr>
          <a:xfrm>
            <a:off x="5852160" y="2057400"/>
            <a:ext cx="4937760" cy="38404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if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(REG &amp; (1 &lt;&lt; 3)) { ... }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3번 비트가 1이면</a:t>
            </a:r>
          </a:p>
        </p:txBody>
      </p:sp>
      <p:sp>
        <p:nvSpPr>
          <p:cNvPr id="530" name="강조 열"/>
          <p:cNvSpPr/>
          <p:nvPr/>
        </p:nvSpPr>
        <p:spPr>
          <a:xfrm>
            <a:off x="8586216" y="2724912"/>
            <a:ext cx="457200" cy="1664208"/>
          </a:xfrm>
          <a:prstGeom prst="rect">
            <a:avLst/>
          </a:prstGeom>
          <a:solidFill>
            <a:srgbClr val="FDEBD9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rgbClr val="262626"/>
                </a:solidFill>
              </a:rPr>
              <a:t/>
            </a:r>
          </a:p>
        </p:txBody>
      </p:sp>
      <p:sp>
        <p:nvSpPr>
          <p:cNvPr id="531" name="텍스트 531"/>
          <p:cNvSpPr txBox="1"/>
          <p:nvPr/>
        </p:nvSpPr>
        <p:spPr>
          <a:xfrm>
            <a:off x="7086600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532" name="텍스트 532"/>
          <p:cNvSpPr txBox="1"/>
          <p:nvPr/>
        </p:nvSpPr>
        <p:spPr>
          <a:xfrm>
            <a:off x="7470648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533" name="텍스트 533"/>
          <p:cNvSpPr txBox="1"/>
          <p:nvPr/>
        </p:nvSpPr>
        <p:spPr>
          <a:xfrm>
            <a:off x="7854696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534" name="텍스트 534"/>
          <p:cNvSpPr txBox="1"/>
          <p:nvPr/>
        </p:nvSpPr>
        <p:spPr>
          <a:xfrm>
            <a:off x="8238744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535" name="텍스트 535"/>
          <p:cNvSpPr txBox="1"/>
          <p:nvPr/>
        </p:nvSpPr>
        <p:spPr>
          <a:xfrm>
            <a:off x="8622792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b="1" dirty="0">
                <a:solidFill>
                  <a:srgbClr val="D35400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536" name="텍스트 536"/>
          <p:cNvSpPr txBox="1"/>
          <p:nvPr/>
        </p:nvSpPr>
        <p:spPr>
          <a:xfrm>
            <a:off x="9006840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537" name="텍스트 537"/>
          <p:cNvSpPr txBox="1"/>
          <p:nvPr/>
        </p:nvSpPr>
        <p:spPr>
          <a:xfrm>
            <a:off x="9390888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38" name="텍스트 538"/>
          <p:cNvSpPr txBox="1"/>
          <p:nvPr/>
        </p:nvSpPr>
        <p:spPr>
          <a:xfrm>
            <a:off x="9774936" y="274320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7F8C99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39" name="텍스트 539"/>
          <p:cNvSpPr txBox="1"/>
          <p:nvPr/>
        </p:nvSpPr>
        <p:spPr>
          <a:xfrm>
            <a:off x="5852160" y="2743200"/>
            <a:ext cx="1234440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dirty="0">
                <a:solidFill>
                  <a:srgbClr val="7F8C99"/>
                </a:solidFill>
              </a:rPr>
              <a:t>비트 번호</a:t>
            </a:r>
          </a:p>
        </p:txBody>
      </p:sp>
      <p:sp>
        <p:nvSpPr>
          <p:cNvPr id="540" name="칸 1"/>
          <p:cNvSpPr/>
          <p:nvPr/>
        </p:nvSpPr>
        <p:spPr>
          <a:xfrm>
            <a:off x="7086600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41" name="칸 0"/>
          <p:cNvSpPr/>
          <p:nvPr/>
        </p:nvSpPr>
        <p:spPr>
          <a:xfrm>
            <a:off x="7470648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42" name="칸 1"/>
          <p:cNvSpPr/>
          <p:nvPr/>
        </p:nvSpPr>
        <p:spPr>
          <a:xfrm>
            <a:off x="7854696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43" name="칸 0"/>
          <p:cNvSpPr/>
          <p:nvPr/>
        </p:nvSpPr>
        <p:spPr>
          <a:xfrm>
            <a:off x="8238744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44" name="칸 1"/>
          <p:cNvSpPr/>
          <p:nvPr/>
        </p:nvSpPr>
        <p:spPr>
          <a:xfrm>
            <a:off x="8622792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45" name="칸 1"/>
          <p:cNvSpPr/>
          <p:nvPr/>
        </p:nvSpPr>
        <p:spPr>
          <a:xfrm>
            <a:off x="9006840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46" name="칸 0"/>
          <p:cNvSpPr/>
          <p:nvPr/>
        </p:nvSpPr>
        <p:spPr>
          <a:xfrm>
            <a:off x="9390888" y="2999232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47" name="칸 1"/>
          <p:cNvSpPr/>
          <p:nvPr/>
        </p:nvSpPr>
        <p:spPr>
          <a:xfrm>
            <a:off x="9774936" y="2999232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48" name="텍스트 548"/>
          <p:cNvSpPr txBox="1"/>
          <p:nvPr/>
        </p:nvSpPr>
        <p:spPr>
          <a:xfrm>
            <a:off x="5852160" y="2999232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262626"/>
                </a:solidFill>
                <a:latin typeface="Consolas"/>
                <a:cs typeface="Consolas"/>
              </a:rPr>
              <a:t>REG  0xAD</a:t>
            </a:r>
          </a:p>
        </p:txBody>
      </p:sp>
      <p:sp>
        <p:nvSpPr>
          <p:cNvPr id="549" name="칸 0"/>
          <p:cNvSpPr/>
          <p:nvPr/>
        </p:nvSpPr>
        <p:spPr>
          <a:xfrm>
            <a:off x="7086600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50" name="칸 0"/>
          <p:cNvSpPr/>
          <p:nvPr/>
        </p:nvSpPr>
        <p:spPr>
          <a:xfrm>
            <a:off x="7470648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51" name="칸 0"/>
          <p:cNvSpPr/>
          <p:nvPr/>
        </p:nvSpPr>
        <p:spPr>
          <a:xfrm>
            <a:off x="7854696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52" name="칸 0"/>
          <p:cNvSpPr/>
          <p:nvPr/>
        </p:nvSpPr>
        <p:spPr>
          <a:xfrm>
            <a:off x="8238744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53" name="칸 1"/>
          <p:cNvSpPr/>
          <p:nvPr/>
        </p:nvSpPr>
        <p:spPr>
          <a:xfrm>
            <a:off x="8622792" y="3438144"/>
            <a:ext cx="384048" cy="365760"/>
          </a:xfrm>
          <a:prstGeom prst="rect">
            <a:avLst/>
          </a:prstGeom>
          <a:solidFill>
            <a:srgbClr val="147BD1"/>
          </a:solidFill>
          <a:ln w="12700">
            <a:solidFill>
              <a:srgbClr val="0B4F8A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54" name="칸 0"/>
          <p:cNvSpPr/>
          <p:nvPr/>
        </p:nvSpPr>
        <p:spPr>
          <a:xfrm>
            <a:off x="9006840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55" name="칸 0"/>
          <p:cNvSpPr/>
          <p:nvPr/>
        </p:nvSpPr>
        <p:spPr>
          <a:xfrm>
            <a:off x="9390888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56" name="칸 0"/>
          <p:cNvSpPr/>
          <p:nvPr/>
        </p:nvSpPr>
        <p:spPr>
          <a:xfrm>
            <a:off x="9774936" y="3438144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57" name="텍스트 557"/>
          <p:cNvSpPr txBox="1"/>
          <p:nvPr/>
        </p:nvSpPr>
        <p:spPr>
          <a:xfrm>
            <a:off x="5852160" y="3438144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147BD1"/>
                </a:solidFill>
                <a:latin typeface="Consolas"/>
                <a:cs typeface="Consolas"/>
              </a:rPr>
              <a:t>&amp;  1 &lt;&lt; 3</a:t>
            </a:r>
          </a:p>
        </p:txBody>
      </p:sp>
      <p:cxnSp>
        <p:nvCxnSpPr>
          <p:cNvPr id="558" name="연결선 558"/>
          <p:cNvCxnSpPr/>
          <p:nvPr/>
        </p:nvCxnSpPr>
        <p:spPr>
          <a:xfrm>
            <a:off x="5897880" y="3904488"/>
            <a:ext cx="4261104" cy="0"/>
          </a:xfrm>
          <a:prstGeom prst="line">
            <a:avLst/>
          </a:prstGeom>
          <a:ln w="15875">
            <a:solidFill>
              <a:srgbClr val="7F8C99"/>
            </a:solidFill>
          </a:ln>
        </p:spPr>
      </p:cxnSp>
      <p:sp>
        <p:nvSpPr>
          <p:cNvPr id="559" name="칸 0"/>
          <p:cNvSpPr/>
          <p:nvPr/>
        </p:nvSpPr>
        <p:spPr>
          <a:xfrm>
            <a:off x="7086600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60" name="칸 0"/>
          <p:cNvSpPr/>
          <p:nvPr/>
        </p:nvSpPr>
        <p:spPr>
          <a:xfrm>
            <a:off x="7470648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61" name="칸 0"/>
          <p:cNvSpPr/>
          <p:nvPr/>
        </p:nvSpPr>
        <p:spPr>
          <a:xfrm>
            <a:off x="7854696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62" name="칸 0"/>
          <p:cNvSpPr/>
          <p:nvPr/>
        </p:nvSpPr>
        <p:spPr>
          <a:xfrm>
            <a:off x="8238744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63" name="칸 1"/>
          <p:cNvSpPr/>
          <p:nvPr/>
        </p:nvSpPr>
        <p:spPr>
          <a:xfrm>
            <a:off x="8622792" y="3968496"/>
            <a:ext cx="384048" cy="365760"/>
          </a:xfrm>
          <a:prstGeom prst="rect">
            <a:avLst/>
          </a:prstGeom>
          <a:solidFill>
            <a:srgbClr val="D35400"/>
          </a:solidFill>
          <a:ln w="19050">
            <a:solidFill>
              <a:srgbClr val="D35400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564" name="칸 0"/>
          <p:cNvSpPr/>
          <p:nvPr/>
        </p:nvSpPr>
        <p:spPr>
          <a:xfrm>
            <a:off x="9006840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65" name="칸 0"/>
          <p:cNvSpPr/>
          <p:nvPr/>
        </p:nvSpPr>
        <p:spPr>
          <a:xfrm>
            <a:off x="9390888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66" name="칸 0"/>
          <p:cNvSpPr/>
          <p:nvPr/>
        </p:nvSpPr>
        <p:spPr>
          <a:xfrm>
            <a:off x="9774936" y="3968496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7BD1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567" name="텍스트 567"/>
          <p:cNvSpPr txBox="1"/>
          <p:nvPr/>
        </p:nvSpPr>
        <p:spPr>
          <a:xfrm>
            <a:off x="5852160" y="3968496"/>
            <a:ext cx="1161288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50" b="1" dirty="0">
                <a:solidFill>
                  <a:srgbClr val="D35400"/>
                </a:solidFill>
                <a:latin typeface="Consolas"/>
                <a:cs typeface="Consolas"/>
              </a:rPr>
              <a:t>=  0x08</a:t>
            </a:r>
          </a:p>
        </p:txBody>
      </p:sp>
      <p:sp>
        <p:nvSpPr>
          <p:cNvPr id="568" name="텍스트 568"/>
          <p:cNvSpPr txBox="1"/>
          <p:nvPr/>
        </p:nvSpPr>
        <p:spPr>
          <a:xfrm>
            <a:off x="7086600" y="4425696"/>
            <a:ext cx="3072384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D35400"/>
                </a:solidFill>
              </a:rPr>
              <a:t>결과 0x08 ≠ 0  →  참 (3번 비트는 1)</a:t>
            </a:r>
          </a:p>
        </p:txBody>
      </p:sp>
      <p:sp>
        <p:nvSpPr>
          <p:cNvPr id="569" name="참고"/>
          <p:cNvSpPr txBox="1"/>
          <p:nvPr/>
        </p:nvSpPr>
        <p:spPr>
          <a:xfrm>
            <a:off x="5852160" y="4791456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AND로 원하는 비트만 남기고 나머지는 0으로 지웁니다.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결과가 0이면 그 비트는 0,  0이 아니면 그 비트는 1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0 또는 1 값으로 받기:  bit = (REG &gt;&gt; 3) &amp; 1;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8. Bit Macro (1)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01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#define 매크로: 컴파일 전에 전처리기가 매크로 이름을 정의된 코드로 그대로 바꿔 넣습니다(치환). 자주 쓰는 비트 연산에 이름을 붙여 읽기 쉽게 만듭니다.</a:t>
            </a:r>
          </a:p>
        </p:txBody>
      </p:sp>
      <p:sp>
        <p:nvSpPr>
          <p:cNvPr id="402" name="라벨 비트 매크로 정의"/>
          <p:cNvSpPr txBox="1"/>
          <p:nvPr/>
        </p:nvSpPr>
        <p:spPr>
          <a:xfrm>
            <a:off x="438912" y="1700784"/>
            <a:ext cx="61264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비트 매크로 정의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bit_macro.h  (직접 정의)</a:t>
            </a:r>
          </a:p>
        </p:txBody>
      </p:sp>
      <p:sp>
        <p:nvSpPr>
          <p:cNvPr id="403" name="코드 매크로 정의"/>
          <p:cNvSpPr/>
          <p:nvPr/>
        </p:nvSpPr>
        <p:spPr>
          <a:xfrm>
            <a:off x="438912" y="2029968"/>
            <a:ext cx="6126480" cy="141732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#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define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BIT(n)              (1U &lt;&lt; (n))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#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define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BIT_SET(reg, n)     ((reg) |=  BIT(n))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#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define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BIT_CLEAR(reg, n)   ((reg) &amp;= ~BIT(n))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#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define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BIT_TOGGLE(reg, n)  ((reg) ^=  BIT(n))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#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define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BIT_IS_SET(reg, n)  (((reg) &amp; BIT(n)) != 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>#</a:t>
            </a: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define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BIT_READ(reg, n)    (((reg) &gt;&gt; (n)) &amp; 1U)</a:t>
            </a:r>
          </a:p>
        </p:txBody>
      </p:sp>
      <p:sp>
        <p:nvSpPr>
          <p:cNvPr id="404" name="라벨 사용 예제"/>
          <p:cNvSpPr txBox="1"/>
          <p:nvPr/>
        </p:nvSpPr>
        <p:spPr>
          <a:xfrm>
            <a:off x="438912" y="3749040"/>
            <a:ext cx="61264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사용 예제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처음 값  REG = 0xA5 (1010 0101)</a:t>
            </a:r>
          </a:p>
        </p:txBody>
      </p:sp>
      <p:sp>
        <p:nvSpPr>
          <p:cNvPr id="405" name="코드 매크로 사용"/>
          <p:cNvSpPr/>
          <p:nvPr/>
        </p:nvSpPr>
        <p:spPr>
          <a:xfrm>
            <a:off x="438912" y="4078224"/>
            <a:ext cx="6126480" cy="12344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BIT_SET(REG, 3);          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0xA5 → 0xAD  (3번 비트 = 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BIT_CLEAR(REG, 3);        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0xAD → 0xA5  (3번 비트 = 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BIT_TOGGLE(REG, 3);       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0xA5 → 0xAD  (3번 비트 반전)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47BD1"/>
                </a:solidFill>
                <a:latin typeface="Consolas"/>
                <a:cs typeface="Consolas"/>
              </a:rPr>
              <a:t>if</a:t>
            </a: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 (BIT_IS_SET(REG, 3)) { }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참 : 3번 비트가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x = BIT_READ(REG, 3);     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x = 1</a:t>
            </a:r>
          </a:p>
        </p:txBody>
      </p:sp>
      <p:sp>
        <p:nvSpPr>
          <p:cNvPr id="406" name="라벨 매크로 치환 과정"/>
          <p:cNvSpPr txBox="1"/>
          <p:nvPr/>
        </p:nvSpPr>
        <p:spPr>
          <a:xfrm>
            <a:off x="6858000" y="1700784"/>
            <a:ext cx="393192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매크로 치환 과정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Preprocessor</a:t>
            </a:r>
          </a:p>
        </p:txBody>
      </p:sp>
      <p:sp>
        <p:nvSpPr>
          <p:cNvPr id="407" name="작성 코드"/>
          <p:cNvSpPr/>
          <p:nvPr/>
        </p:nvSpPr>
        <p:spPr>
          <a:xfrm>
            <a:off x="6858000" y="2057400"/>
            <a:ext cx="3931920" cy="5669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5DEE8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262626"/>
                </a:solidFill>
                <a:latin typeface="Consolas"/>
                <a:cs typeface="Consolas"/>
              </a:rPr>
              <a:t>BIT_SET(REG, 3);</a:t>
            </a:r>
          </a:p>
        </p:txBody>
      </p:sp>
      <p:cxnSp>
        <p:nvCxnSpPr>
          <p:cNvPr id="408" name="연결선 408"/>
          <p:cNvCxnSpPr/>
          <p:nvPr/>
        </p:nvCxnSpPr>
        <p:spPr>
          <a:xfrm>
            <a:off x="8823960" y="2624328"/>
            <a:ext cx="0" cy="36576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09" name="텍스트 409"/>
          <p:cNvSpPr txBox="1"/>
          <p:nvPr/>
        </p:nvSpPr>
        <p:spPr>
          <a:xfrm>
            <a:off x="8915400" y="271576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rgbClr val="D35400"/>
                </a:solidFill>
              </a:rPr>
              <a:t>① 전처리기가 치환</a:t>
            </a:r>
          </a:p>
        </p:txBody>
      </p:sp>
      <p:sp>
        <p:nvSpPr>
          <p:cNvPr id="410" name="치환 코드"/>
          <p:cNvSpPr/>
          <p:nvPr/>
        </p:nvSpPr>
        <p:spPr>
          <a:xfrm>
            <a:off x="6858000" y="2990088"/>
            <a:ext cx="3931920" cy="566928"/>
          </a:xfrm>
          <a:prstGeom prst="roundRect">
            <a:avLst/>
          </a:prstGeom>
          <a:solidFill>
            <a:srgbClr val="147BD1"/>
          </a:solidFill>
          <a:ln>
            <a:noFill/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Consolas"/>
                <a:cs typeface="Consolas"/>
              </a:rPr>
              <a:t>((REG) |= (1U &lt;&lt; (3)));</a:t>
            </a:r>
          </a:p>
        </p:txBody>
      </p:sp>
      <p:cxnSp>
        <p:nvCxnSpPr>
          <p:cNvPr id="411" name="연결선 411"/>
          <p:cNvCxnSpPr/>
          <p:nvPr/>
        </p:nvCxnSpPr>
        <p:spPr>
          <a:xfrm>
            <a:off x="8823960" y="3557016"/>
            <a:ext cx="0" cy="365760"/>
          </a:xfrm>
          <a:prstGeom prst="line">
            <a:avLst/>
          </a:prstGeom>
          <a:ln w="15875">
            <a:solidFill>
              <a:srgbClr val="7F8C99"/>
            </a:solidFill>
            <a:tailEnd type="triangle" w="med" len="med"/>
          </a:ln>
        </p:spPr>
      </p:cxnSp>
      <p:sp>
        <p:nvSpPr>
          <p:cNvPr id="412" name="텍스트 412"/>
          <p:cNvSpPr txBox="1"/>
          <p:nvPr/>
        </p:nvSpPr>
        <p:spPr>
          <a:xfrm>
            <a:off x="8915400" y="3648456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000" b="1" dirty="0">
                <a:solidFill>
                  <a:srgbClr val="D35400"/>
                </a:solidFill>
              </a:rPr>
              <a:t>② 컴파일 · 실행</a:t>
            </a:r>
          </a:p>
        </p:txBody>
      </p:sp>
      <p:sp>
        <p:nvSpPr>
          <p:cNvPr id="413" name="실행 결과"/>
          <p:cNvSpPr/>
          <p:nvPr/>
        </p:nvSpPr>
        <p:spPr>
          <a:xfrm>
            <a:off x="6858000" y="3922776"/>
            <a:ext cx="3931920" cy="502920"/>
          </a:xfrm>
          <a:prstGeom prst="roundRect">
            <a:avLst/>
          </a:prstGeom>
          <a:solidFill>
            <a:srgbClr val="FDEBD9"/>
          </a:solidFill>
          <a:ln w="12700">
            <a:solidFill>
              <a:srgbClr val="D35400"/>
            </a:solidFill>
          </a:ln>
        </p:spPr>
        <p:txBody>
          <a:bodyPr lIns="36000" tIns="0" rIns="36000" bIns="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D35400"/>
                </a:solidFill>
                <a:latin typeface="Consolas"/>
                <a:cs typeface="Consolas"/>
              </a:rPr>
              <a:t>REG : 0xA5  →  0xAD</a:t>
            </a:r>
          </a:p>
        </p:txBody>
      </p:sp>
      <p:sp>
        <p:nvSpPr>
          <p:cNvPr id="414" name="텍스트 414"/>
          <p:cNvSpPr txBox="1"/>
          <p:nvPr/>
        </p:nvSpPr>
        <p:spPr>
          <a:xfrm>
            <a:off x="6858000" y="4480560"/>
            <a:ext cx="393192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595959"/>
                </a:solidFill>
              </a:rPr>
              <a:t>함수 호출이 아니라 코드가 그대로 복사되어 들어갑니다.</a:t>
            </a:r>
          </a:p>
        </p:txBody>
      </p:sp>
      <p:sp>
        <p:nvSpPr>
          <p:cNvPr id="415" name="라벨 작성 규칙"/>
          <p:cNvSpPr txBox="1"/>
          <p:nvPr/>
        </p:nvSpPr>
        <p:spPr>
          <a:xfrm>
            <a:off x="6858000" y="4754880"/>
            <a:ext cx="393192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작성 규칙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실수 방지</a:t>
            </a:r>
          </a:p>
        </p:txBody>
      </p:sp>
      <p:sp>
        <p:nvSpPr>
          <p:cNvPr id="416" name="참고"/>
          <p:cNvSpPr txBox="1"/>
          <p:nvPr/>
        </p:nvSpPr>
        <p:spPr>
          <a:xfrm>
            <a:off x="6858000" y="507492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매개변수와 전체 식을 ( )로 감싸기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1 대신 1U → 31번 비트 시프트도 안전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#define 줄 끝에는 ; 를 붙이지 않기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8. Bit Macro (2)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A06DEB78-DD9E-4DED-B33F-2D3892E53F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17" name="설명"/>
          <p:cNvSpPr txBox="1"/>
          <p:nvPr/>
        </p:nvSpPr>
        <p:spPr>
          <a:xfrm>
            <a:off x="438438" y="1290000"/>
            <a:ext cx="10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STM32 등 Cortex-M MCU는 제조사의 CMSIS 디바이스 헤더(stm32f4xx.h)에 비트 매크로가 정의되어 있습니다. (ARM-GCC 자체에는 없음)</a:t>
            </a:r>
          </a:p>
        </p:txBody>
      </p:sp>
      <p:sp>
        <p:nvSpPr>
          <p:cNvPr id="418" name="라벨 CMSIS에 정의된 비트 매크로"/>
          <p:cNvSpPr txBox="1"/>
          <p:nvPr/>
        </p:nvSpPr>
        <p:spPr>
          <a:xfrm>
            <a:off x="438912" y="1700784"/>
            <a:ext cx="1033272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CMSIS에 정의된 비트 매크로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#include "stm32f4xx.h"</a:t>
            </a:r>
          </a:p>
        </p:txBody>
      </p:sp>
      <p:graphicFrame>
        <p:nvGraphicFramePr>
          <p:cNvPr id="419" name="표 CMSIS 매크로"/>
          <p:cNvGraphicFramePr>
            <a:graphicFrameLocks noGrp="1"/>
          </p:cNvGraphicFramePr>
          <p:nvPr/>
        </p:nvGraphicFramePr>
        <p:xfrm>
          <a:off x="438912" y="2029968"/>
          <a:ext cx="10332720" cy="2340864"/>
        </p:xfrm>
        <a:graphic>
          <a:graphicData uri="http://schemas.openxmlformats.org/drawingml/2006/table">
            <a:tbl>
              <a:tblPr firstRow="1"/>
              <a:tblGrid>
                <a:gridCol w="1325880"/>
                <a:gridCol w="3566160"/>
                <a:gridCol w="224028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매크로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정의 (stm32f4xx.h)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사용 예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BD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SET_BIT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((REG) |= (BIT))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</a:rPr>
                        <a:t>비트 세트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SET_BIT(GPIOA-&gt;ODR, GPIO_ODR_OD5)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CLEAR_BIT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((REG) &amp;= ~(BIT))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</a:rPr>
                        <a:t>비트 클리어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CLEAR_BIT(GPIOA-&gt;ODR, GPIO_ODR_OD5)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READ_BIT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((REG) &amp; (BIT))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</a:rPr>
                        <a:t>비트 검사 (0 / 0이 아닌 값)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READ_BIT(GPIOA-&gt;IDR, GPIO_IDR_ID0)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CLEAR_REG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((REG) = (0x0))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</a:rPr>
                        <a:t>레지스터 전체를 0으로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CLEAR_REG(TIM2-&gt;CNT)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WRITE_REG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((REG) = (VAL))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</a:rPr>
                        <a:t>레지스터에 값 쓰기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WRITE_REG(GPIOA-&gt;ODR, 0x00FF)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READ_REG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((REG))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</a:rPr>
                        <a:t>레지스터 값 읽기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x = READ_REG(GPIOA-&gt;IDR)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MODIFY_REG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WRITE_REG((REG), (((READ_REG(REG)) &amp; (~(CLEARMASK))) | (SETMASK)))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</a:rPr>
                        <a:t>지정 비트만 지우고 새 값 쓰기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Consolas"/>
                          <a:cs typeface="Consolas"/>
                        </a:rPr>
                        <a:t>MODIFY_REG(REG, 0x0F, 0x05)</a:t>
                      </a:r>
                    </a:p>
                  </a:txBody>
                  <a:tcPr marL="54000" marR="54000" marT="36000" marB="3600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0" name="라벨 주의: BIT 인자는 '비트 번호'가 아니라 '마스크'"/>
          <p:cNvSpPr txBox="1"/>
          <p:nvPr/>
        </p:nvSpPr>
        <p:spPr>
          <a:xfrm>
            <a:off x="438912" y="4572000"/>
            <a:ext cx="585216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주의: BIT 인자는 '비트 번호'가 아니라 '마스크'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</a:t>
            </a:r>
          </a:p>
        </p:txBody>
      </p:sp>
      <p:sp>
        <p:nvSpPr>
          <p:cNvPr id="421" name="코드 마스크 주의"/>
          <p:cNvSpPr/>
          <p:nvPr/>
        </p:nvSpPr>
        <p:spPr>
          <a:xfrm>
            <a:off x="438912" y="4901184"/>
            <a:ext cx="5852160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5DEE8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SET_BIT(GPIOA-&gt;ODR, (1U &lt;&lt; 5));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O : 5번 비트 세트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262626"/>
                </a:solidFill>
                <a:latin typeface="Consolas"/>
                <a:cs typeface="Consolas"/>
              </a:rPr>
              <a:t xml:space="preserve">SET_BIT(GPIOA-&gt;ODR, 5);          </a:t>
            </a:r>
            <a:r>
              <a:rPr lang="ko-KR" altLang="en-US" sz="1100" dirty="0">
                <a:solidFill>
                  <a:srgbClr val="6A8759"/>
                </a:solidFill>
                <a:latin typeface="Consolas"/>
                <a:cs typeface="Consolas"/>
              </a:rPr>
              <a:t>// X : 0101 → 0번·2번 비트가 세트됨!</a:t>
            </a:r>
          </a:p>
        </p:txBody>
      </p:sp>
      <p:sp>
        <p:nvSpPr>
          <p:cNvPr id="422" name="라벨 다른 환경에서는?"/>
          <p:cNvSpPr txBox="1"/>
          <p:nvPr/>
        </p:nvSpPr>
        <p:spPr>
          <a:xfrm>
            <a:off x="6583680" y="4572000"/>
            <a:ext cx="420624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47BD1"/>
                </a:solidFill>
              </a:rPr>
              <a:t>다른 환경에서는?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</a:t>
            </a:r>
          </a:p>
        </p:txBody>
      </p:sp>
      <p:sp>
        <p:nvSpPr>
          <p:cNvPr id="423" name="참고"/>
          <p:cNvSpPr txBox="1"/>
          <p:nvPr/>
        </p:nvSpPr>
        <p:spPr>
          <a:xfrm>
            <a:off x="6583680" y="4901184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AVR(avr-libc): _BV(bit) = (1 &lt;&lt; (bit))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 xml:space="preserve">   예) PORTB |= _BV(PB5);</a:t>
            </a: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147BD1"/>
                </a:solidFill>
              </a:rPr>
              <a:t xml:space="preserve">※ </a:t>
            </a:r>
            <a:r>
              <a:rPr lang="ko-KR" altLang="en-US" sz="1100" dirty="0">
                <a:solidFill>
                  <a:srgbClr val="595959"/>
                </a:solidFill>
              </a:rPr>
              <a:t>표준 C에는 없으므로 필요하면 직접 정의 (앞 장)</a:t>
            </a:r>
          </a:p>
        </p:txBody>
      </p:sp>
    </p:spTree>
    <p:extLst>
      <p:ext uri="{BB962C8B-B14F-4D97-AF65-F5344CB8AC3E}">
        <p14:creationId xmlns:p14="http://schemas.microsoft.com/office/powerpoint/2010/main" val="11986607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10520</TotalTime>
  <Words>19</Words>
  <Application>Microsoft Office PowerPoint</Application>
  <PresentationFormat>와이드스크린</PresentationFormat>
  <Paragraphs>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나눔스퀘어 네오 Regular</vt:lpstr>
      <vt:lpstr>맑은 고딕</vt:lpstr>
      <vt:lpstr>Arial</vt:lpstr>
      <vt:lpstr>Office 테마</vt:lpstr>
      <vt:lpstr>SOC301 | ARM Programming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UART Control with ARM</dc:title>
  <dc:creator>예빈 문</dc:creator>
  <cp:lastModifiedBy>[교원]우승안</cp:lastModifiedBy>
  <cp:revision>595</cp:revision>
  <dcterms:created xsi:type="dcterms:W3CDTF">2024-09-20T05:42:48Z</dcterms:created>
  <dcterms:modified xsi:type="dcterms:W3CDTF">2026-10-29T13:41:15Z</dcterms:modified>
</cp:coreProperties>
</file>