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0" r:id="rId2"/>
    <p:sldId id="277" r:id="rId3"/>
    <p:sldId id="263" r:id="rId4"/>
    <p:sldId id="295" r:id="rId5"/>
    <p:sldId id="296" r:id="rId6"/>
    <p:sldId id="297" r:id="rId7"/>
    <p:sldId id="298" r:id="rId8"/>
    <p:sldId id="301" r:id="rId9"/>
    <p:sldId id="292" r:id="rId10"/>
    <p:sldId id="294" r:id="rId11"/>
    <p:sldId id="302" r:id="rId12"/>
    <p:sldId id="291" r:id="rId13"/>
    <p:sldId id="293" r:id="rId14"/>
    <p:sldId id="303" r:id="rId15"/>
    <p:sldId id="305" r:id="rId16"/>
    <p:sldId id="30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277"/>
            <p14:sldId id="263"/>
            <p14:sldId id="295"/>
            <p14:sldId id="296"/>
            <p14:sldId id="297"/>
            <p14:sldId id="298"/>
            <p14:sldId id="301"/>
            <p14:sldId id="292"/>
            <p14:sldId id="294"/>
            <p14:sldId id="302"/>
            <p14:sldId id="291"/>
            <p14:sldId id="293"/>
            <p14:sldId id="303"/>
            <p14:sldId id="305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4135" autoAdjust="0"/>
  </p:normalViewPr>
  <p:slideViewPr>
    <p:cSldViewPr snapToGrid="0" showGuides="1">
      <p:cViewPr varScale="1">
        <p:scale>
          <a:sx n="120" d="100"/>
          <a:sy n="120" d="100"/>
        </p:scale>
        <p:origin x="4452" y="11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32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FFD8-1969-ABE8-DD5A-B998D71F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D2D1FB-4BA5-878C-98FC-67D49DE87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351C98-3145-BA0B-07A9-02F4B3435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b="0" i="0" dirty="0">
              <a:solidFill>
                <a:srgbClr val="171C2D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B1C56-F0C0-E9AA-CFE6-5E8E76652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448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9710C-8D37-723D-8764-4FD45397D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14EF3D-E2C0-124A-CF0D-1ECA56937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0997B4-357B-A33B-1B1B-3C93DCBD3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B3DFC-60D9-39E2-4249-AEB75BD33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50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45BF-58E7-BF6F-A1C4-FBFDF654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20572E-77B2-627B-073C-052ECCB4D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A54AC7-1E29-F746-DA56-4E6CBDBE8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5B6D4-C8DF-8F98-F448-8F41EE835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288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8F51-59EB-3CF8-7D2E-5824F262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C4485E-CE6F-8C1F-E125-01FE426B2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EC0D96-331D-4321-9C53-DE3028B0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60241-293F-47A5-E025-5B32AA69A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587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1164-9422-83DD-8A61-6AE145EB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8F1FE5-F68F-D1AE-49AB-8E830D5C7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C964E0-9354-C21C-1794-02BBDFF19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E90A3-D484-4017-1080-535F98FF2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819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84F1-04DB-9492-4708-32F98E899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64145F-51F7-5E41-31A6-01EA81FA4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C4FC18-EB9D-EB1B-4667-BDD4ED09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76426B-4E01-1909-6CA9-A212EAAD3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75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2AD8-BF22-1AD7-37CF-E8BB1AAC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50C9C-B5AF-9285-CB31-507FF989F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FAFE1A-FCC0-6C97-FF2C-C72DDD841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3E2639-5DD2-1036-133B-E9AF1EBF9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593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132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23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9548-CA1D-7699-49B5-D07C8526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B60914-52A3-54A6-7D75-F51105EB2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4CC094-E867-C096-230E-782643EE9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1931B-8181-167F-A294-DC61BD5AA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506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DBCA-E98D-1FAC-E903-DDDC73D3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32A8D7-BDB6-1375-F895-26D372A75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8C34A2-7F82-4E11-7B25-CD78FBA21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D13E4-703D-8A0C-3DD0-9CEC404E7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656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260D-A9D9-A0AF-0639-0271A4DF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BB7F06-2578-7005-11F9-30DB04A1A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A107DE-9447-BD16-3818-A80AC056A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DDB9DF-584C-B824-E489-3A7BC476E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47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83EA565-BB15-5BF3-4563-4F89DBE99D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7204" r="-16" b="-894"/>
          <a:stretch/>
        </p:blipFill>
        <p:spPr>
          <a:xfrm>
            <a:off x="0" y="43545"/>
            <a:ext cx="1875100" cy="3151065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xilinx.com/support/download/index.html/content/xilinx/en/downloadNav/vivado-design-tools/2024-2.html" TargetMode="Externa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igilent.com/reference/programmable-logic/zybo-z7/reference-manua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sz="3600" b="1" dirty="0">
                <a:latin typeface="+mj-lt"/>
              </a:rPr>
              <a:t>AR</a:t>
            </a:r>
            <a:r>
              <a:rPr lang="en-US" altLang="ko-KR" sz="3600" dirty="0">
                <a:latin typeface="+mj-lt"/>
              </a:rPr>
              <a:t>M Programming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9E9DE89-87D7-4522-9EED-A68B85E427B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BCBB8-2819-5DA9-8FE6-2AFB7F98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1. </a:t>
            </a:r>
            <a:r>
              <a:rPr lang="en-US" altLang="ko-KR" sz="28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Vivado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설치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F76EE0-3CE6-9DAA-A391-F36D6F690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2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C3D61FA-702B-57BA-9FDE-A1E5980C97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CA" dirty="0"/>
              <a:t>AMD </a:t>
            </a:r>
            <a:r>
              <a:rPr lang="ko-KR" altLang="en-US" dirty="0"/>
              <a:t>계정 만들고 </a:t>
            </a:r>
            <a:r>
              <a:rPr lang="en-CA" altLang="ko-KR" dirty="0"/>
              <a:t>download</a:t>
            </a:r>
            <a:endParaRPr lang="en-CA" dirty="0"/>
          </a:p>
          <a:p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2A42D3-6F06-D064-AC1F-E8E405CE91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06D66-BFD9-0CC7-50A6-85A417088E4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1. </a:t>
            </a:r>
            <a:r>
              <a:rPr lang="en-US" altLang="ko-KR" b="1" dirty="0" err="1">
                <a:solidFill>
                  <a:srgbClr val="147BD1"/>
                </a:solidFill>
              </a:rPr>
              <a:t>Vivado</a:t>
            </a:r>
            <a:r>
              <a:rPr lang="en-US" altLang="ko-KR" b="1" dirty="0">
                <a:solidFill>
                  <a:srgbClr val="147BD1"/>
                </a:solidFill>
              </a:rPr>
              <a:t> </a:t>
            </a:r>
            <a:r>
              <a:rPr lang="ko-KR" altLang="en-US" b="1" dirty="0">
                <a:solidFill>
                  <a:srgbClr val="147BD1"/>
                </a:solidFill>
              </a:rPr>
              <a:t>설치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6AFF69-DAA3-9A71-C5A7-C3ED56A84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05"/>
          <a:stretch/>
        </p:blipFill>
        <p:spPr>
          <a:xfrm>
            <a:off x="1156666" y="2209346"/>
            <a:ext cx="5233495" cy="28865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5DEE17-51CE-FBA5-B6B9-8FE6B4A90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305" y="3385556"/>
            <a:ext cx="5081677" cy="3244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BB4A5E-6EEA-58ED-8008-621D7D184109}"/>
              </a:ext>
            </a:extLst>
          </p:cNvPr>
          <p:cNvSpPr txBox="1"/>
          <p:nvPr/>
        </p:nvSpPr>
        <p:spPr bwMode="auto">
          <a:xfrm>
            <a:off x="2708744" y="5837307"/>
            <a:ext cx="234953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r>
              <a:rPr lang="ko-KR" altLang="en-US" dirty="0"/>
              <a:t>하단에서</a:t>
            </a:r>
            <a:endParaRPr lang="en-US" altLang="ko-KR" dirty="0"/>
          </a:p>
          <a:p>
            <a:r>
              <a:rPr lang="en-US" altLang="ko-KR" dirty="0"/>
              <a:t>Windows </a:t>
            </a:r>
            <a:r>
              <a:rPr lang="ko-KR" altLang="en-US" dirty="0"/>
              <a:t>버전 설치</a:t>
            </a:r>
            <a:endParaRPr lang="en-CA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82495BD-30D2-6618-347F-313D9D9BE6A7}"/>
              </a:ext>
            </a:extLst>
          </p:cNvPr>
          <p:cNvSpPr/>
          <p:nvPr/>
        </p:nvSpPr>
        <p:spPr>
          <a:xfrm rot="5400000">
            <a:off x="3595478" y="5289344"/>
            <a:ext cx="576064" cy="41270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AB1B115-DFFC-DCE0-A520-7375A6B23AA2}"/>
              </a:ext>
            </a:extLst>
          </p:cNvPr>
          <p:cNvSpPr/>
          <p:nvPr/>
        </p:nvSpPr>
        <p:spPr>
          <a:xfrm>
            <a:off x="5655128" y="4784036"/>
            <a:ext cx="4846033" cy="49739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A631A6-696C-D2B4-64ED-EFCD4C8D577F}"/>
              </a:ext>
            </a:extLst>
          </p:cNvPr>
          <p:cNvSpPr/>
          <p:nvPr/>
        </p:nvSpPr>
        <p:spPr>
          <a:xfrm>
            <a:off x="1156666" y="3283439"/>
            <a:ext cx="2900973" cy="38979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17453080-3488-351C-996D-4561C67668C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84708" y="1722863"/>
            <a:ext cx="8406917" cy="1662693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5"/>
              </a:rPr>
              <a:t>https://www.xilinx.com/support/download/index.html/content/xilinx/en/downloadNav/vivado-design-tools/2024-2.html</a:t>
            </a: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6332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0DFA-1BD0-EC2A-660E-69F618A2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01B41A6-537E-EAD1-FA80-1BB4DC0EB3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234DA0-4C4C-6DC4-74DB-2BC01132997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1. </a:t>
            </a:r>
            <a:r>
              <a:rPr lang="en-US" altLang="ko-KR" b="1" dirty="0" err="1">
                <a:solidFill>
                  <a:srgbClr val="147BD1"/>
                </a:solidFill>
              </a:rPr>
              <a:t>Vivado</a:t>
            </a:r>
            <a:r>
              <a:rPr lang="en-US" altLang="ko-KR" b="1" dirty="0">
                <a:solidFill>
                  <a:srgbClr val="147BD1"/>
                </a:solidFill>
              </a:rPr>
              <a:t> </a:t>
            </a:r>
            <a:r>
              <a:rPr lang="ko-KR" altLang="en-US" b="1" dirty="0">
                <a:solidFill>
                  <a:srgbClr val="147BD1"/>
                </a:solidFill>
              </a:rPr>
              <a:t>설치</a:t>
            </a:r>
          </a:p>
        </p:txBody>
      </p:sp>
      <p:pic>
        <p:nvPicPr>
          <p:cNvPr id="4" name="내용 개체 틀 8">
            <a:extLst>
              <a:ext uri="{FF2B5EF4-FFF2-40B4-BE49-F238E27FC236}">
                <a16:creationId xmlns:a16="http://schemas.microsoft.com/office/drawing/2014/main" id="{6773040C-1F12-ECEC-14D8-4AA83AC98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4" y="1361156"/>
            <a:ext cx="5527909" cy="42317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8DBBA99-76A6-BF24-FD4A-41FDBF2FF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829" y="1361156"/>
            <a:ext cx="5498687" cy="4231709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564E165-7FE3-2C8F-EACB-50A29BF28154}"/>
              </a:ext>
            </a:extLst>
          </p:cNvPr>
          <p:cNvSpPr/>
          <p:nvPr/>
        </p:nvSpPr>
        <p:spPr>
          <a:xfrm>
            <a:off x="5069696" y="5239082"/>
            <a:ext cx="551457" cy="30147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5FC448E-62F7-2523-89E6-B84FD0255A27}"/>
              </a:ext>
            </a:extLst>
          </p:cNvPr>
          <p:cNvSpPr/>
          <p:nvPr/>
        </p:nvSpPr>
        <p:spPr>
          <a:xfrm>
            <a:off x="6160829" y="2391071"/>
            <a:ext cx="2441798" cy="43875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7CD4A19-CB17-F125-BF46-083149F134B1}"/>
              </a:ext>
            </a:extLst>
          </p:cNvPr>
          <p:cNvSpPr/>
          <p:nvPr/>
        </p:nvSpPr>
        <p:spPr>
          <a:xfrm>
            <a:off x="10684042" y="5239082"/>
            <a:ext cx="548639" cy="30147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17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5DEE-78CF-8202-1147-C8043821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9A1C669-39F9-598F-C1A1-3BCCBC8C6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99" y="1370669"/>
            <a:ext cx="5688101" cy="4372933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E74770-9C05-6AC6-2658-6AE70E1C21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506B3B-8332-3A8A-AAD1-4A1B1539E3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1. </a:t>
            </a:r>
            <a:r>
              <a:rPr lang="en-US" altLang="ko-KR" b="1" dirty="0" err="1">
                <a:solidFill>
                  <a:srgbClr val="147BD1"/>
                </a:solidFill>
              </a:rPr>
              <a:t>Vivado</a:t>
            </a:r>
            <a:r>
              <a:rPr lang="en-US" altLang="ko-KR" b="1" dirty="0">
                <a:solidFill>
                  <a:srgbClr val="147BD1"/>
                </a:solidFill>
              </a:rPr>
              <a:t> </a:t>
            </a:r>
            <a:r>
              <a:rPr lang="ko-KR" altLang="en-US" b="1" dirty="0">
                <a:solidFill>
                  <a:srgbClr val="147BD1"/>
                </a:solidFill>
              </a:rPr>
              <a:t>설치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90F9B1-CBBB-F68B-5A28-A721C7FB2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768" y="1370669"/>
            <a:ext cx="5399402" cy="443456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C2271C-FFA0-C213-2429-364D5BD57A1B}"/>
              </a:ext>
            </a:extLst>
          </p:cNvPr>
          <p:cNvSpPr/>
          <p:nvPr/>
        </p:nvSpPr>
        <p:spPr>
          <a:xfrm>
            <a:off x="438438" y="1952861"/>
            <a:ext cx="5555962" cy="63889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281817D-290A-586A-283E-1CBC0D40834A}"/>
              </a:ext>
            </a:extLst>
          </p:cNvPr>
          <p:cNvSpPr/>
          <p:nvPr/>
        </p:nvSpPr>
        <p:spPr>
          <a:xfrm>
            <a:off x="6296226" y="2587661"/>
            <a:ext cx="5302215" cy="69455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E65F49A-2568-8E0A-4AD9-C2AE81B87BB4}"/>
              </a:ext>
            </a:extLst>
          </p:cNvPr>
          <p:cNvSpPr/>
          <p:nvPr/>
        </p:nvSpPr>
        <p:spPr>
          <a:xfrm>
            <a:off x="5173227" y="5468858"/>
            <a:ext cx="450163" cy="18858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0407B7-FF97-74FA-126E-6599E7A69666}"/>
              </a:ext>
            </a:extLst>
          </p:cNvPr>
          <p:cNvSpPr/>
          <p:nvPr/>
        </p:nvSpPr>
        <p:spPr>
          <a:xfrm>
            <a:off x="10765729" y="5506580"/>
            <a:ext cx="447703" cy="24290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10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6534-2DD9-5E57-AE8F-E7232C3D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E52552-7161-882B-3972-50B040C3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053" y="1170997"/>
            <a:ext cx="6750251" cy="5167433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A0B87C-54B4-792B-5289-6BDEEA53C6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356485-D0A4-18D9-15E5-8C31364E727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1. </a:t>
            </a:r>
            <a:r>
              <a:rPr lang="en-US" altLang="ko-KR" b="1" dirty="0" err="1">
                <a:solidFill>
                  <a:srgbClr val="147BD1"/>
                </a:solidFill>
              </a:rPr>
              <a:t>Vivado</a:t>
            </a:r>
            <a:r>
              <a:rPr lang="en-US" altLang="ko-KR" b="1" dirty="0">
                <a:solidFill>
                  <a:srgbClr val="147BD1"/>
                </a:solidFill>
              </a:rPr>
              <a:t> </a:t>
            </a:r>
            <a:r>
              <a:rPr lang="ko-KR" altLang="en-US" b="1" dirty="0">
                <a:solidFill>
                  <a:srgbClr val="147BD1"/>
                </a:solidFill>
              </a:rPr>
              <a:t>설치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0B647AB-C3E3-76F1-0FB3-84307092DD75}"/>
              </a:ext>
            </a:extLst>
          </p:cNvPr>
          <p:cNvSpPr/>
          <p:nvPr/>
        </p:nvSpPr>
        <p:spPr>
          <a:xfrm>
            <a:off x="2543943" y="2477047"/>
            <a:ext cx="2074239" cy="283386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A5BC4C-2D3E-1BD5-A4D0-822EA1CF5B21}"/>
              </a:ext>
            </a:extLst>
          </p:cNvPr>
          <p:cNvSpPr/>
          <p:nvPr/>
        </p:nvSpPr>
        <p:spPr>
          <a:xfrm>
            <a:off x="8117465" y="5999870"/>
            <a:ext cx="504056" cy="24290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82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10E1-F1CF-0A72-3E7E-EE55FD15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D0AF263-8295-6F31-23F7-6E493433C3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4B7E4-4748-D7EB-3E41-F906A4058E1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1. </a:t>
            </a:r>
            <a:r>
              <a:rPr lang="en-US" altLang="ko-KR" b="1" dirty="0" err="1">
                <a:solidFill>
                  <a:srgbClr val="147BD1"/>
                </a:solidFill>
              </a:rPr>
              <a:t>Vivado</a:t>
            </a:r>
            <a:r>
              <a:rPr lang="en-US" altLang="ko-KR" b="1" dirty="0">
                <a:solidFill>
                  <a:srgbClr val="147BD1"/>
                </a:solidFill>
              </a:rPr>
              <a:t> </a:t>
            </a:r>
            <a:r>
              <a:rPr lang="ko-KR" altLang="en-US" b="1" dirty="0">
                <a:solidFill>
                  <a:srgbClr val="147BD1"/>
                </a:solidFill>
              </a:rPr>
              <a:t>설치</a:t>
            </a:r>
          </a:p>
        </p:txBody>
      </p:sp>
      <p:pic>
        <p:nvPicPr>
          <p:cNvPr id="8" name="내용 개체 틀 10">
            <a:extLst>
              <a:ext uri="{FF2B5EF4-FFF2-40B4-BE49-F238E27FC236}">
                <a16:creationId xmlns:a16="http://schemas.microsoft.com/office/drawing/2014/main" id="{2054A422-1AA8-F83B-AEAA-4ADE1871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81" y="1265135"/>
            <a:ext cx="5074079" cy="50156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072CF9-B65B-6BB8-F5B4-AE3038D46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700" y="1280208"/>
            <a:ext cx="5109592" cy="5015623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B22B40-C760-0CA2-1F96-2503B824F251}"/>
              </a:ext>
            </a:extLst>
          </p:cNvPr>
          <p:cNvSpPr/>
          <p:nvPr/>
        </p:nvSpPr>
        <p:spPr>
          <a:xfrm>
            <a:off x="4839526" y="5981700"/>
            <a:ext cx="432312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3310B2B-5B3D-0724-8EC2-5E9581F991C9}"/>
              </a:ext>
            </a:extLst>
          </p:cNvPr>
          <p:cNvSpPr/>
          <p:nvPr/>
        </p:nvSpPr>
        <p:spPr>
          <a:xfrm>
            <a:off x="635781" y="1845438"/>
            <a:ext cx="598071" cy="39648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29FF94-EC16-F82A-ADB6-CADE103B8757}"/>
              </a:ext>
            </a:extLst>
          </p:cNvPr>
          <p:cNvSpPr/>
          <p:nvPr/>
        </p:nvSpPr>
        <p:spPr>
          <a:xfrm>
            <a:off x="10550656" y="6000763"/>
            <a:ext cx="432312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402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D583-B316-8CA8-5C49-4C945295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59113C-7867-002A-C271-0F3650B0EA1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F9EE1-21C9-6ED1-73D5-D4F02CA94DD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1. </a:t>
            </a:r>
            <a:r>
              <a:rPr lang="en-US" altLang="ko-KR" b="1" dirty="0" err="1">
                <a:solidFill>
                  <a:srgbClr val="147BD1"/>
                </a:solidFill>
              </a:rPr>
              <a:t>Vivado</a:t>
            </a:r>
            <a:r>
              <a:rPr lang="en-US" altLang="ko-KR" b="1" dirty="0">
                <a:solidFill>
                  <a:srgbClr val="147BD1"/>
                </a:solidFill>
              </a:rPr>
              <a:t> </a:t>
            </a:r>
            <a:r>
              <a:rPr lang="ko-KR" altLang="en-US" b="1" dirty="0">
                <a:solidFill>
                  <a:srgbClr val="147BD1"/>
                </a:solidFill>
              </a:rPr>
              <a:t>설치</a:t>
            </a:r>
          </a:p>
        </p:txBody>
      </p:sp>
      <p:pic>
        <p:nvPicPr>
          <p:cNvPr id="4" name="내용 개체 틀 4">
            <a:extLst>
              <a:ext uri="{FF2B5EF4-FFF2-40B4-BE49-F238E27FC236}">
                <a16:creationId xmlns:a16="http://schemas.microsoft.com/office/drawing/2014/main" id="{871F0BD6-6E29-2257-AE05-37D60BE8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18" y="1234365"/>
            <a:ext cx="5320153" cy="5246688"/>
          </a:xfrm>
          <a:prstGeom prst="rect">
            <a:avLst/>
          </a:prstGeom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69E23085-89DD-DE00-8F9E-C6A33350D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861" y="1234365"/>
            <a:ext cx="5506424" cy="5246688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8E96A2D-3A4C-595A-9631-3ABA5BC869E1}"/>
              </a:ext>
            </a:extLst>
          </p:cNvPr>
          <p:cNvSpPr/>
          <p:nvPr/>
        </p:nvSpPr>
        <p:spPr>
          <a:xfrm>
            <a:off x="11178072" y="1152525"/>
            <a:ext cx="490010" cy="38478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81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B16A-5185-891A-5EBB-5770DD39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51A07-21F9-1FD6-0884-D900520F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2. </a:t>
            </a:r>
            <a:r>
              <a:rPr lang="en-US" altLang="ko-KR" sz="28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Zybo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 Z7-20 &amp; Zynq-7000 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소개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63308B-1C0B-9DA1-E962-44693C22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175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896B-CB32-5830-610D-1E2CFB73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F03FCB-A8C9-3287-2A04-0C6A67BDB5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70637-62BF-A03E-B923-1651A4EE23D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2</a:t>
            </a:r>
            <a:r>
              <a:rPr lang="en-US" altLang="ko-KR" b="1" dirty="0">
                <a:solidFill>
                  <a:srgbClr val="147BD1"/>
                </a:solidFill>
              </a:rPr>
              <a:t>.1 </a:t>
            </a:r>
            <a:r>
              <a:rPr lang="en-US" altLang="ko-KR" b="1" dirty="0" err="1">
                <a:solidFill>
                  <a:srgbClr val="147BD1"/>
                </a:solidFill>
              </a:rPr>
              <a:t>Zybo</a:t>
            </a:r>
            <a:r>
              <a:rPr lang="en-US" altLang="ko-KR" b="1" dirty="0">
                <a:solidFill>
                  <a:srgbClr val="147BD1"/>
                </a:solidFill>
              </a:rPr>
              <a:t> Z7-20 </a:t>
            </a:r>
            <a:r>
              <a:rPr lang="ko-KR" altLang="en-US" b="1" dirty="0">
                <a:solidFill>
                  <a:srgbClr val="147BD1"/>
                </a:solidFill>
              </a:rPr>
              <a:t>소개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70E597-7E56-A9BE-841A-6581D034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7" y="2046811"/>
            <a:ext cx="4416643" cy="3168352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2EF7BEB-CFCD-7025-3FA6-F883E55DB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751160"/>
              </p:ext>
            </p:extLst>
          </p:nvPr>
        </p:nvGraphicFramePr>
        <p:xfrm>
          <a:off x="5219699" y="1477432"/>
          <a:ext cx="6829425" cy="4374882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522364">
                  <a:extLst>
                    <a:ext uri="{9D8B030D-6E8A-4147-A177-3AD203B41FA5}">
                      <a16:colId xmlns:a16="http://schemas.microsoft.com/office/drawing/2014/main" val="227301802"/>
                    </a:ext>
                  </a:extLst>
                </a:gridCol>
                <a:gridCol w="1487412">
                  <a:extLst>
                    <a:ext uri="{9D8B030D-6E8A-4147-A177-3AD203B41FA5}">
                      <a16:colId xmlns:a16="http://schemas.microsoft.com/office/drawing/2014/main" val="2119396064"/>
                    </a:ext>
                  </a:extLst>
                </a:gridCol>
                <a:gridCol w="514983">
                  <a:extLst>
                    <a:ext uri="{9D8B030D-6E8A-4147-A177-3AD203B41FA5}">
                      <a16:colId xmlns:a16="http://schemas.microsoft.com/office/drawing/2014/main" val="4138172389"/>
                    </a:ext>
                  </a:extLst>
                </a:gridCol>
                <a:gridCol w="1644479">
                  <a:extLst>
                    <a:ext uri="{9D8B030D-6E8A-4147-A177-3AD203B41FA5}">
                      <a16:colId xmlns:a16="http://schemas.microsoft.com/office/drawing/2014/main" val="44793221"/>
                    </a:ext>
                  </a:extLst>
                </a:gridCol>
                <a:gridCol w="551384">
                  <a:extLst>
                    <a:ext uri="{9D8B030D-6E8A-4147-A177-3AD203B41FA5}">
                      <a16:colId xmlns:a16="http://schemas.microsoft.com/office/drawing/2014/main" val="4128532260"/>
                    </a:ext>
                  </a:extLst>
                </a:gridCol>
                <a:gridCol w="2108803">
                  <a:extLst>
                    <a:ext uri="{9D8B030D-6E8A-4147-A177-3AD203B41FA5}">
                      <a16:colId xmlns:a16="http://schemas.microsoft.com/office/drawing/2014/main" val="3882635944"/>
                    </a:ext>
                  </a:extLst>
                </a:gridCol>
              </a:tblGrid>
              <a:tr h="197394">
                <a:tc>
                  <a:txBody>
                    <a:bodyPr/>
                    <a:lstStyle/>
                    <a:p>
                      <a:pPr algn="l" fontAlgn="b"/>
                      <a:r>
                        <a:rPr lang="en-CA" sz="1000" dirty="0">
                          <a:effectLst/>
                        </a:rPr>
                        <a:t>Callout</a:t>
                      </a:r>
                    </a:p>
                  </a:txBody>
                  <a:tcPr marL="35249" marR="35249" marT="35249" marB="35249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000" dirty="0">
                          <a:effectLst/>
                        </a:rPr>
                        <a:t>Description</a:t>
                      </a:r>
                    </a:p>
                  </a:txBody>
                  <a:tcPr marL="35249" marR="35249" marT="35249" marB="35249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000" dirty="0">
                          <a:effectLst/>
                        </a:rPr>
                        <a:t>Callout</a:t>
                      </a:r>
                    </a:p>
                  </a:txBody>
                  <a:tcPr marL="35249" marR="35249" marT="35249" marB="35249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000" dirty="0">
                          <a:effectLst/>
                        </a:rPr>
                        <a:t>Description</a:t>
                      </a:r>
                    </a:p>
                  </a:txBody>
                  <a:tcPr marL="35249" marR="35249" marT="35249" marB="35249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000" dirty="0">
                          <a:effectLst/>
                        </a:rPr>
                        <a:t>Callout</a:t>
                      </a:r>
                    </a:p>
                  </a:txBody>
                  <a:tcPr marL="35249" marR="35249" marT="35249" marB="35249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CA" sz="1000" dirty="0">
                          <a:effectLst/>
                        </a:rPr>
                        <a:t>Description</a:t>
                      </a:r>
                    </a:p>
                  </a:txBody>
                  <a:tcPr marL="35249" marR="35249" marT="35249" marB="35249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667982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1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Power Switch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12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High-speed </a:t>
                      </a:r>
                      <a:r>
                        <a:rPr lang="en-CA" sz="1050" dirty="0" err="1">
                          <a:effectLst/>
                        </a:rPr>
                        <a:t>Pmod</a:t>
                      </a:r>
                      <a:r>
                        <a:rPr lang="en-CA" sz="1050" dirty="0">
                          <a:effectLst/>
                        </a:rPr>
                        <a:t> ports*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23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Ethernet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04325"/>
                  </a:ext>
                </a:extLst>
              </a:tr>
              <a:tr h="347105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2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Power select jumper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13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User buttons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24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External power supply connector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7156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3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USB JTAG/UART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14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User RGB LEDs *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25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Fan connector (5V, three-wire) *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133320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4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MIO User LED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15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XADC </a:t>
                      </a:r>
                      <a:r>
                        <a:rPr lang="en-CA" sz="1050" dirty="0" err="1">
                          <a:effectLst/>
                        </a:rPr>
                        <a:t>Pmod</a:t>
                      </a:r>
                      <a:r>
                        <a:rPr lang="en-CA" sz="1050" dirty="0">
                          <a:effectLst/>
                        </a:rPr>
                        <a:t>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26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Programming mode select</a:t>
                      </a:r>
                    </a:p>
                    <a:p>
                      <a:pPr algn="l" fontAlgn="t"/>
                      <a:r>
                        <a:rPr lang="en-CA" sz="1050" dirty="0">
                          <a:effectLst/>
                        </a:rPr>
                        <a:t>jumper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52380"/>
                  </a:ext>
                </a:extLst>
              </a:tr>
              <a:tr h="301289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5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MIO </a:t>
                      </a:r>
                      <a:r>
                        <a:rPr lang="en-CA" sz="1050" dirty="0" err="1">
                          <a:effectLst/>
                        </a:rPr>
                        <a:t>Pmod</a:t>
                      </a:r>
                      <a:r>
                        <a:rPr lang="en-CA" sz="1050" dirty="0">
                          <a:effectLst/>
                        </a:rPr>
                        <a:t>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16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>
                          <a:effectLst/>
                        </a:rPr>
                        <a:t>Audio codec ports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27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Power supply good LED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909993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6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>
                          <a:effectLst/>
                        </a:rPr>
                        <a:t>USB 2.0 Host/OTG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17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Unique MAC address</a:t>
                      </a:r>
                    </a:p>
                    <a:p>
                      <a:pPr algn="l" fontAlgn="t"/>
                      <a:r>
                        <a:rPr lang="en-CA" sz="1050" dirty="0">
                          <a:effectLst/>
                        </a:rPr>
                        <a:t>label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28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FPGA programming done LED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352878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7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USB Host power</a:t>
                      </a:r>
                    </a:p>
                    <a:p>
                      <a:pPr algn="l" fontAlgn="t"/>
                      <a:r>
                        <a:rPr lang="en-CA" sz="1050" dirty="0">
                          <a:effectLst/>
                        </a:rPr>
                        <a:t>enable jumper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18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>
                          <a:effectLst/>
                        </a:rPr>
                        <a:t>External JTAG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29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Processor reset button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4926"/>
                  </a:ext>
                </a:extLst>
              </a:tr>
              <a:tr h="387001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8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Standard </a:t>
                      </a:r>
                      <a:r>
                        <a:rPr lang="en-CA" sz="1050" dirty="0" err="1">
                          <a:effectLst/>
                        </a:rPr>
                        <a:t>Pmod</a:t>
                      </a:r>
                      <a:r>
                        <a:rPr lang="en-CA" sz="1050" dirty="0">
                          <a:effectLst/>
                        </a:rPr>
                        <a:t>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19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>
                          <a:effectLst/>
                        </a:rPr>
                        <a:t>HDMI input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30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FPGA clear configuration button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87474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9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User switches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20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 err="1">
                          <a:effectLst/>
                        </a:rPr>
                        <a:t>Pcam</a:t>
                      </a:r>
                      <a:r>
                        <a:rPr lang="en-CA" sz="1050" dirty="0">
                          <a:effectLst/>
                        </a:rPr>
                        <a:t> MIPI CSI-2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31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Zynq-7000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44439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10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User LEDs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21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microSD connector</a:t>
                      </a:r>
                    </a:p>
                    <a:p>
                      <a:pPr algn="l" fontAlgn="t"/>
                      <a:r>
                        <a:rPr lang="en-CA" sz="1050" dirty="0">
                          <a:effectLst/>
                        </a:rPr>
                        <a:t>(other side)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32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>
                          <a:effectLst/>
                        </a:rPr>
                        <a:t>DDR3L Memory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8778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dirty="0">
                          <a:effectLst/>
                        </a:rPr>
                        <a:t>11</a:t>
                      </a:r>
                    </a:p>
                  </a:txBody>
                  <a:tcPr marL="35249" marR="35249" marT="35249" marB="35249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>
                          <a:effectLst/>
                        </a:rPr>
                        <a:t>MIO User buttons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CA" sz="1050" b="1" dirty="0">
                          <a:effectLst/>
                        </a:rPr>
                        <a:t>22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HDMI output port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CA" sz="1050" dirty="0">
                          <a:effectLst/>
                        </a:rPr>
                        <a:t>* denotes difference between Z7-10 and Z7-20</a:t>
                      </a:r>
                    </a:p>
                  </a:txBody>
                  <a:tcPr marL="35249" marR="35249" marT="35249" marB="352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5617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1A8243F-396E-5996-073A-BCADEAF56682}"/>
              </a:ext>
            </a:extLst>
          </p:cNvPr>
          <p:cNvSpPr txBox="1"/>
          <p:nvPr/>
        </p:nvSpPr>
        <p:spPr>
          <a:xfrm>
            <a:off x="7262236" y="6054110"/>
            <a:ext cx="47868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https://digilent.com/reference/programmable-logic/zybo-z7/reference-manual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892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09DD8-00D8-7CBB-6A86-349C61FD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57A5F56-8B3B-268D-E3B6-53990E4020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DE893A-7533-9AB9-9474-B35BE266B20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2</a:t>
            </a:r>
            <a:r>
              <a:rPr lang="en-US" altLang="ko-KR" b="1" dirty="0">
                <a:solidFill>
                  <a:srgbClr val="147BD1"/>
                </a:solidFill>
              </a:rPr>
              <a:t>.2 Zynq-7000 </a:t>
            </a:r>
            <a:r>
              <a:rPr lang="ko-KR" altLang="en-US" b="1" dirty="0">
                <a:solidFill>
                  <a:srgbClr val="147BD1"/>
                </a:solidFill>
              </a:rPr>
              <a:t>소개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16DF76-AF8E-78D9-778C-8A038D4A4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4" y="1234365"/>
            <a:ext cx="4859994" cy="53608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6D6654-EF81-1A7F-BD5F-AFD68D1043E3}"/>
              </a:ext>
            </a:extLst>
          </p:cNvPr>
          <p:cNvSpPr txBox="1"/>
          <p:nvPr/>
        </p:nvSpPr>
        <p:spPr>
          <a:xfrm>
            <a:off x="6854341" y="1708945"/>
            <a:ext cx="43184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PS (Processing System)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하드코어 구조 </a:t>
            </a:r>
            <a:r>
              <a:rPr lang="en-US" altLang="ko-KR" dirty="0"/>
              <a:t>(</a:t>
            </a:r>
            <a:r>
              <a:rPr lang="ko-KR" altLang="en-US" dirty="0"/>
              <a:t>구조 변경 불가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데이터를 주고 받는 부분 담당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dirty="0"/>
              <a:t>Arm Core-A9</a:t>
            </a:r>
          </a:p>
          <a:p>
            <a:pPr marL="285750" indent="-285750">
              <a:buFontTx/>
              <a:buChar char="-"/>
            </a:pPr>
            <a:r>
              <a:rPr lang="en-US" dirty="0"/>
              <a:t>C code</a:t>
            </a:r>
            <a:r>
              <a:rPr lang="ko-KR" altLang="en-US" dirty="0"/>
              <a:t> 가능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4E665-3A86-98FB-C2C9-CCEC9CCEC710}"/>
              </a:ext>
            </a:extLst>
          </p:cNvPr>
          <p:cNvSpPr txBox="1"/>
          <p:nvPr/>
        </p:nvSpPr>
        <p:spPr>
          <a:xfrm>
            <a:off x="6854341" y="4854201"/>
            <a:ext cx="45566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PL (Programmable Logic)</a:t>
            </a:r>
          </a:p>
          <a:p>
            <a:pPr algn="ctr"/>
            <a:endParaRPr lang="en-US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FPGA</a:t>
            </a:r>
            <a:r>
              <a:rPr lang="ko-KR" altLang="en-US" dirty="0"/>
              <a:t>로 프로그래밍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하드웨어로 설계되어야 하는 부분 담당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dirty="0"/>
              <a:t>Artix-7 </a:t>
            </a:r>
            <a:r>
              <a:rPr lang="ko-KR" altLang="en-US" dirty="0"/>
              <a:t>기반 </a:t>
            </a:r>
            <a:r>
              <a:rPr lang="en-US" altLang="ko-KR" dirty="0"/>
              <a:t>FPGA (XC7Z020)</a:t>
            </a:r>
          </a:p>
          <a:p>
            <a:pPr marL="285750" indent="-285750">
              <a:buFontTx/>
              <a:buChar char="-"/>
            </a:pPr>
            <a:r>
              <a:rPr lang="en-US" dirty="0"/>
              <a:t>Verilog </a:t>
            </a:r>
            <a:r>
              <a:rPr lang="ko-KR" altLang="en-US" dirty="0"/>
              <a:t>등의 </a:t>
            </a:r>
            <a:r>
              <a:rPr lang="en-US" altLang="ko-KR" dirty="0"/>
              <a:t>HDL</a:t>
            </a:r>
            <a:endParaRPr 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F45D18-A2B8-B6F7-D509-B91641BCE1F4}"/>
              </a:ext>
            </a:extLst>
          </p:cNvPr>
          <p:cNvSpPr/>
          <p:nvPr/>
        </p:nvSpPr>
        <p:spPr>
          <a:xfrm>
            <a:off x="2515425" y="1476575"/>
            <a:ext cx="1551749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80B5049-4AA4-E964-ADC7-2F92B0A5E7BE}"/>
              </a:ext>
            </a:extLst>
          </p:cNvPr>
          <p:cNvSpPr/>
          <p:nvPr/>
        </p:nvSpPr>
        <p:spPr>
          <a:xfrm>
            <a:off x="2515425" y="5534225"/>
            <a:ext cx="1551749" cy="2323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92FEF4-BE4B-390D-8F7D-1CF1CE427504}"/>
              </a:ext>
            </a:extLst>
          </p:cNvPr>
          <p:cNvSpPr/>
          <p:nvPr/>
        </p:nvSpPr>
        <p:spPr>
          <a:xfrm>
            <a:off x="2296350" y="4676775"/>
            <a:ext cx="1056450" cy="80962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화살표: 왼쪽/오른쪽 15">
            <a:extLst>
              <a:ext uri="{FF2B5EF4-FFF2-40B4-BE49-F238E27FC236}">
                <a16:creationId xmlns:a16="http://schemas.microsoft.com/office/drawing/2014/main" id="{77FD6FCB-3844-E2FB-BAAE-818C14AEC86A}"/>
              </a:ext>
            </a:extLst>
          </p:cNvPr>
          <p:cNvSpPr/>
          <p:nvPr/>
        </p:nvSpPr>
        <p:spPr>
          <a:xfrm rot="5400000">
            <a:off x="8302140" y="3972242"/>
            <a:ext cx="819150" cy="295275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0FF2C-ACB4-8CFF-4A38-D0D1F0280B35}"/>
              </a:ext>
            </a:extLst>
          </p:cNvPr>
          <p:cNvSpPr txBox="1"/>
          <p:nvPr/>
        </p:nvSpPr>
        <p:spPr>
          <a:xfrm>
            <a:off x="7806842" y="3935213"/>
            <a:ext cx="2851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400098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351D-1A5A-BB32-C8DB-E35D9688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E75A0-7D15-D3E5-22D7-AD731FBE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3. FPGA</a:t>
            </a: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란</a:t>
            </a: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?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82A512-49EC-0BA9-ACD2-DB4DB411B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47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D8965-575C-2559-8B75-EE80B8E5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C87076-A4EA-1B02-C923-97BB760578D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84708" y="1722863"/>
            <a:ext cx="7688263" cy="323966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ko-KR" altLang="en-US" b="1" dirty="0"/>
              <a:t>일반적인 프로세서</a:t>
            </a:r>
            <a:r>
              <a:rPr lang="en-US" altLang="ko-KR" b="1" dirty="0"/>
              <a:t>, </a:t>
            </a:r>
            <a:r>
              <a:rPr lang="ko-KR" altLang="en-US" b="1" dirty="0"/>
              <a:t>예를 들어 </a:t>
            </a:r>
            <a:r>
              <a:rPr lang="en-US" altLang="ko-KR" b="1" dirty="0"/>
              <a:t>CPU</a:t>
            </a:r>
            <a:r>
              <a:rPr lang="ko-KR" altLang="en-US" b="1" dirty="0"/>
              <a:t>와 비교해보면</a:t>
            </a:r>
            <a:endParaRPr lang="en-US" altLang="ko-KR" b="1" dirty="0"/>
          </a:p>
          <a:p>
            <a:pPr>
              <a:spcBef>
                <a:spcPts val="0"/>
              </a:spcBef>
            </a:pPr>
            <a:endParaRPr lang="en-US" altLang="ko-KR" b="1" dirty="0"/>
          </a:p>
          <a:p>
            <a:pPr>
              <a:spcBef>
                <a:spcPts val="0"/>
              </a:spcBef>
            </a:pPr>
            <a:r>
              <a:rPr lang="en-US" altLang="ko-KR" b="1" dirty="0"/>
              <a:t>I7 3.6Ghz </a:t>
            </a:r>
            <a:r>
              <a:rPr lang="ko-KR" altLang="en-US" b="1" dirty="0"/>
              <a:t>프로세서는 </a:t>
            </a:r>
            <a:r>
              <a:rPr lang="en-US" altLang="ko-KR" b="1" dirty="0"/>
              <a:t>1</a:t>
            </a:r>
            <a:r>
              <a:rPr lang="ko-KR" altLang="en-US" b="1" dirty="0"/>
              <a:t>초에 </a:t>
            </a:r>
            <a:r>
              <a:rPr lang="en-US" altLang="ko-KR" b="1" dirty="0"/>
              <a:t>(3.6G * Core </a:t>
            </a:r>
            <a:r>
              <a:rPr lang="ko-KR" altLang="en-US" b="1" dirty="0"/>
              <a:t>수</a:t>
            </a:r>
            <a:r>
              <a:rPr lang="en-US" altLang="ko-KR" b="1" dirty="0"/>
              <a:t>) </a:t>
            </a:r>
            <a:r>
              <a:rPr lang="ko-KR" altLang="en-US" b="1" dirty="0"/>
              <a:t>만큼의 연산을 </a:t>
            </a:r>
            <a:r>
              <a:rPr lang="en-US" altLang="ko-KR" b="1" dirty="0">
                <a:solidFill>
                  <a:srgbClr val="FF0000"/>
                </a:solidFill>
              </a:rPr>
              <a:t>“</a:t>
            </a:r>
            <a:r>
              <a:rPr lang="ko-KR" altLang="en-US" b="1" dirty="0">
                <a:solidFill>
                  <a:srgbClr val="FF0000"/>
                </a:solidFill>
              </a:rPr>
              <a:t>순차적</a:t>
            </a:r>
            <a:r>
              <a:rPr lang="en-US" altLang="ko-KR" b="1" dirty="0">
                <a:solidFill>
                  <a:srgbClr val="FF0000"/>
                </a:solidFill>
              </a:rPr>
              <a:t>” </a:t>
            </a:r>
            <a:r>
              <a:rPr lang="ko-KR" altLang="en-US" b="1" dirty="0"/>
              <a:t>으로 수행한다</a:t>
            </a:r>
            <a:r>
              <a:rPr lang="en-US" altLang="ko-KR" b="1" dirty="0"/>
              <a:t>.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à"/>
            </a:pPr>
            <a:r>
              <a:rPr lang="ko-KR" altLang="en-US" b="1" dirty="0">
                <a:sym typeface="Wingdings" panose="05000000000000000000" pitchFamily="2" charset="2"/>
              </a:rPr>
              <a:t>즉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한 계산이 끝나면 다음 계산을 수행</a:t>
            </a:r>
            <a:r>
              <a:rPr lang="ko-KR" altLang="en-US" b="1" dirty="0">
                <a:sym typeface="Wingdings" panose="05000000000000000000" pitchFamily="2" charset="2"/>
              </a:rPr>
              <a:t>하는 방식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à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à"/>
            </a:pPr>
            <a:endParaRPr lang="en-US" altLang="ko-KR" b="1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</a:pPr>
            <a:r>
              <a:rPr lang="ko-KR" altLang="en-US" b="1" dirty="0">
                <a:sym typeface="Wingdings" panose="05000000000000000000" pitchFamily="2" charset="2"/>
              </a:rPr>
              <a:t>하지만</a:t>
            </a:r>
            <a:r>
              <a:rPr lang="en-US" altLang="ko-KR" b="1" dirty="0">
                <a:sym typeface="Wingdings" panose="05000000000000000000" pitchFamily="2" charset="2"/>
              </a:rPr>
              <a:t>, FPGA</a:t>
            </a:r>
            <a:r>
              <a:rPr lang="ko-KR" altLang="en-US" b="1" dirty="0">
                <a:sym typeface="Wingdings" panose="05000000000000000000" pitchFamily="2" charset="2"/>
              </a:rPr>
              <a:t>는 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“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병렬로</a:t>
            </a:r>
            <a:r>
              <a:rPr lang="en-US" altLang="ko-KR" b="1" dirty="0">
                <a:solidFill>
                  <a:srgbClr val="FF0000"/>
                </a:solidFill>
                <a:sym typeface="Wingdings" panose="05000000000000000000" pitchFamily="2" charset="2"/>
              </a:rPr>
              <a:t>”</a:t>
            </a:r>
            <a:r>
              <a:rPr lang="ko-KR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연산을 수행한다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à"/>
            </a:pPr>
            <a:r>
              <a:rPr lang="en-US" altLang="ko-KR" b="1" dirty="0"/>
              <a:t>100</a:t>
            </a:r>
            <a:r>
              <a:rPr lang="ko-KR" altLang="en-US" b="1" dirty="0"/>
              <a:t>개의 </a:t>
            </a:r>
            <a:r>
              <a:rPr lang="ko-KR" altLang="en-US" b="1" dirty="0" err="1"/>
              <a:t>연산기</a:t>
            </a:r>
            <a:r>
              <a:rPr lang="ko-KR" altLang="en-US" b="1" dirty="0"/>
              <a:t> </a:t>
            </a:r>
            <a:r>
              <a:rPr lang="en-US" altLang="ko-KR" b="1" dirty="0"/>
              <a:t>* 500 </a:t>
            </a:r>
            <a:r>
              <a:rPr lang="en-US" altLang="ko-KR" b="1" dirty="0" err="1"/>
              <a:t>Mhz</a:t>
            </a:r>
            <a:r>
              <a:rPr lang="ko-KR" altLang="en-US" b="1" dirty="0"/>
              <a:t>로 동작한다면</a:t>
            </a:r>
            <a:r>
              <a:rPr lang="en-US" altLang="ko-KR" b="1" dirty="0"/>
              <a:t>, 1</a:t>
            </a:r>
            <a:r>
              <a:rPr lang="ko-KR" altLang="en-US" b="1" dirty="0"/>
              <a:t>초에 </a:t>
            </a:r>
            <a:r>
              <a:rPr lang="en-US" altLang="ko-KR" b="1" dirty="0"/>
              <a:t>50G</a:t>
            </a:r>
            <a:r>
              <a:rPr lang="ko-KR" altLang="en-US" b="1" dirty="0"/>
              <a:t>의 연산을 수행 가능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b="1" dirty="0">
                <a:sym typeface="Wingdings" panose="05000000000000000000" pitchFamily="2" charset="2"/>
              </a:rPr>
              <a:t>즉</a:t>
            </a:r>
            <a:r>
              <a:rPr lang="en-US" altLang="ko-KR" b="1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여러 연산을 동시에 수행</a:t>
            </a:r>
            <a:r>
              <a:rPr lang="ko-KR" altLang="en-US" b="1" dirty="0"/>
              <a:t>하며</a:t>
            </a:r>
            <a:r>
              <a:rPr lang="en-US" altLang="ko-KR" b="1" dirty="0"/>
              <a:t>, </a:t>
            </a:r>
            <a:r>
              <a:rPr lang="ko-KR" altLang="en-US" b="1" dirty="0"/>
              <a:t>각종 고속 </a:t>
            </a:r>
            <a:r>
              <a:rPr lang="en-US" altLang="ko-KR" b="1" dirty="0"/>
              <a:t>IO</a:t>
            </a:r>
            <a:r>
              <a:rPr lang="ko-KR" altLang="en-US" b="1" dirty="0"/>
              <a:t>와 바로 연결되어 </a:t>
            </a:r>
            <a:r>
              <a:rPr lang="en-US" altLang="ko-KR" b="1" dirty="0">
                <a:solidFill>
                  <a:srgbClr val="FF0000"/>
                </a:solidFill>
              </a:rPr>
              <a:t>Data </a:t>
            </a:r>
            <a:r>
              <a:rPr lang="ko-KR" altLang="en-US" b="1" dirty="0">
                <a:solidFill>
                  <a:srgbClr val="FF0000"/>
                </a:solidFill>
              </a:rPr>
              <a:t>처리에 용이</a:t>
            </a:r>
            <a:r>
              <a:rPr lang="ko-KR" altLang="en-US" b="1" dirty="0"/>
              <a:t>하다</a:t>
            </a:r>
            <a:r>
              <a:rPr lang="en-US" altLang="ko-KR" b="1" dirty="0"/>
              <a:t>.</a:t>
            </a:r>
          </a:p>
          <a:p>
            <a:pPr>
              <a:spcBef>
                <a:spcPts val="0"/>
              </a:spcBef>
            </a:pPr>
            <a:endParaRPr lang="en-US" altLang="ko-KR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CBB31ED-325E-0460-BF76-D3BE016B77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왜 사용할까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C906587-A77C-7366-C781-08139B7DB2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60C3C-3958-1900-1BF8-D819127E830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FPGA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45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8F30-1C41-7959-A179-3D71A63C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2A65BE1-5EEF-997B-F2D2-37812F3C11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1398E-47BD-1B4B-37D3-5830B250FCB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FPGA – Logic Circuit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BA4A07-83FF-AF06-033C-EBB46156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837458"/>
            <a:ext cx="4762500" cy="303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A9C6320-AACC-55CD-D476-D73C4E900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1837458"/>
            <a:ext cx="5857875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104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40E61-C42A-3A3A-DEDF-B4D4D7EC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573D3F7-88C5-F90A-87CF-B7DF473DB4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B4CDF2-85A7-0E6C-5F42-D3714D94E2A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FPGA – LUTs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4" name="내용 개체 틀 7">
            <a:extLst>
              <a:ext uri="{FF2B5EF4-FFF2-40B4-BE49-F238E27FC236}">
                <a16:creationId xmlns:a16="http://schemas.microsoft.com/office/drawing/2014/main" id="{EB615309-D18C-FAFE-2E2F-FFDC689ED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513" y="1855724"/>
            <a:ext cx="6989787" cy="41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99F0F6-63DB-AF74-3376-7C00BF1333D8}"/>
              </a:ext>
            </a:extLst>
          </p:cNvPr>
          <p:cNvSpPr txBox="1"/>
          <p:nvPr/>
        </p:nvSpPr>
        <p:spPr bwMode="auto">
          <a:xfrm>
            <a:off x="689444" y="1376608"/>
            <a:ext cx="42635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/>
              <a:t>LUT</a:t>
            </a:r>
            <a:r>
              <a:rPr lang="ko-KR" altLang="en-US" dirty="0"/>
              <a:t> </a:t>
            </a:r>
            <a:r>
              <a:rPr lang="en-US" altLang="ko-KR" dirty="0"/>
              <a:t>(Look-up Table)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70920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EB4A-9567-8C2F-6DDC-31C8815E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A418A8D-7C86-2FF6-ED25-4122D2E4FBC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2AF787-D1F2-B1A5-0FDA-96E21AAA00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FPGA – Design Translation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8F1C83D-58E4-DB54-9B66-5D03E5E7939F}"/>
              </a:ext>
            </a:extLst>
          </p:cNvPr>
          <p:cNvGrpSpPr>
            <a:grpSpLocks/>
          </p:cNvGrpSpPr>
          <p:nvPr/>
        </p:nvGrpSpPr>
        <p:grpSpPr bwMode="auto">
          <a:xfrm>
            <a:off x="1068760" y="2093285"/>
            <a:ext cx="9637340" cy="2563859"/>
            <a:chOff x="192" y="504"/>
            <a:chExt cx="4848" cy="1224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2FA266D4-1D81-45D2-908A-C79C002E9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504"/>
              <a:ext cx="684" cy="1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1" i="1" dirty="0">
                  <a:latin typeface="Tekton" pitchFamily="34" charset="0"/>
                </a:rPr>
                <a:t>     RTL</a:t>
              </a:r>
            </a:p>
            <a:p>
              <a:endParaRPr lang="en-US" altLang="en-US" sz="2400" b="1" i="1" dirty="0">
                <a:latin typeface="Tekton" pitchFamily="34" charset="0"/>
              </a:endParaRPr>
            </a:p>
            <a:p>
              <a:r>
                <a:rPr lang="en-US" altLang="en-US" sz="2400" b="1" dirty="0">
                  <a:latin typeface="Tekton" pitchFamily="34" charset="0"/>
                </a:rPr>
                <a:t>       .</a:t>
              </a:r>
            </a:p>
            <a:p>
              <a:r>
                <a:rPr lang="en-US" altLang="en-US" sz="2400" b="1" dirty="0">
                  <a:latin typeface="Tekton" pitchFamily="34" charset="0"/>
                </a:rPr>
                <a:t>       .</a:t>
              </a:r>
            </a:p>
            <a:p>
              <a:r>
                <a:rPr lang="en-US" altLang="en-US" sz="2400" b="1" dirty="0">
                  <a:latin typeface="Tekton" pitchFamily="34" charset="0"/>
                </a:rPr>
                <a:t> C = A + B</a:t>
              </a:r>
            </a:p>
            <a:p>
              <a:r>
                <a:rPr lang="en-US" altLang="en-US" sz="2400" b="1" dirty="0">
                  <a:latin typeface="Tekton" pitchFamily="34" charset="0"/>
                </a:rPr>
                <a:t>       .</a:t>
              </a: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343006DF-122D-FBD1-5745-0A4E2051F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" y="1270"/>
              <a:ext cx="28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6BA4A5B9-ADDC-5D36-FCFB-5F3A8CDBC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4" y="504"/>
              <a:ext cx="7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1" i="1" dirty="0">
                  <a:latin typeface="Tekton" pitchFamily="34" charset="0"/>
                </a:rPr>
                <a:t>Circuit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C26F999-CB4C-AEFA-747B-851A5BD00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1087"/>
              <a:ext cx="458" cy="420"/>
            </a:xfrm>
            <a:prstGeom prst="rect">
              <a:avLst/>
            </a:prstGeom>
            <a:solidFill>
              <a:srgbClr val="66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2D203EF-2E0C-8EC8-85EE-AA88197175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1206"/>
              <a:ext cx="3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796E3B5A-2233-59D7-EF47-5C1305447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8" y="1416"/>
              <a:ext cx="3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2FCCFA76-503A-BF7F-B4E6-5C1045B7B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008"/>
              <a:ext cx="30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400" b="1">
                  <a:latin typeface="Tekton" pitchFamily="34" charset="0"/>
                </a:rPr>
                <a:t>A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C8AFE4FD-428B-73C5-514D-5CB7060C1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10"/>
              <a:ext cx="2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Tekton" pitchFamily="34" charset="0"/>
                </a:rPr>
                <a:t>B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C669791F-20C1-2926-0DE9-18047489A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6" y="1175"/>
              <a:ext cx="306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1" dirty="0">
                  <a:latin typeface="Tekton" pitchFamily="34" charset="0"/>
                </a:rPr>
                <a:t>“+”</a:t>
              </a: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1BD7A27-47ED-BD61-2AC7-938EF0808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7" y="1276"/>
              <a:ext cx="1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AFB0B49E-9FA4-C2FB-8F67-038863FC3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8" y="1127"/>
              <a:ext cx="2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1">
                  <a:latin typeface="Tekton" pitchFamily="34" charset="0"/>
                </a:rPr>
                <a:t>C</a:t>
              </a: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D1212B2-A4CB-A6D5-9604-B5A362429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1270"/>
              <a:ext cx="28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25C82FE-8356-98B9-D095-5932C07DF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504"/>
              <a:ext cx="6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b="1" i="1" dirty="0">
                  <a:latin typeface="Tekton" pitchFamily="34" charset="0"/>
                </a:rPr>
                <a:t>Array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94AF95F0-E116-104D-7D43-379979102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899"/>
              <a:ext cx="1072" cy="829"/>
            </a:xfrm>
            <a:prstGeom prst="rect">
              <a:avLst/>
            </a:prstGeom>
            <a:solidFill>
              <a:srgbClr val="B1B1B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3D9CC2E9-D3A2-F064-67D8-DFCD39981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1" y="978"/>
              <a:ext cx="886" cy="197"/>
              <a:chOff x="3072" y="1248"/>
              <a:chExt cx="912" cy="240"/>
            </a:xfrm>
          </p:grpSpPr>
          <p:sp>
            <p:nvSpPr>
              <p:cNvPr id="28" name="Rectangle 20">
                <a:extLst>
                  <a:ext uri="{FF2B5EF4-FFF2-40B4-BE49-F238E27FC236}">
                    <a16:creationId xmlns:a16="http://schemas.microsoft.com/office/drawing/2014/main" id="{41CC3BF7-0C26-3D22-E03A-56D644ACED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9" name="Rectangle 21">
                <a:extLst>
                  <a:ext uri="{FF2B5EF4-FFF2-40B4-BE49-F238E27FC236}">
                    <a16:creationId xmlns:a16="http://schemas.microsoft.com/office/drawing/2014/main" id="{9E0FABD5-6228-E7EC-4427-252B6CACF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0" name="Rectangle 22">
                <a:extLst>
                  <a:ext uri="{FF2B5EF4-FFF2-40B4-BE49-F238E27FC236}">
                    <a16:creationId xmlns:a16="http://schemas.microsoft.com/office/drawing/2014/main" id="{786755B1-1D68-82E6-950A-B98340D021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20" name="Group 23">
              <a:extLst>
                <a:ext uri="{FF2B5EF4-FFF2-40B4-BE49-F238E27FC236}">
                  <a16:creationId xmlns:a16="http://schemas.microsoft.com/office/drawing/2014/main" id="{CDC02F25-A336-9922-ADBF-D06AAE1150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1" y="1215"/>
              <a:ext cx="886" cy="197"/>
              <a:chOff x="3072" y="1248"/>
              <a:chExt cx="912" cy="24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F10D801-4AFE-B788-2753-A8016A4271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55159AF-74C1-A646-AD0D-017178B33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660FDDB-0A2D-2CDE-856F-F566F52D2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21" name="Group 27">
              <a:extLst>
                <a:ext uri="{FF2B5EF4-FFF2-40B4-BE49-F238E27FC236}">
                  <a16:creationId xmlns:a16="http://schemas.microsoft.com/office/drawing/2014/main" id="{CB8FCFB2-48B0-FF94-B9CB-766BA52DF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1" y="1452"/>
              <a:ext cx="886" cy="197"/>
              <a:chOff x="3072" y="1248"/>
              <a:chExt cx="912" cy="240"/>
            </a:xfrm>
          </p:grpSpPr>
          <p:sp>
            <p:nvSpPr>
              <p:cNvPr id="22" name="Rectangle 28">
                <a:extLst>
                  <a:ext uri="{FF2B5EF4-FFF2-40B4-BE49-F238E27FC236}">
                    <a16:creationId xmlns:a16="http://schemas.microsoft.com/office/drawing/2014/main" id="{DD734D66-81B1-836B-747A-86D3DBA47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3" name="Rectangle 29">
                <a:extLst>
                  <a:ext uri="{FF2B5EF4-FFF2-40B4-BE49-F238E27FC236}">
                    <a16:creationId xmlns:a16="http://schemas.microsoft.com/office/drawing/2014/main" id="{813AE410-17B8-858E-2C25-6922F22D4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" name="Rectangle 30">
                <a:extLst>
                  <a:ext uri="{FF2B5EF4-FFF2-40B4-BE49-F238E27FC236}">
                    <a16:creationId xmlns:a16="http://schemas.microsoft.com/office/drawing/2014/main" id="{750CA13A-5433-07DD-FAF0-621180848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48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55890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7859</TotalTime>
  <Words>438</Words>
  <Application>Microsoft Office PowerPoint</Application>
  <PresentationFormat>와이드스크린</PresentationFormat>
  <Paragraphs>147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fkGroteskNeue</vt:lpstr>
      <vt:lpstr>Tekton</vt:lpstr>
      <vt:lpstr>나눔스퀘어 네오 Regular</vt:lpstr>
      <vt:lpstr>맑은 고딕</vt:lpstr>
      <vt:lpstr>Arial</vt:lpstr>
      <vt:lpstr>Roboto</vt:lpstr>
      <vt:lpstr>Wingdings</vt:lpstr>
      <vt:lpstr>Office 테마</vt:lpstr>
      <vt:lpstr>ARM Programming</vt:lpstr>
      <vt:lpstr>1. Vivado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Zybo Z7-20 &amp; Zynq-7000 소개</vt:lpstr>
      <vt:lpstr>PowerPoint 프레젠테이션</vt:lpstr>
      <vt:lpstr>PowerPoint 프레젠테이션</vt:lpstr>
      <vt:lpstr>3. FPGA란?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Zynq</dc:title>
  <dc:creator>예빈 문</dc:creator>
  <cp:lastModifiedBy>Seungan Woo</cp:lastModifiedBy>
  <cp:revision>378</cp:revision>
  <dcterms:created xsi:type="dcterms:W3CDTF">2024-09-20T05:42:48Z</dcterms:created>
  <dcterms:modified xsi:type="dcterms:W3CDTF">2026-09-03T13:01:01Z</dcterms:modified>
</cp:coreProperties>
</file>