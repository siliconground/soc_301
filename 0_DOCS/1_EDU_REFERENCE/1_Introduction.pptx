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70" r:id="rId2"/>
    <p:sldId id="277" r:id="rId3"/>
    <p:sldId id="263" r:id="rId4"/>
    <p:sldId id="295" r:id="rId5"/>
    <p:sldId id="296" r:id="rId6"/>
    <p:sldId id="297" r:id="rId7"/>
    <p:sldId id="298" r:id="rId8"/>
    <p:sldId id="301" r:id="rId9"/>
    <p:sldId id="292" r:id="rId10"/>
    <p:sldId id="294" r:id="rId11"/>
    <p:sldId id="302" r:id="rId12"/>
    <p:sldId id="291" r:id="rId13"/>
    <p:sldId id="293" r:id="rId14"/>
    <p:sldId id="303" r:id="rId15"/>
    <p:sldId id="305" r:id="rId16"/>
    <p:sldId id="304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A4D09D44-E933-426A-8F7A-A670F4423266}">
          <p14:sldIdLst>
            <p14:sldId id="270"/>
            <p14:sldId id="277"/>
            <p14:sldId id="263"/>
            <p14:sldId id="295"/>
            <p14:sldId id="296"/>
            <p14:sldId id="297"/>
            <p14:sldId id="298"/>
            <p14:sldId id="301"/>
            <p14:sldId id="292"/>
            <p14:sldId id="294"/>
            <p14:sldId id="302"/>
            <p14:sldId id="291"/>
            <p14:sldId id="293"/>
            <p14:sldId id="303"/>
            <p14:sldId id="305"/>
            <p14:sldId id="3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4" userDrawn="1">
          <p15:clr>
            <a:srgbClr val="A4A3A4"/>
          </p15:clr>
        </p15:guide>
        <p15:guide id="2" pos="257" userDrawn="1">
          <p15:clr>
            <a:srgbClr val="A4A3A4"/>
          </p15:clr>
        </p15:guide>
        <p15:guide id="3" pos="7401" userDrawn="1">
          <p15:clr>
            <a:srgbClr val="A4A3A4"/>
          </p15:clr>
        </p15:guide>
        <p15:guide id="4" orient="horz" pos="411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EBE9"/>
    <a:srgbClr val="1DCAD3"/>
    <a:srgbClr val="147ED1"/>
    <a:srgbClr val="147BD1"/>
    <a:srgbClr val="93DA49"/>
    <a:srgbClr val="FFB71B"/>
    <a:srgbClr val="EA0029"/>
    <a:srgbClr val="00A376"/>
    <a:srgbClr val="D50057"/>
    <a:srgbClr val="FF8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74135" autoAdjust="0"/>
  </p:normalViewPr>
  <p:slideViewPr>
    <p:cSldViewPr snapToGrid="0" showGuides="1">
      <p:cViewPr varScale="1">
        <p:scale>
          <a:sx n="68" d="100"/>
          <a:sy n="68" d="100"/>
        </p:scale>
        <p:origin x="66" y="1236"/>
      </p:cViewPr>
      <p:guideLst>
        <p:guide orient="horz" pos="164"/>
        <p:guide pos="257"/>
        <p:guide pos="7401"/>
        <p:guide orient="horz" pos="411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78" d="100"/>
          <a:sy n="78" d="100"/>
        </p:scale>
        <p:origin x="3966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9FA37033-ED58-7468-B3A7-D86EC993E40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F50E057-5885-7CF0-A566-F1509F15EC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28A9B2-778C-433C-8A06-393197C1381D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C110CC0-26F9-7A19-1D7F-586CF7E94F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30F5FF-528F-49FD-EB3A-E1235211DB5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4A8D64-9144-4D65-95FF-539FB0414D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736622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1B2C73-F33F-494A-BC1B-E1D751896FFE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DF360B-A3AE-4175-B4D3-5B0EB60874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530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6107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83258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EFFD8-1969-ABE8-DD5A-B998D71F1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D2D1FB-4BA5-878C-98FC-67D49DE87D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351C98-3145-BA0B-07A9-02F4B3435C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altLang="ko-KR" b="0" i="0" dirty="0">
              <a:solidFill>
                <a:srgbClr val="171C2D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8B1C56-F0C0-E9AA-CFE6-5E8E766527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14487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9710C-8D37-723D-8764-4FD45397D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14EF3D-E2C0-124A-CF0D-1ECA569370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C0997B4-357B-A33B-1B1B-3C93DCBD3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altLang="ko-KR" b="0" i="0" dirty="0">
              <a:effectLst/>
              <a:latin typeface="fkGroteskNeue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8B3DFC-60D9-39E2-4249-AEB75BD333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4504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445BF-58E7-BF6F-A1C4-FBFDF654E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620572E-77B2-627B-073C-052ECCB4DF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4A54AC7-1E29-F746-DA56-4E6CBDBE8E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35B6D4-C8DF-8F98-F448-8F41EE8350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52888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28F51-59EB-3CF8-7D2E-5824F262A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C4485E-CE6F-8C1F-E125-01FE426B2D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EEC0D96-331D-4321-9C53-DE3028B060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C60241-293F-47A5-E025-5B32AA69A2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45874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21164-9422-83DD-8A61-6AE145EBD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48F1FE5-F68F-D1AE-49AB-8E830D5C7C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8C964E0-9354-C21C-1794-02BBDFF195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1E90A3-D484-4017-1080-535F98FF22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18198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584F1-04DB-9492-4708-32F98E899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164145F-51F7-5E41-31A6-01EA81FA4C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4C4FC18-EB9D-EB1B-4667-BDD4ED09A6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76426B-4E01-1909-6CA9-A212EAAD33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89756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32AD8-BF22-1AD7-37CF-E8BB1AACA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9750C9C-B5AF-9285-CB31-507FF989F6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AFAFE1A-FCC0-6C97-FF2C-C72DDD841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3E2639-5DD2-1036-133B-E9AF1EBF96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5934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41327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3238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39548-CA1D-7699-49B5-D07C85269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B60914-52A3-54A6-7D75-F51105EB2B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4CC094-E867-C096-230E-782643EE94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71931B-8181-167F-A294-DC61BD5AAE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15065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CDBCA-E98D-1FAC-E903-DDDC73D3E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32A8D7-BDB6-1375-F895-26D372A75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8C34A2-7F82-4E11-7B25-CD78FBA21D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9D13E4-703D-8A0C-3DD0-9CEC404E76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26561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B260D-A9D9-A0AF-0639-0271A4DF9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BB7F06-2578-7005-11F9-30DB04A1A3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A107DE-9447-BD16-3818-A80AC056A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DDB9DF-584C-B824-E489-3A7BC476E8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54747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4" Type="http://schemas.openxmlformats.org/officeDocument/2006/relationships/image" Target="../media/image10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2">
            <a:extLst>
              <a:ext uri="{FF2B5EF4-FFF2-40B4-BE49-F238E27FC236}">
                <a16:creationId xmlns:a16="http://schemas.microsoft.com/office/drawing/2014/main" id="{0A2B689D-8977-AD6A-3C69-6D92240020A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7667" y="2898545"/>
            <a:ext cx="282262" cy="75270"/>
          </a:xfrm>
          <a:prstGeom prst="rect">
            <a:avLst/>
          </a:prstGeom>
        </p:spPr>
      </p:pic>
      <p:sp>
        <p:nvSpPr>
          <p:cNvPr id="17" name="Title 32">
            <a:extLst>
              <a:ext uri="{FF2B5EF4-FFF2-40B4-BE49-F238E27FC236}">
                <a16:creationId xmlns:a16="http://schemas.microsoft.com/office/drawing/2014/main" id="{15344361-8496-51B6-866B-094BE72A15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6157" y="3207777"/>
            <a:ext cx="7689344" cy="442446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4000" b="1" spc="-15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marL="0" lvl="0" indent="-228600">
              <a:buFont typeface="Arial" panose="020B0604020202020204" pitchFamily="34" charset="0"/>
            </a:pPr>
            <a:r>
              <a:rPr lang="en-US" dirty="0"/>
              <a:t>PRESENTATION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F993181B-10D9-9297-61FD-4CCD2845F2C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756155" y="5363127"/>
            <a:ext cx="1346965" cy="384815"/>
          </a:xfrm>
          <a:prstGeom prst="rect">
            <a:avLst/>
          </a:prstGeom>
        </p:spPr>
        <p:txBody>
          <a:bodyPr lIns="91440">
            <a:noAutofit/>
          </a:bodyPr>
          <a:lstStyle>
            <a:lvl1pPr marL="0" indent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  <a:defRPr sz="1600" b="0" spc="-15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소속기관명</a:t>
            </a:r>
            <a:endParaRPr lang="en-US" dirty="0"/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45613ED5-364D-70A2-FBDC-67AB945B8EF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56156" y="3959455"/>
            <a:ext cx="7689344" cy="4389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 spc="-15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부제목을 입력해 주세요</a:t>
            </a:r>
            <a:endParaRPr lang="en-US" dirty="0"/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04CD1575-1C7B-CFAB-E034-1CB5FDC6F6D9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2128520" y="5359223"/>
            <a:ext cx="2896815" cy="384815"/>
          </a:xfrm>
          <a:prstGeom prst="rect">
            <a:avLst/>
          </a:prstGeom>
        </p:spPr>
        <p:txBody>
          <a:bodyPr lIns="91440">
            <a:noAutofit/>
          </a:bodyPr>
          <a:lstStyle>
            <a:lvl1pPr marL="0" indent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  <a:defRPr sz="1600" b="0" spc="-15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성함 직함</a:t>
            </a:r>
            <a:endParaRPr lang="en-US" altLang="ko-KR" dirty="0"/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1864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AC6ED3B-B028-3C6A-603A-7FEC1CF2A0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5669026" cy="6858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C47035B-5EFB-CC4F-96A0-93ECD02EFE5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38600" y="1644673"/>
            <a:ext cx="3325603" cy="3678525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6F42CB39-D109-24BB-F6D0-0D47894AC977}"/>
              </a:ext>
            </a:extLst>
          </p:cNvPr>
          <p:cNvSpPr/>
          <p:nvPr userDrawn="1"/>
        </p:nvSpPr>
        <p:spPr>
          <a:xfrm>
            <a:off x="1838848" y="813916"/>
            <a:ext cx="3737345" cy="432080"/>
          </a:xfrm>
          <a:prstGeom prst="rect">
            <a:avLst/>
          </a:prstGeom>
          <a:gradFill flip="none" rotWithShape="1">
            <a:gsLst>
              <a:gs pos="75000">
                <a:srgbClr val="FFFFFF"/>
              </a:gs>
              <a:gs pos="44100">
                <a:srgbClr val="FFFFFF"/>
              </a:gs>
              <a:gs pos="100000">
                <a:schemeClr val="bg1">
                  <a:alpha val="41000"/>
                </a:schemeClr>
              </a:gs>
              <a:gs pos="0">
                <a:schemeClr val="bg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EC3ED8-DCB6-B804-2AC4-6D3105DE41D9}"/>
              </a:ext>
            </a:extLst>
          </p:cNvPr>
          <p:cNvSpPr txBox="1"/>
          <p:nvPr userDrawn="1"/>
        </p:nvSpPr>
        <p:spPr>
          <a:xfrm>
            <a:off x="574525" y="575156"/>
            <a:ext cx="2804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147B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CONTENTS</a:t>
            </a:r>
            <a:endParaRPr lang="ko-KR" altLang="en-US" sz="2800" b="1" dirty="0">
              <a:solidFill>
                <a:srgbClr val="147BD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A57AF3A-A4EB-0B0A-9D18-3723383EF21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036A8999-FDD4-0AD3-598F-C2CAE37EC25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E266866-8E2B-E06F-867C-AA402CB3245B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891" r="52827"/>
          <a:stretch/>
        </p:blipFill>
        <p:spPr>
          <a:xfrm rot="10800000">
            <a:off x="0" y="4991407"/>
            <a:ext cx="2225400" cy="1876097"/>
          </a:xfrm>
          <a:prstGeom prst="rect">
            <a:avLst/>
          </a:prstGeom>
        </p:spPr>
      </p:pic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C6627FCA-972B-4BB6-55FD-CE8B4728242C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E4840E2-5E13-B055-1443-080C8EACE103}"/>
              </a:ext>
            </a:extLst>
          </p:cNvPr>
          <p:cNvSpPr/>
          <p:nvPr userDrawn="1"/>
        </p:nvSpPr>
        <p:spPr>
          <a:xfrm>
            <a:off x="3378685" y="10583"/>
            <a:ext cx="2290341" cy="432080"/>
          </a:xfrm>
          <a:prstGeom prst="rect">
            <a:avLst/>
          </a:prstGeom>
          <a:gradFill flip="none" rotWithShape="1">
            <a:gsLst>
              <a:gs pos="75000">
                <a:srgbClr val="FFFFFF"/>
              </a:gs>
              <a:gs pos="44100">
                <a:srgbClr val="FFFFFF"/>
              </a:gs>
              <a:gs pos="100000">
                <a:schemeClr val="bg1">
                  <a:alpha val="41000"/>
                </a:schemeClr>
              </a:gs>
              <a:gs pos="0">
                <a:schemeClr val="bg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1756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그룹 16">
            <a:extLst>
              <a:ext uri="{FF2B5EF4-FFF2-40B4-BE49-F238E27FC236}">
                <a16:creationId xmlns:a16="http://schemas.microsoft.com/office/drawing/2014/main" id="{7C6BF1BD-65AB-9F9F-BBF8-02D82CB2EF4F}"/>
              </a:ext>
            </a:extLst>
          </p:cNvPr>
          <p:cNvGrpSpPr/>
          <p:nvPr userDrawn="1"/>
        </p:nvGrpSpPr>
        <p:grpSpPr>
          <a:xfrm>
            <a:off x="0" y="20686"/>
            <a:ext cx="12192000" cy="2801257"/>
            <a:chOff x="0" y="20686"/>
            <a:chExt cx="12192000" cy="2801257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9AC185F2-217E-FC8A-F79E-6207FBCF9F9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4341"/>
            <a:stretch/>
          </p:blipFill>
          <p:spPr>
            <a:xfrm>
              <a:off x="0" y="20686"/>
              <a:ext cx="12192000" cy="2694338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8EB42C5-A44E-941C-BD61-D4F388159019}"/>
                </a:ext>
              </a:extLst>
            </p:cNvPr>
            <p:cNvSpPr/>
            <p:nvPr userDrawn="1"/>
          </p:nvSpPr>
          <p:spPr>
            <a:xfrm>
              <a:off x="4749800" y="1357618"/>
              <a:ext cx="3086100" cy="14643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24E42BE8-63C9-AD43-B49A-36AB11AB458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099" r="37743" b="78275"/>
          <a:stretch/>
        </p:blipFill>
        <p:spPr>
          <a:xfrm rot="5400000">
            <a:off x="10192809" y="4800676"/>
            <a:ext cx="3057033" cy="92778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33D89CB-B719-EA94-FA05-4B1D5B5E9E4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987315" y="237245"/>
            <a:ext cx="887350" cy="370320"/>
          </a:xfrm>
          <a:prstGeom prst="rect">
            <a:avLst/>
          </a:prstGeom>
        </p:spPr>
      </p:pic>
      <p:sp>
        <p:nvSpPr>
          <p:cNvPr id="9" name="Rectangle 6">
            <a:extLst>
              <a:ext uri="{FF2B5EF4-FFF2-40B4-BE49-F238E27FC236}">
                <a16:creationId xmlns:a16="http://schemas.microsoft.com/office/drawing/2014/main" id="{C218C5B9-E411-1190-D487-C7629F665803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ABACC5D-C8EA-42F1-CA99-243C0146CA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4373" y="3493142"/>
            <a:ext cx="10744200" cy="1188720"/>
          </a:xfrm>
        </p:spPr>
        <p:txBody>
          <a:bodyPr anchor="t" anchorCtr="0">
            <a:noAutofit/>
          </a:bodyPr>
          <a:lstStyle>
            <a:lvl1pPr>
              <a:lnSpc>
                <a:spcPct val="130000"/>
              </a:lnSpc>
              <a:defRPr sz="2800" b="1" spc="-15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간지 내용을 입력해 주세요</a:t>
            </a:r>
            <a:endParaRPr lang="en-US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4366482A-6BF8-FFC6-47C6-24B31596039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56744" y="4004065"/>
            <a:ext cx="10827604" cy="677797"/>
          </a:xfrm>
          <a:prstGeom prst="rect">
            <a:avLst/>
          </a:prstGeom>
        </p:spPr>
        <p:txBody>
          <a:bodyPr lIns="91440">
            <a:noAutofit/>
          </a:bodyPr>
          <a:lstStyle>
            <a:lvl1pPr marL="0" indent="0">
              <a:lnSpc>
                <a:spcPct val="130000"/>
              </a:lnSpc>
              <a:buNone/>
              <a:defRPr sz="2000" spc="-15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내용을 입력해 주세요</a:t>
            </a:r>
            <a:endParaRPr 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F97B5B7B-C0AC-3577-38A0-8DDD0EE0191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25654" r="57737" b="59319"/>
          <a:stretch/>
        </p:blipFill>
        <p:spPr>
          <a:xfrm>
            <a:off x="379186" y="2976683"/>
            <a:ext cx="2131786" cy="361720"/>
          </a:xfrm>
          <a:prstGeom prst="rect">
            <a:avLst/>
          </a:prstGeom>
        </p:spPr>
      </p:pic>
      <p:sp>
        <p:nvSpPr>
          <p:cNvPr id="3" name="슬라이드 번호 개체 틀 4">
            <a:extLst>
              <a:ext uri="{FF2B5EF4-FFF2-40B4-BE49-F238E27FC236}">
                <a16:creationId xmlns:a16="http://schemas.microsoft.com/office/drawing/2014/main" id="{C0B63F71-8B17-75BA-431B-EC8B15CED286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2798885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레이아웃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6">
            <a:extLst>
              <a:ext uri="{FF2B5EF4-FFF2-40B4-BE49-F238E27FC236}">
                <a16:creationId xmlns:a16="http://schemas.microsoft.com/office/drawing/2014/main" id="{F5FF8531-6602-6B50-A085-CDB91C415011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19DB3ED-6F85-3EFA-BBD1-BABB6B9C68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C01F753-9E37-C8DC-95FF-DF93DF3393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sp>
        <p:nvSpPr>
          <p:cNvPr id="2" name="슬라이드 번호 개체 틀 4">
            <a:extLst>
              <a:ext uri="{FF2B5EF4-FFF2-40B4-BE49-F238E27FC236}">
                <a16:creationId xmlns:a16="http://schemas.microsoft.com/office/drawing/2014/main" id="{6A11B6C2-6061-3E55-077D-166C78B0ED7E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21699753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3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>
            <a:extLst>
              <a:ext uri="{FF2B5EF4-FFF2-40B4-BE49-F238E27FC236}">
                <a16:creationId xmlns:a16="http://schemas.microsoft.com/office/drawing/2014/main" id="{3B83660C-63E0-0CAA-517A-56CE5094A9C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sp>
        <p:nvSpPr>
          <p:cNvPr id="19" name="내용 개체 틀 4">
            <a:extLst>
              <a:ext uri="{FF2B5EF4-FFF2-40B4-BE49-F238E27FC236}">
                <a16:creationId xmlns:a16="http://schemas.microsoft.com/office/drawing/2014/main" id="{58830C0C-E56C-3ECA-C9CA-D786D27DA36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784708" y="1722863"/>
            <a:ext cx="7688263" cy="1662693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본문 내용을 입력해 주세요</a:t>
            </a:r>
          </a:p>
        </p:txBody>
      </p:sp>
      <p:sp>
        <p:nvSpPr>
          <p:cNvPr id="20" name="내용 개체 틀 4">
            <a:extLst>
              <a:ext uri="{FF2B5EF4-FFF2-40B4-BE49-F238E27FC236}">
                <a16:creationId xmlns:a16="http://schemas.microsoft.com/office/drawing/2014/main" id="{DA2D460F-401E-946C-4819-5CAF1DEE37E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38437" y="1265135"/>
            <a:ext cx="7688263" cy="384780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spc="-15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3" name="Rectangle 6">
            <a:extLst>
              <a:ext uri="{FF2B5EF4-FFF2-40B4-BE49-F238E27FC236}">
                <a16:creationId xmlns:a16="http://schemas.microsoft.com/office/drawing/2014/main" id="{064D8154-20AE-1DD0-D610-B24CF84C8A93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87224E7-8403-7591-6B1C-C031BE82A3C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sp>
        <p:nvSpPr>
          <p:cNvPr id="3" name="내용 개체 틀 4">
            <a:extLst>
              <a:ext uri="{FF2B5EF4-FFF2-40B4-BE49-F238E27FC236}">
                <a16:creationId xmlns:a16="http://schemas.microsoft.com/office/drawing/2014/main" id="{E5410BEA-4881-88D1-E737-C10291E66D45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CA10D5E0-0C61-CEB0-1EA0-431E53BBA66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rgbClr val="147C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7F29AE4C-4C6B-01FA-DB71-26C9389E4690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3863817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C3516CDB-E9B6-C141-6F62-385284C8A51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sp>
        <p:nvSpPr>
          <p:cNvPr id="22" name="Rectangle 6">
            <a:extLst>
              <a:ext uri="{FF2B5EF4-FFF2-40B4-BE49-F238E27FC236}">
                <a16:creationId xmlns:a16="http://schemas.microsoft.com/office/drawing/2014/main" id="{CE4883FB-2488-2AEA-9DBF-6062CF83A16C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93A3342-6080-B045-1993-4AED4391366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7B1C25-666F-3850-741D-F8453E0AD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8438" y="1447286"/>
            <a:ext cx="5276562" cy="4862073"/>
          </a:xfrm>
          <a:prstGeom prst="rect">
            <a:avLst/>
          </a:prstGeom>
        </p:spPr>
        <p:txBody>
          <a:bodyPr rIns="182880"/>
          <a:lstStyle>
            <a:lvl1pPr marL="280988" indent="-280988">
              <a:lnSpc>
                <a:spcPct val="130000"/>
              </a:lnSpc>
              <a:buClr>
                <a:srgbClr val="E31837"/>
              </a:buClr>
              <a:defRPr sz="1800" spc="-150"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1pPr>
            <a:lvl2pPr marL="633413" indent="-295275">
              <a:lnSpc>
                <a:spcPct val="130000"/>
              </a:lnSpc>
              <a:buFont typeface="Arial" panose="020B0604020202020204" pitchFamily="34" charset="0"/>
              <a:buChar char="–"/>
              <a:tabLst>
                <a:tab pos="801688" algn="l"/>
              </a:tabLst>
              <a:defRPr sz="1600" spc="-150">
                <a:solidFill>
                  <a:srgbClr val="6A6A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2pPr>
            <a:lvl3pPr marL="858838" indent="-225425">
              <a:lnSpc>
                <a:spcPct val="130000"/>
              </a:lnSpc>
              <a:buFont typeface="Arial" panose="020B0604020202020204" pitchFamily="34" charset="0"/>
              <a:buChar char="–"/>
              <a:defRPr sz="1200" spc="-150">
                <a:solidFill>
                  <a:srgbClr val="6A6A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086742E4-6FBD-24DE-B85E-52C7A29DCB4E}"/>
              </a:ext>
            </a:extLst>
          </p:cNvPr>
          <p:cNvSpPr>
            <a:spLocks noGrp="1"/>
          </p:cNvSpPr>
          <p:nvPr>
            <p:ph sz="half" idx="21"/>
          </p:nvPr>
        </p:nvSpPr>
        <p:spPr>
          <a:xfrm>
            <a:off x="6477000" y="1446772"/>
            <a:ext cx="5276562" cy="4862073"/>
          </a:xfrm>
          <a:prstGeom prst="rect">
            <a:avLst/>
          </a:prstGeom>
        </p:spPr>
        <p:txBody>
          <a:bodyPr rIns="182880"/>
          <a:lstStyle>
            <a:lvl1pPr marL="280988" indent="-280988">
              <a:lnSpc>
                <a:spcPct val="130000"/>
              </a:lnSpc>
              <a:buClr>
                <a:srgbClr val="E31837"/>
              </a:buClr>
              <a:defRPr sz="1800" spc="-150"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1pPr>
            <a:lvl2pPr marL="633413" indent="-295275">
              <a:lnSpc>
                <a:spcPct val="130000"/>
              </a:lnSpc>
              <a:buFont typeface="Arial" panose="020B0604020202020204" pitchFamily="34" charset="0"/>
              <a:buChar char="–"/>
              <a:tabLst>
                <a:tab pos="801688" algn="l"/>
              </a:tabLst>
              <a:defRPr sz="1600" spc="-150">
                <a:solidFill>
                  <a:srgbClr val="6A6A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2pPr>
            <a:lvl3pPr marL="858838" indent="-225425">
              <a:lnSpc>
                <a:spcPct val="130000"/>
              </a:lnSpc>
              <a:buFont typeface="Arial" panose="020B0604020202020204" pitchFamily="34" charset="0"/>
              <a:buChar char="–"/>
              <a:defRPr sz="1200" spc="-150">
                <a:solidFill>
                  <a:srgbClr val="6A6A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6165312-91BD-A6B4-3DB8-FCCC95EBC28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8" name="내용 개체 틀 4">
            <a:extLst>
              <a:ext uri="{FF2B5EF4-FFF2-40B4-BE49-F238E27FC236}">
                <a16:creationId xmlns:a16="http://schemas.microsoft.com/office/drawing/2014/main" id="{443307DC-A9A4-0AF1-431B-CE8D866C6F0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rgbClr val="147C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EACB026E-116D-A154-5B23-D99661FC4A7B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3151408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 구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59581B5-AD61-C855-0268-F70136A9FC8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5707089-CB6C-150C-BF3E-38E3E399EA9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33D89CB-B719-EA94-FA05-4B1D5B5E9E4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987316" y="237245"/>
            <a:ext cx="887348" cy="370320"/>
          </a:xfrm>
          <a:prstGeom prst="rect">
            <a:avLst/>
          </a:prstGeom>
        </p:spPr>
      </p:pic>
      <p:sp>
        <p:nvSpPr>
          <p:cNvPr id="9" name="Rectangle 6">
            <a:extLst>
              <a:ext uri="{FF2B5EF4-FFF2-40B4-BE49-F238E27FC236}">
                <a16:creationId xmlns:a16="http://schemas.microsoft.com/office/drawing/2014/main" id="{C218C5B9-E411-1190-D487-C7629F665803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cdtText Placeholder 12 Id13">
            <a:extLst>
              <a:ext uri="{FF2B5EF4-FFF2-40B4-BE49-F238E27FC236}">
                <a16:creationId xmlns:a16="http://schemas.microsoft.com/office/drawing/2014/main" id="{AAF3BF8F-EA23-F148-B484-C055AFAA6127}"/>
              </a:ext>
            </a:extLst>
          </p:cNvPr>
          <p:cNvSpPr>
            <a:spLocks noGrp="1"/>
          </p:cNvSpPr>
          <p:nvPr>
            <p:ph type="body" sz="quarter" idx="14" hasCustomPrompt="1"/>
            <p:custDataLst>
              <p:tags r:id="rId1"/>
            </p:custDataLst>
          </p:nvPr>
        </p:nvSpPr>
        <p:spPr bwMode="auto">
          <a:xfrm>
            <a:off x="4864100" y="1663814"/>
            <a:ext cx="7327900" cy="3922726"/>
          </a:xfrm>
          <a:solidFill>
            <a:srgbClr val="EBEBE9"/>
          </a:solidFill>
        </p:spPr>
        <p:txBody>
          <a:bodyPr lIns="288000" tIns="252000" rIns="576000" bIns="252000"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Arial" pitchFamily="34" charset="0"/>
              <a:buNone/>
              <a:tabLst>
                <a:tab pos="5356720" algn="r"/>
              </a:tabLst>
              <a:defRPr sz="160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179910" indent="-17991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tabLst>
                <a:tab pos="5356720" algn="r"/>
              </a:tabLst>
              <a:defRPr sz="1400" b="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7991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800" b="1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3pPr>
            <a:lvl4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4pPr>
            <a:lvl5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1" baseline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5pPr>
            <a:lvl6pPr marL="360183" indent="-180885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b="1"/>
            </a:lvl6pPr>
          </a:lstStyle>
          <a:p>
            <a:pPr lvl="0"/>
            <a:r>
              <a:rPr lang="ko-KR" altLang="en-US" noProof="0" dirty="0"/>
              <a:t>내용을 입력해 주세요</a:t>
            </a:r>
            <a:endParaRPr lang="en-US" altLang="ko-KR" noProof="0" dirty="0"/>
          </a:p>
          <a:p>
            <a:pPr lvl="1"/>
            <a:r>
              <a:rPr lang="ko-KR" altLang="en-US" noProof="0" dirty="0"/>
              <a:t>내용을 입력해 주세요</a:t>
            </a:r>
            <a:endParaRPr lang="en-US" altLang="ko-KR" noProof="0" dirty="0"/>
          </a:p>
        </p:txBody>
      </p:sp>
      <p:sp>
        <p:nvSpPr>
          <p:cNvPr id="21" name="Bildplatzhalter 7">
            <a:extLst>
              <a:ext uri="{FF2B5EF4-FFF2-40B4-BE49-F238E27FC236}">
                <a16:creationId xmlns:a16="http://schemas.microsoft.com/office/drawing/2014/main" id="{8E616DC4-24DA-D652-DA34-FA51D618129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87400" y="1663814"/>
            <a:ext cx="3724650" cy="3922726"/>
          </a:xfrm>
        </p:spPr>
        <p:txBody>
          <a:bodyPr tIns="1800000">
            <a:normAutofit/>
          </a:bodyPr>
          <a:lstStyle>
            <a:lvl1pPr marL="0" indent="0" algn="ctr">
              <a:buNone/>
              <a:defRPr lang="en-US" sz="1800" noProof="0" dirty="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 dirty="0"/>
              <a:t>이미지를 추가해 주세요</a:t>
            </a:r>
            <a:endParaRPr lang="en-US" noProof="0" dirty="0"/>
          </a:p>
        </p:txBody>
      </p:sp>
      <p:sp>
        <p:nvSpPr>
          <p:cNvPr id="3" name="내용 개체 틀 4">
            <a:extLst>
              <a:ext uri="{FF2B5EF4-FFF2-40B4-BE49-F238E27FC236}">
                <a16:creationId xmlns:a16="http://schemas.microsoft.com/office/drawing/2014/main" id="{C9CFBB3B-8459-B072-CE35-DD44739A71F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4" name="내용 개체 틀 4">
            <a:extLst>
              <a:ext uri="{FF2B5EF4-FFF2-40B4-BE49-F238E27FC236}">
                <a16:creationId xmlns:a16="http://schemas.microsoft.com/office/drawing/2014/main" id="{43239AF0-F814-1FD7-257B-DDBBDB114EBC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rgbClr val="147C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6B8DCC5C-A8F6-8B61-A136-3FE8CE48A16C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15371336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 구역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C3516CDB-E9B6-C141-6F62-385284C8A51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sp>
        <p:nvSpPr>
          <p:cNvPr id="22" name="Rectangle 6">
            <a:extLst>
              <a:ext uri="{FF2B5EF4-FFF2-40B4-BE49-F238E27FC236}">
                <a16:creationId xmlns:a16="http://schemas.microsoft.com/office/drawing/2014/main" id="{CE4883FB-2488-2AEA-9DBF-6062CF83A16C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93A3342-6080-B045-1993-4AED4391366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sp>
        <p:nvSpPr>
          <p:cNvPr id="5" name="Bildplatzhalter 7">
            <a:extLst>
              <a:ext uri="{FF2B5EF4-FFF2-40B4-BE49-F238E27FC236}">
                <a16:creationId xmlns:a16="http://schemas.microsoft.com/office/drawing/2014/main" id="{D85258F4-62CE-F16F-9645-FF41CDB1D15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87400" y="1676514"/>
            <a:ext cx="3724650" cy="3910026"/>
          </a:xfrm>
        </p:spPr>
        <p:txBody>
          <a:bodyPr tIns="1800000" anchor="t">
            <a:normAutofit/>
          </a:bodyPr>
          <a:lstStyle>
            <a:lvl1pPr marL="0" indent="0" algn="ctr">
              <a:buNone/>
              <a:defRPr lang="en-US" sz="1800" noProof="0" dirty="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 dirty="0"/>
              <a:t>이미지를 추가해 주세요</a:t>
            </a:r>
            <a:endParaRPr lang="en-US" noProof="0" dirty="0"/>
          </a:p>
        </p:txBody>
      </p:sp>
      <p:sp>
        <p:nvSpPr>
          <p:cNvPr id="6" name="내용 개체 틀 4">
            <a:extLst>
              <a:ext uri="{FF2B5EF4-FFF2-40B4-BE49-F238E27FC236}">
                <a16:creationId xmlns:a16="http://schemas.microsoft.com/office/drawing/2014/main" id="{BCDC8753-1F35-1528-64B1-335591BD4AA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7" name="내용 개체 틀 4">
            <a:extLst>
              <a:ext uri="{FF2B5EF4-FFF2-40B4-BE49-F238E27FC236}">
                <a16:creationId xmlns:a16="http://schemas.microsoft.com/office/drawing/2014/main" id="{98D4D303-C8FF-C353-4FA5-2C610350C5A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rgbClr val="147C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8" name="cdtText Placeholder 12 Id13">
            <a:extLst>
              <a:ext uri="{FF2B5EF4-FFF2-40B4-BE49-F238E27FC236}">
                <a16:creationId xmlns:a16="http://schemas.microsoft.com/office/drawing/2014/main" id="{05432AFD-A799-FEA4-2069-2B09A5AC6813}"/>
              </a:ext>
            </a:extLst>
          </p:cNvPr>
          <p:cNvSpPr>
            <a:spLocks noGrp="1"/>
          </p:cNvSpPr>
          <p:nvPr>
            <p:ph type="body" sz="quarter" idx="21" hasCustomPrompt="1"/>
            <p:custDataLst>
              <p:tags r:id="rId1"/>
            </p:custDataLst>
          </p:nvPr>
        </p:nvSpPr>
        <p:spPr bwMode="auto">
          <a:xfrm>
            <a:off x="5032972" y="3821354"/>
            <a:ext cx="6244627" cy="1765186"/>
          </a:xfrm>
          <a:solidFill>
            <a:srgbClr val="EBEBE9"/>
          </a:solidFill>
        </p:spPr>
        <p:txBody>
          <a:bodyPr lIns="288000" tIns="252000" rIns="576000" bIns="252000"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Arial" pitchFamily="34" charset="0"/>
              <a:buNone/>
              <a:tabLst>
                <a:tab pos="5356720" algn="r"/>
              </a:tabLst>
              <a:defRPr sz="160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179910" indent="-17991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tabLst>
                <a:tab pos="5356720" algn="r"/>
              </a:tabLst>
              <a:defRPr sz="1400" b="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7991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800" b="1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3pPr>
            <a:lvl4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4pPr>
            <a:lvl5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1" baseline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5pPr>
            <a:lvl6pPr marL="360183" indent="-180885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b="1"/>
            </a:lvl6pPr>
          </a:lstStyle>
          <a:p>
            <a:pPr lvl="0"/>
            <a:r>
              <a:rPr lang="ko-KR" altLang="en-US" noProof="0" dirty="0"/>
              <a:t>내용을 입력해 주세요</a:t>
            </a:r>
            <a:endParaRPr lang="en-US" altLang="ko-KR" noProof="0" dirty="0"/>
          </a:p>
          <a:p>
            <a:pPr lvl="1"/>
            <a:r>
              <a:rPr lang="ko-KR" altLang="en-US" noProof="0" dirty="0"/>
              <a:t>내용을 입력해 주세요</a:t>
            </a:r>
            <a:endParaRPr lang="en-US" altLang="ko-KR" noProof="0" dirty="0"/>
          </a:p>
        </p:txBody>
      </p:sp>
      <p:sp>
        <p:nvSpPr>
          <p:cNvPr id="9" name="cdtText Placeholder 12 Id13">
            <a:extLst>
              <a:ext uri="{FF2B5EF4-FFF2-40B4-BE49-F238E27FC236}">
                <a16:creationId xmlns:a16="http://schemas.microsoft.com/office/drawing/2014/main" id="{44EF8955-81F0-73C3-DF88-D85D87ED57DE}"/>
              </a:ext>
            </a:extLst>
          </p:cNvPr>
          <p:cNvSpPr>
            <a:spLocks noGrp="1"/>
          </p:cNvSpPr>
          <p:nvPr>
            <p:ph type="body" sz="quarter" idx="22" hasCustomPrompt="1"/>
            <p:custDataLst>
              <p:tags r:id="rId2"/>
            </p:custDataLst>
          </p:nvPr>
        </p:nvSpPr>
        <p:spPr bwMode="auto">
          <a:xfrm>
            <a:off x="5032973" y="1663814"/>
            <a:ext cx="6244627" cy="1765186"/>
          </a:xfrm>
          <a:solidFill>
            <a:srgbClr val="EBEBE9"/>
          </a:solidFill>
        </p:spPr>
        <p:txBody>
          <a:bodyPr lIns="288000" tIns="252000" rIns="576000" bIns="252000"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Arial" pitchFamily="34" charset="0"/>
              <a:buNone/>
              <a:tabLst>
                <a:tab pos="5356720" algn="r"/>
              </a:tabLst>
              <a:defRPr sz="160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179910" indent="-17991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tabLst>
                <a:tab pos="5356720" algn="r"/>
              </a:tabLst>
              <a:defRPr sz="1400" b="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7991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800" b="1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3pPr>
            <a:lvl4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4pPr>
            <a:lvl5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1" baseline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5pPr>
            <a:lvl6pPr marL="360183" indent="-180885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b="1"/>
            </a:lvl6pPr>
          </a:lstStyle>
          <a:p>
            <a:pPr lvl="0"/>
            <a:r>
              <a:rPr lang="ko-KR" altLang="en-US" noProof="0" dirty="0"/>
              <a:t>내용을 입력해 주세요</a:t>
            </a:r>
            <a:endParaRPr lang="en-US" altLang="ko-KR" noProof="0" dirty="0"/>
          </a:p>
          <a:p>
            <a:pPr lvl="1"/>
            <a:r>
              <a:rPr lang="ko-KR" altLang="en-US" noProof="0" dirty="0"/>
              <a:t>내용을 입력해 주세요</a:t>
            </a:r>
            <a:endParaRPr lang="en-US" altLang="ko-KR" noProof="0" dirty="0"/>
          </a:p>
        </p:txBody>
      </p:sp>
      <p:sp>
        <p:nvSpPr>
          <p:cNvPr id="4" name="슬라이드 번호 개체 틀 4">
            <a:extLst>
              <a:ext uri="{FF2B5EF4-FFF2-40B4-BE49-F238E27FC236}">
                <a16:creationId xmlns:a16="http://schemas.microsoft.com/office/drawing/2014/main" id="{4A7882DE-8F0D-5B26-23EB-0FCFD6159BE5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135633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">
    <p:bg>
      <p:bgPr>
        <a:gradFill>
          <a:gsLst>
            <a:gs pos="0">
              <a:srgbClr val="147BD1"/>
            </a:gs>
            <a:gs pos="100000">
              <a:srgbClr val="1DCAD3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D64FA5-CDB1-F994-65BE-0BE3473A03F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808505" y="3704117"/>
            <a:ext cx="2383495" cy="3153883"/>
          </a:xfrm>
          <a:prstGeom prst="rect">
            <a:avLst/>
          </a:prstGeom>
        </p:spPr>
      </p:pic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46002F36-FFAD-B4D5-4A66-5C0A43DC4642}"/>
              </a:ext>
            </a:extLst>
          </p:cNvPr>
          <p:cNvSpPr txBox="1">
            <a:spLocks/>
          </p:cNvSpPr>
          <p:nvPr userDrawn="1"/>
        </p:nvSpPr>
        <p:spPr>
          <a:xfrm>
            <a:off x="93154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B953AF5-74C5-EA32-15A6-A2A81C8D990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39" t="27780"/>
          <a:stretch/>
        </p:blipFill>
        <p:spPr>
          <a:xfrm>
            <a:off x="0" y="0"/>
            <a:ext cx="4379984" cy="2614021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C7CAAF6-0D81-0DCB-296D-A9E665D79F7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7" name="내용 개체 틀 4">
            <a:extLst>
              <a:ext uri="{FF2B5EF4-FFF2-40B4-BE49-F238E27FC236}">
                <a16:creationId xmlns:a16="http://schemas.microsoft.com/office/drawing/2014/main" id="{ED072FD4-8691-B58C-84BF-7070B55A96C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3" name="슬라이드 번호 개체 틀 4">
            <a:extLst>
              <a:ext uri="{FF2B5EF4-FFF2-40B4-BE49-F238E27FC236}">
                <a16:creationId xmlns:a16="http://schemas.microsoft.com/office/drawing/2014/main" id="{B47B13F2-BD53-D01C-9069-5413AEC44D5B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3835760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강조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64538ECC-A452-5DE0-2C54-865A434A94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06" r="493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47BD1"/>
              </a:gs>
              <a:gs pos="100000">
                <a:srgbClr val="1DCAD3"/>
              </a:gs>
            </a:gsLst>
            <a:lin ang="0" scaled="0"/>
          </a:gradFill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2B7B3518-26CB-355D-7DB5-1B211E753BC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7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내용 개체 틀 4">
            <a:extLst>
              <a:ext uri="{FF2B5EF4-FFF2-40B4-BE49-F238E27FC236}">
                <a16:creationId xmlns:a16="http://schemas.microsoft.com/office/drawing/2014/main" id="{A4E287ED-A70F-A637-2193-59961888DCC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12" name="내용 개체 틀 4">
            <a:extLst>
              <a:ext uri="{FF2B5EF4-FFF2-40B4-BE49-F238E27FC236}">
                <a16:creationId xmlns:a16="http://schemas.microsoft.com/office/drawing/2014/main" id="{64C8EF82-2A0B-E9D3-036C-2352D68DEE6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3" name="슬라이드 번호 개체 틀 4">
            <a:extLst>
              <a:ext uri="{FF2B5EF4-FFF2-40B4-BE49-F238E27FC236}">
                <a16:creationId xmlns:a16="http://schemas.microsoft.com/office/drawing/2014/main" id="{94BC1758-BCD0-EFDE-D40D-3328166423D0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5242566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강조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64538ECC-A452-5DE0-2C54-865A434A94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0" r="5270"/>
          <a:stretch/>
        </p:blipFill>
        <p:spPr>
          <a:xfrm>
            <a:off x="11860" y="0"/>
            <a:ext cx="12168280" cy="6858000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2B7B3518-26CB-355D-7DB5-1B211E753BC1}"/>
              </a:ext>
            </a:extLst>
          </p:cNvPr>
          <p:cNvSpPr/>
          <p:nvPr userDrawn="1"/>
        </p:nvSpPr>
        <p:spPr>
          <a:xfrm>
            <a:off x="-11860" y="0"/>
            <a:ext cx="12192000" cy="6858000"/>
          </a:xfrm>
          <a:prstGeom prst="rect">
            <a:avLst/>
          </a:prstGeom>
          <a:solidFill>
            <a:schemeClr val="dk1">
              <a:alpha val="7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46002F36-FFAD-B4D5-4A66-5C0A43DC4642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  <p:sp>
        <p:nvSpPr>
          <p:cNvPr id="11" name="내용 개체 틀 4">
            <a:extLst>
              <a:ext uri="{FF2B5EF4-FFF2-40B4-BE49-F238E27FC236}">
                <a16:creationId xmlns:a16="http://schemas.microsoft.com/office/drawing/2014/main" id="{A4E287ED-A70F-A637-2193-59961888DCC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12" name="내용 개체 틀 4">
            <a:extLst>
              <a:ext uri="{FF2B5EF4-FFF2-40B4-BE49-F238E27FC236}">
                <a16:creationId xmlns:a16="http://schemas.microsoft.com/office/drawing/2014/main" id="{64C8EF82-2A0B-E9D3-036C-2352D68DEE6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</p:spTree>
    <p:extLst>
      <p:ext uri="{BB962C8B-B14F-4D97-AF65-F5344CB8AC3E}">
        <p14:creationId xmlns:p14="http://schemas.microsoft.com/office/powerpoint/2010/main" val="1331130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FC620FB5-B821-DD9F-5C14-6B031E01698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051" b="68742"/>
          <a:stretch/>
        </p:blipFill>
        <p:spPr>
          <a:xfrm rot="5400000">
            <a:off x="-347201" y="272317"/>
            <a:ext cx="1831557" cy="1185564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83EA565-BB15-5BF3-4563-4F89DBE99D3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7204" r="-16" b="-894"/>
          <a:stretch/>
        </p:blipFill>
        <p:spPr>
          <a:xfrm>
            <a:off x="0" y="43545"/>
            <a:ext cx="1875100" cy="3151065"/>
          </a:xfrm>
          <a:prstGeom prst="rect">
            <a:avLst/>
          </a:prstGeom>
        </p:spPr>
      </p:pic>
      <p:sp>
        <p:nvSpPr>
          <p:cNvPr id="15" name="Rectangle 6">
            <a:extLst>
              <a:ext uri="{FF2B5EF4-FFF2-40B4-BE49-F238E27FC236}">
                <a16:creationId xmlns:a16="http://schemas.microsoft.com/office/drawing/2014/main" id="{4F2F3662-5803-F093-0DD0-028CD7271654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AEF28D-8886-7A1A-E40A-67F610580BDE}"/>
              </a:ext>
            </a:extLst>
          </p:cNvPr>
          <p:cNvSpPr txBox="1"/>
          <p:nvPr userDrawn="1"/>
        </p:nvSpPr>
        <p:spPr>
          <a:xfrm>
            <a:off x="779685" y="2899820"/>
            <a:ext cx="16144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spc="-1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Thank you.</a:t>
            </a:r>
            <a:endParaRPr lang="ko-KR" altLang="en-US" sz="2400" b="1" spc="-15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6" name="Graphic 12">
            <a:extLst>
              <a:ext uri="{FF2B5EF4-FFF2-40B4-BE49-F238E27FC236}">
                <a16:creationId xmlns:a16="http://schemas.microsoft.com/office/drawing/2014/main" id="{ABF6BE7C-7BEB-9089-D842-E1FB93808AF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9618" y="2663329"/>
            <a:ext cx="282262" cy="7527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3062AFAA-FF6C-78BB-9FC5-DFD9466E0DA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0083" y="1514526"/>
            <a:ext cx="2965031" cy="327968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D4D2F14-B0D6-8A92-0A8F-64B1949F8C4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739" t="12615"/>
          <a:stretch/>
        </p:blipFill>
        <p:spPr>
          <a:xfrm rot="10800000">
            <a:off x="10342616" y="3480709"/>
            <a:ext cx="1802600" cy="3333749"/>
          </a:xfrm>
          <a:prstGeom prst="rect">
            <a:avLst/>
          </a:prstGeom>
        </p:spPr>
      </p:pic>
      <p:sp>
        <p:nvSpPr>
          <p:cNvPr id="3" name="슬라이드 번호 개체 틀 4">
            <a:extLst>
              <a:ext uri="{FF2B5EF4-FFF2-40B4-BE49-F238E27FC236}">
                <a16:creationId xmlns:a16="http://schemas.microsoft.com/office/drawing/2014/main" id="{5C4E2205-6958-43AE-E6B8-60D61D53E91B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2840066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217EF33-D600-989E-8A91-749A5D900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441B4B-84BC-1AF8-3E52-17240F7446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EB88D-BBE7-6387-84B5-6EE90D94E1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BEC200-83C1-4365-A99F-86FD10E76130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6A1E2B-77FA-7B7E-80BF-AD04C6721F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93BC41-64C4-A681-82AC-FD8DCB42FA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36D7E8-4E64-4D6D-BDDF-219C8CEEFBA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153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51" r:id="rId2"/>
    <p:sldLayoutId id="2147483661" r:id="rId3"/>
    <p:sldLayoutId id="2147483670" r:id="rId4"/>
    <p:sldLayoutId id="2147483650" r:id="rId5"/>
    <p:sldLayoutId id="2147483669" r:id="rId6"/>
    <p:sldLayoutId id="2147483668" r:id="rId7"/>
    <p:sldLayoutId id="2147483666" r:id="rId8"/>
    <p:sldLayoutId id="2147483663" r:id="rId9"/>
    <p:sldLayoutId id="2147483662" r:id="rId10"/>
    <p:sldLayoutId id="2147483671" r:id="rId11"/>
    <p:sldLayoutId id="2147483659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www.xilinx.com/support/download/index.html/content/xilinx/en/downloadNav/vivado-design-tools/2024-2.html" TargetMode="External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digilent.com/reference/programmable-logic/zybo-z7/reference-manual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9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89591-F99B-E9A0-5755-41D660F30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155" y="3207777"/>
            <a:ext cx="7689344" cy="442446"/>
          </a:xfrm>
        </p:spPr>
        <p:txBody>
          <a:bodyPr/>
          <a:lstStyle/>
          <a:p>
            <a:r>
              <a:rPr lang="en-US" altLang="ko-KR" sz="3600" b="1">
                <a:latin typeface="+mj-lt"/>
              </a:rPr>
              <a:t>SOC301 | AR</a:t>
            </a:r>
            <a:r>
              <a:rPr lang="en-US" altLang="ko-KR" sz="3600">
                <a:latin typeface="+mj-lt"/>
              </a:rPr>
              <a:t>M </a:t>
            </a:r>
            <a:r>
              <a:rPr lang="en-US" altLang="ko-KR" sz="3600" dirty="0">
                <a:latin typeface="+mj-lt"/>
              </a:rPr>
              <a:t>Programming</a:t>
            </a:r>
            <a:endParaRPr lang="ko-KR" altLang="en-US" b="1" dirty="0">
              <a:latin typeface="+mj-lt"/>
            </a:endParaRPr>
          </a:p>
        </p:txBody>
      </p:sp>
      <p:sp>
        <p:nvSpPr>
          <p:cNvPr id="4" name="부제목 3">
            <a:extLst>
              <a:ext uri="{FF2B5EF4-FFF2-40B4-BE49-F238E27FC236}">
                <a16:creationId xmlns:a16="http://schemas.microsoft.com/office/drawing/2014/main" id="{A04821A0-9121-CBE3-449D-14D5A206EF7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1. Introduction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C9E9DE89-87D7-4522-9EED-A68B85E427B3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463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FBCBB8-2819-5DA9-8FE6-2AFB7F981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055" y="3429000"/>
            <a:ext cx="10744200" cy="1188720"/>
          </a:xfrm>
        </p:spPr>
        <p:txBody>
          <a:bodyPr/>
          <a:lstStyle/>
          <a:p>
            <a:pPr>
              <a:lnSpc>
                <a:spcPct val="130000"/>
              </a:lnSpc>
            </a:pPr>
            <a:r>
              <a:rPr lang="en-US" altLang="ko-KR" sz="2800" b="1" dirty="0">
                <a:latin typeface="맑은 고딕" panose="020B0503020000020004" pitchFamily="50" charset="-127"/>
                <a:ea typeface="맑은 고딕" panose="020B0503020000020004" pitchFamily="50" charset="-127"/>
                <a:cs typeface="KoPubWorld돋움체 Bold" panose="00000800000000000000" pitchFamily="2" charset="-127"/>
              </a:rPr>
              <a:t>1. </a:t>
            </a:r>
            <a:r>
              <a:rPr lang="en-US" altLang="ko-KR" sz="2800" b="1" dirty="0" err="1">
                <a:latin typeface="맑은 고딕" panose="020B0503020000020004" pitchFamily="50" charset="-127"/>
                <a:ea typeface="맑은 고딕" panose="020B0503020000020004" pitchFamily="50" charset="-127"/>
                <a:cs typeface="KoPubWorld돋움체 Bold" panose="00000800000000000000" pitchFamily="2" charset="-127"/>
              </a:rPr>
              <a:t>Vivado</a:t>
            </a:r>
            <a:r>
              <a:rPr lang="en-US" altLang="ko-KR" sz="2800" b="1" dirty="0">
                <a:latin typeface="맑은 고딕" panose="020B0503020000020004" pitchFamily="50" charset="-127"/>
                <a:ea typeface="맑은 고딕" panose="020B0503020000020004" pitchFamily="50" charset="-127"/>
                <a:cs typeface="KoPubWorld돋움체 Bold" panose="00000800000000000000" pitchFamily="2" charset="-127"/>
              </a:rPr>
              <a:t> </a:t>
            </a:r>
            <a:r>
              <a:rPr lang="ko-KR" altLang="en-US" sz="2800" b="1" dirty="0">
                <a:latin typeface="맑은 고딕" panose="020B0503020000020004" pitchFamily="50" charset="-127"/>
                <a:ea typeface="맑은 고딕" panose="020B0503020000020004" pitchFamily="50" charset="-127"/>
                <a:cs typeface="KoPubWorld돋움체 Bold" panose="00000800000000000000" pitchFamily="2" charset="-127"/>
              </a:rPr>
              <a:t>설치</a:t>
            </a:r>
            <a:endParaRPr lang="ko-KR" altLang="en-US" b="1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F76EE0-3CE6-9DAA-A391-F36D6F6909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20426" y="4023360"/>
            <a:ext cx="10827604" cy="677797"/>
          </a:xfr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8521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7C3D61FA-702B-57BA-9FDE-A1E5980C979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CA" dirty="0"/>
              <a:t>AMD </a:t>
            </a:r>
            <a:r>
              <a:rPr lang="ko-KR" altLang="en-US" dirty="0"/>
              <a:t>계정 만들고 </a:t>
            </a:r>
            <a:r>
              <a:rPr lang="en-CA" altLang="ko-KR" dirty="0"/>
              <a:t>download</a:t>
            </a:r>
            <a:endParaRPr lang="en-CA" dirty="0"/>
          </a:p>
          <a:p>
            <a:endParaRPr lang="ko-KR" altLang="en-US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572A42D3-6F06-D064-AC1F-E8E405CE914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A06D66-BFD9-0CC7-50A6-85A417088E43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147BD1"/>
                </a:solidFill>
              </a:rPr>
              <a:t>1. </a:t>
            </a:r>
            <a:r>
              <a:rPr lang="en-US" altLang="ko-KR" b="1" dirty="0" err="1">
                <a:solidFill>
                  <a:srgbClr val="147BD1"/>
                </a:solidFill>
              </a:rPr>
              <a:t>Vivado</a:t>
            </a:r>
            <a:r>
              <a:rPr lang="en-US" altLang="ko-KR" b="1" dirty="0">
                <a:solidFill>
                  <a:srgbClr val="147BD1"/>
                </a:solidFill>
              </a:rPr>
              <a:t> </a:t>
            </a:r>
            <a:r>
              <a:rPr lang="ko-KR" altLang="en-US" b="1" dirty="0">
                <a:solidFill>
                  <a:srgbClr val="147BD1"/>
                </a:solidFill>
              </a:rPr>
              <a:t>설치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E6AFF69-DAA3-9A71-C5A7-C3ED56A844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705"/>
          <a:stretch/>
        </p:blipFill>
        <p:spPr>
          <a:xfrm>
            <a:off x="1156666" y="2209346"/>
            <a:ext cx="5233495" cy="288652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85DEE17-51CE-FBA5-B6B9-8FE6B4A90A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7305" y="3385556"/>
            <a:ext cx="5081677" cy="32441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6BB4A5E-6EEA-58ED-8008-621D7D184109}"/>
              </a:ext>
            </a:extLst>
          </p:cNvPr>
          <p:cNvSpPr txBox="1"/>
          <p:nvPr/>
        </p:nvSpPr>
        <p:spPr bwMode="auto">
          <a:xfrm>
            <a:off x="2708744" y="5837307"/>
            <a:ext cx="2349531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  <a:scene3d>
              <a:camera prst="orthographicFront"/>
              <a:lightRig rig="threePt" dir="t"/>
            </a:scene3d>
            <a:sp3d>
              <a:bevelT w="0"/>
            </a:sp3d>
          </a:bodyPr>
          <a:lstStyle/>
          <a:p>
            <a:pPr algn="ctr"/>
            <a:r>
              <a:rPr lang="ko-KR" altLang="en-US" dirty="0"/>
              <a:t>하단에서</a:t>
            </a:r>
            <a:endParaRPr lang="en-US" altLang="ko-KR" dirty="0"/>
          </a:p>
          <a:p>
            <a:r>
              <a:rPr lang="en-US" altLang="ko-KR" dirty="0"/>
              <a:t>Windows </a:t>
            </a:r>
            <a:r>
              <a:rPr lang="ko-KR" altLang="en-US" dirty="0"/>
              <a:t>버전 설치</a:t>
            </a:r>
            <a:endParaRPr lang="en-CA" dirty="0"/>
          </a:p>
        </p:txBody>
      </p:sp>
      <p:sp>
        <p:nvSpPr>
          <p:cNvPr id="11" name="화살표: 오른쪽 10">
            <a:extLst>
              <a:ext uri="{FF2B5EF4-FFF2-40B4-BE49-F238E27FC236}">
                <a16:creationId xmlns:a16="http://schemas.microsoft.com/office/drawing/2014/main" id="{B82495BD-30D2-6618-347F-313D9D9BE6A7}"/>
              </a:ext>
            </a:extLst>
          </p:cNvPr>
          <p:cNvSpPr/>
          <p:nvPr/>
        </p:nvSpPr>
        <p:spPr>
          <a:xfrm rot="5400000">
            <a:off x="3595478" y="5289344"/>
            <a:ext cx="576064" cy="412701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9AB1B115-DFFC-DCE0-A520-7375A6B23AA2}"/>
              </a:ext>
            </a:extLst>
          </p:cNvPr>
          <p:cNvSpPr/>
          <p:nvPr/>
        </p:nvSpPr>
        <p:spPr>
          <a:xfrm>
            <a:off x="5655128" y="4784036"/>
            <a:ext cx="4846033" cy="497390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C0A631A6-696C-D2B4-64ED-EFCD4C8D577F}"/>
              </a:ext>
            </a:extLst>
          </p:cNvPr>
          <p:cNvSpPr/>
          <p:nvPr/>
        </p:nvSpPr>
        <p:spPr>
          <a:xfrm>
            <a:off x="1156666" y="3283439"/>
            <a:ext cx="2900973" cy="389793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내용 개체 틀 3">
            <a:extLst>
              <a:ext uri="{FF2B5EF4-FFF2-40B4-BE49-F238E27FC236}">
                <a16:creationId xmlns:a16="http://schemas.microsoft.com/office/drawing/2014/main" id="{17453080-3488-351C-996D-4561C67668C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84708" y="1722863"/>
            <a:ext cx="8406917" cy="1662693"/>
          </a:xfrm>
        </p:spPr>
        <p:txBody>
          <a:bodyPr>
            <a:normAutofit/>
          </a:bodyPr>
          <a:lstStyle/>
          <a:p>
            <a:pPr marL="285750" indent="-28575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altLang="ko-KR" dirty="0">
                <a:hlinkClick r:id="rId5"/>
              </a:rPr>
              <a:t>https://www.xilinx.com/support/download/index.html/content/xilinx/en/downloadNav/vivado-design-tools/2024-2.html</a:t>
            </a:r>
            <a:endParaRPr lang="en-US" altLang="ko-KR" dirty="0"/>
          </a:p>
          <a:p>
            <a:pPr>
              <a:spcBef>
                <a:spcPts val="0"/>
              </a:spcBef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9633210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50DFA-1BD0-EC2A-660E-69F618A2B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01B41A6-537E-EAD1-FA80-1BB4DC0EB33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9234DA0-4C4C-6DC4-74DB-2BC01132997A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147BD1"/>
                </a:solidFill>
              </a:rPr>
              <a:t>1. </a:t>
            </a:r>
            <a:r>
              <a:rPr lang="en-US" altLang="ko-KR" b="1" dirty="0" err="1">
                <a:solidFill>
                  <a:srgbClr val="147BD1"/>
                </a:solidFill>
              </a:rPr>
              <a:t>Vivado</a:t>
            </a:r>
            <a:r>
              <a:rPr lang="en-US" altLang="ko-KR" b="1" dirty="0">
                <a:solidFill>
                  <a:srgbClr val="147BD1"/>
                </a:solidFill>
              </a:rPr>
              <a:t> </a:t>
            </a:r>
            <a:r>
              <a:rPr lang="ko-KR" altLang="en-US" b="1" dirty="0">
                <a:solidFill>
                  <a:srgbClr val="147BD1"/>
                </a:solidFill>
              </a:rPr>
              <a:t>설치</a:t>
            </a:r>
          </a:p>
        </p:txBody>
      </p:sp>
      <p:pic>
        <p:nvPicPr>
          <p:cNvPr id="4" name="내용 개체 틀 8">
            <a:extLst>
              <a:ext uri="{FF2B5EF4-FFF2-40B4-BE49-F238E27FC236}">
                <a16:creationId xmlns:a16="http://schemas.microsoft.com/office/drawing/2014/main" id="{6773040C-1F12-ECEC-14D8-4AA83AC986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264" y="1361156"/>
            <a:ext cx="5527909" cy="423170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8DBBA99-76A6-BF24-FD4A-41FDBF2FF5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0829" y="1361156"/>
            <a:ext cx="5498687" cy="4231709"/>
          </a:xfrm>
          <a:prstGeom prst="rect">
            <a:avLst/>
          </a:prstGeom>
        </p:spPr>
      </p:pic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4564E165-7FE3-2C8F-EACB-50A29BF28154}"/>
              </a:ext>
            </a:extLst>
          </p:cNvPr>
          <p:cNvSpPr/>
          <p:nvPr/>
        </p:nvSpPr>
        <p:spPr>
          <a:xfrm>
            <a:off x="5069696" y="5239082"/>
            <a:ext cx="551457" cy="301474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75FC448E-62F7-2523-89E6-B84FD0255A27}"/>
              </a:ext>
            </a:extLst>
          </p:cNvPr>
          <p:cNvSpPr/>
          <p:nvPr/>
        </p:nvSpPr>
        <p:spPr>
          <a:xfrm>
            <a:off x="6160829" y="2391071"/>
            <a:ext cx="2441798" cy="438756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27CD4A19-CB17-F125-BF46-083149F134B1}"/>
              </a:ext>
            </a:extLst>
          </p:cNvPr>
          <p:cNvSpPr/>
          <p:nvPr/>
        </p:nvSpPr>
        <p:spPr>
          <a:xfrm>
            <a:off x="10684042" y="5239082"/>
            <a:ext cx="548639" cy="301474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361766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75DEE-78CF-8202-1147-C80438216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39A1C669-39F9-598F-C1A1-3BCCBC8C63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99" y="1370669"/>
            <a:ext cx="5688101" cy="4372933"/>
          </a:xfrm>
          <a:prstGeom prst="rect">
            <a:avLst/>
          </a:prstGeom>
        </p:spPr>
      </p:pic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1E74770-9C05-6AC6-2658-6AE70E1C214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506B3B-8332-3A8A-AAD1-4A1B1539E35D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147BD1"/>
                </a:solidFill>
              </a:rPr>
              <a:t>1. </a:t>
            </a:r>
            <a:r>
              <a:rPr lang="en-US" altLang="ko-KR" b="1" dirty="0" err="1">
                <a:solidFill>
                  <a:srgbClr val="147BD1"/>
                </a:solidFill>
              </a:rPr>
              <a:t>Vivado</a:t>
            </a:r>
            <a:r>
              <a:rPr lang="en-US" altLang="ko-KR" b="1" dirty="0">
                <a:solidFill>
                  <a:srgbClr val="147BD1"/>
                </a:solidFill>
              </a:rPr>
              <a:t> </a:t>
            </a:r>
            <a:r>
              <a:rPr lang="ko-KR" altLang="en-US" b="1" dirty="0">
                <a:solidFill>
                  <a:srgbClr val="147BD1"/>
                </a:solidFill>
              </a:rPr>
              <a:t>설치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90F9B1-CBBB-F68B-5A28-A721C7FB2F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3768" y="1370669"/>
            <a:ext cx="5399402" cy="4434560"/>
          </a:xfrm>
          <a:prstGeom prst="rect">
            <a:avLst/>
          </a:prstGeom>
        </p:spPr>
      </p:pic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8C2271C-FFA0-C213-2429-364D5BD57A1B}"/>
              </a:ext>
            </a:extLst>
          </p:cNvPr>
          <p:cNvSpPr/>
          <p:nvPr/>
        </p:nvSpPr>
        <p:spPr>
          <a:xfrm>
            <a:off x="438438" y="1952861"/>
            <a:ext cx="5555962" cy="638897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4281817D-290A-586A-283E-1CBC0D40834A}"/>
              </a:ext>
            </a:extLst>
          </p:cNvPr>
          <p:cNvSpPr/>
          <p:nvPr/>
        </p:nvSpPr>
        <p:spPr>
          <a:xfrm>
            <a:off x="6296226" y="2587661"/>
            <a:ext cx="5302215" cy="694553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9E65F49A-2568-8E0A-4AD9-C2AE81B87BB4}"/>
              </a:ext>
            </a:extLst>
          </p:cNvPr>
          <p:cNvSpPr/>
          <p:nvPr/>
        </p:nvSpPr>
        <p:spPr>
          <a:xfrm>
            <a:off x="5173227" y="5468858"/>
            <a:ext cx="450163" cy="188587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20407B7-FF97-74FA-126E-6599E7A69666}"/>
              </a:ext>
            </a:extLst>
          </p:cNvPr>
          <p:cNvSpPr/>
          <p:nvPr/>
        </p:nvSpPr>
        <p:spPr>
          <a:xfrm>
            <a:off x="10765729" y="5506580"/>
            <a:ext cx="447703" cy="242901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031084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2F6534-2DD9-5E57-AE8F-E7232C3DA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0E52552-7161-882B-3972-50B040C336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0053" y="1170997"/>
            <a:ext cx="6750251" cy="5167433"/>
          </a:xfrm>
          <a:prstGeom prst="rect">
            <a:avLst/>
          </a:prstGeom>
        </p:spPr>
      </p:pic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C2A0B87C-54B4-792B-5289-6BDEEA53C65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356485-D0A4-18D9-15E5-8C31364E727A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147BD1"/>
                </a:solidFill>
              </a:rPr>
              <a:t>1. </a:t>
            </a:r>
            <a:r>
              <a:rPr lang="en-US" altLang="ko-KR" b="1" dirty="0" err="1">
                <a:solidFill>
                  <a:srgbClr val="147BD1"/>
                </a:solidFill>
              </a:rPr>
              <a:t>Vivado</a:t>
            </a:r>
            <a:r>
              <a:rPr lang="en-US" altLang="ko-KR" b="1" dirty="0">
                <a:solidFill>
                  <a:srgbClr val="147BD1"/>
                </a:solidFill>
              </a:rPr>
              <a:t> </a:t>
            </a:r>
            <a:r>
              <a:rPr lang="ko-KR" altLang="en-US" b="1" dirty="0">
                <a:solidFill>
                  <a:srgbClr val="147BD1"/>
                </a:solidFill>
              </a:rPr>
              <a:t>설치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0B647AB-C3E3-76F1-0FB3-84307092DD75}"/>
              </a:ext>
            </a:extLst>
          </p:cNvPr>
          <p:cNvSpPr/>
          <p:nvPr/>
        </p:nvSpPr>
        <p:spPr>
          <a:xfrm>
            <a:off x="2543943" y="2477047"/>
            <a:ext cx="2074239" cy="2833861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94A5BC4C-2D3E-1BD5-A4D0-822EA1CF5B21}"/>
              </a:ext>
            </a:extLst>
          </p:cNvPr>
          <p:cNvSpPr/>
          <p:nvPr/>
        </p:nvSpPr>
        <p:spPr>
          <a:xfrm>
            <a:off x="8117465" y="5999870"/>
            <a:ext cx="504056" cy="242901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678200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210E1-F1CF-0A72-3E7E-EE55FD153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9D0AF263-8295-6F31-23F7-6E493433C36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B4B7E4-4748-D7EB-3E41-F906A4058E19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147BD1"/>
                </a:solidFill>
              </a:rPr>
              <a:t>1. </a:t>
            </a:r>
            <a:r>
              <a:rPr lang="en-US" altLang="ko-KR" b="1" dirty="0" err="1">
                <a:solidFill>
                  <a:srgbClr val="147BD1"/>
                </a:solidFill>
              </a:rPr>
              <a:t>Vivado</a:t>
            </a:r>
            <a:r>
              <a:rPr lang="en-US" altLang="ko-KR" b="1" dirty="0">
                <a:solidFill>
                  <a:srgbClr val="147BD1"/>
                </a:solidFill>
              </a:rPr>
              <a:t> </a:t>
            </a:r>
            <a:r>
              <a:rPr lang="ko-KR" altLang="en-US" b="1" dirty="0">
                <a:solidFill>
                  <a:srgbClr val="147BD1"/>
                </a:solidFill>
              </a:rPr>
              <a:t>설치</a:t>
            </a:r>
          </a:p>
        </p:txBody>
      </p:sp>
      <p:pic>
        <p:nvPicPr>
          <p:cNvPr id="8" name="내용 개체 틀 10">
            <a:extLst>
              <a:ext uri="{FF2B5EF4-FFF2-40B4-BE49-F238E27FC236}">
                <a16:creationId xmlns:a16="http://schemas.microsoft.com/office/drawing/2014/main" id="{2054A422-1AA8-F83B-AEAA-4ADE18710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81" y="1265135"/>
            <a:ext cx="5074079" cy="501562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F072CF9-B65B-6BB8-F5B4-AE3038D466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7700" y="1280208"/>
            <a:ext cx="5109592" cy="5015623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DFB22B40-C760-0CA2-1F96-2503B824F251}"/>
              </a:ext>
            </a:extLst>
          </p:cNvPr>
          <p:cNvSpPr/>
          <p:nvPr/>
        </p:nvSpPr>
        <p:spPr>
          <a:xfrm>
            <a:off x="4839526" y="5981700"/>
            <a:ext cx="432312" cy="232370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3310B2B-5B3D-0724-8EC2-5E9581F991C9}"/>
              </a:ext>
            </a:extLst>
          </p:cNvPr>
          <p:cNvSpPr/>
          <p:nvPr/>
        </p:nvSpPr>
        <p:spPr>
          <a:xfrm>
            <a:off x="635781" y="1845438"/>
            <a:ext cx="598071" cy="3964812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4729FF94-EC16-F82A-ADB6-CADE103B8757}"/>
              </a:ext>
            </a:extLst>
          </p:cNvPr>
          <p:cNvSpPr/>
          <p:nvPr/>
        </p:nvSpPr>
        <p:spPr>
          <a:xfrm>
            <a:off x="10550656" y="6000763"/>
            <a:ext cx="432312" cy="232370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294029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AD583-B316-8CA8-5C49-4C9452951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2959113C-7867-002A-C271-0F3650B0EA1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EF9EE1-21C9-6ED1-73D5-D4F02CA94DDF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147BD1"/>
                </a:solidFill>
              </a:rPr>
              <a:t>1. </a:t>
            </a:r>
            <a:r>
              <a:rPr lang="en-US" altLang="ko-KR" b="1" dirty="0" err="1">
                <a:solidFill>
                  <a:srgbClr val="147BD1"/>
                </a:solidFill>
              </a:rPr>
              <a:t>Vivado</a:t>
            </a:r>
            <a:r>
              <a:rPr lang="en-US" altLang="ko-KR" b="1" dirty="0">
                <a:solidFill>
                  <a:srgbClr val="147BD1"/>
                </a:solidFill>
              </a:rPr>
              <a:t> </a:t>
            </a:r>
            <a:r>
              <a:rPr lang="ko-KR" altLang="en-US" b="1" dirty="0">
                <a:solidFill>
                  <a:srgbClr val="147BD1"/>
                </a:solidFill>
              </a:rPr>
              <a:t>설치</a:t>
            </a:r>
          </a:p>
        </p:txBody>
      </p:sp>
      <p:pic>
        <p:nvPicPr>
          <p:cNvPr id="4" name="내용 개체 틀 4">
            <a:extLst>
              <a:ext uri="{FF2B5EF4-FFF2-40B4-BE49-F238E27FC236}">
                <a16:creationId xmlns:a16="http://schemas.microsoft.com/office/drawing/2014/main" id="{871F0BD6-6E29-2257-AE05-37D60BE802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918" y="1234365"/>
            <a:ext cx="5320153" cy="5246688"/>
          </a:xfrm>
          <a:prstGeom prst="rect">
            <a:avLst/>
          </a:prstGeom>
        </p:spPr>
      </p:pic>
      <p:pic>
        <p:nvPicPr>
          <p:cNvPr id="6" name="내용 개체 틀 4">
            <a:extLst>
              <a:ext uri="{FF2B5EF4-FFF2-40B4-BE49-F238E27FC236}">
                <a16:creationId xmlns:a16="http://schemas.microsoft.com/office/drawing/2014/main" id="{69E23085-89DD-DE00-8F9E-C6A33350DE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4861" y="1234365"/>
            <a:ext cx="5506424" cy="5246688"/>
          </a:xfrm>
          <a:prstGeom prst="rect">
            <a:avLst/>
          </a:prstGeom>
        </p:spPr>
      </p:pic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B8E96A2D-3A4C-595A-9631-3ABA5BC869E1}"/>
              </a:ext>
            </a:extLst>
          </p:cNvPr>
          <p:cNvSpPr/>
          <p:nvPr/>
        </p:nvSpPr>
        <p:spPr>
          <a:xfrm>
            <a:off x="11178072" y="1152525"/>
            <a:ext cx="490010" cy="384780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868199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1B16A-5185-891A-5EBB-5770DD394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151A07-21F9-1FD6-0884-D900520F6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055" y="3429000"/>
            <a:ext cx="10744200" cy="1188720"/>
          </a:xfrm>
        </p:spPr>
        <p:txBody>
          <a:bodyPr/>
          <a:lstStyle/>
          <a:p>
            <a:pPr>
              <a:lnSpc>
                <a:spcPct val="130000"/>
              </a:lnSpc>
            </a:pPr>
            <a:r>
              <a:rPr lang="en-US" altLang="ko-KR" sz="2800" b="1" dirty="0">
                <a:latin typeface="맑은 고딕" panose="020B0503020000020004" pitchFamily="50" charset="-127"/>
                <a:ea typeface="맑은 고딕" panose="020B0503020000020004" pitchFamily="50" charset="-127"/>
                <a:cs typeface="KoPubWorld돋움체 Bold" panose="00000800000000000000" pitchFamily="2" charset="-127"/>
              </a:rPr>
              <a:t>2. </a:t>
            </a:r>
            <a:r>
              <a:rPr lang="en-US" altLang="ko-KR" sz="2800" b="1" dirty="0" err="1">
                <a:latin typeface="맑은 고딕" panose="020B0503020000020004" pitchFamily="50" charset="-127"/>
                <a:ea typeface="맑은 고딕" panose="020B0503020000020004" pitchFamily="50" charset="-127"/>
                <a:cs typeface="KoPubWorld돋움체 Bold" panose="00000800000000000000" pitchFamily="2" charset="-127"/>
              </a:rPr>
              <a:t>Zybo</a:t>
            </a:r>
            <a:r>
              <a:rPr lang="en-US" altLang="ko-KR" sz="2800" b="1" dirty="0">
                <a:latin typeface="맑은 고딕" panose="020B0503020000020004" pitchFamily="50" charset="-127"/>
                <a:ea typeface="맑은 고딕" panose="020B0503020000020004" pitchFamily="50" charset="-127"/>
                <a:cs typeface="KoPubWorld돋움체 Bold" panose="00000800000000000000" pitchFamily="2" charset="-127"/>
              </a:rPr>
              <a:t> Z7-20 &amp; Zynq-7000 </a:t>
            </a:r>
            <a:r>
              <a:rPr lang="ko-KR" altLang="en-US" sz="2800" b="1" dirty="0">
                <a:latin typeface="맑은 고딕" panose="020B0503020000020004" pitchFamily="50" charset="-127"/>
                <a:ea typeface="맑은 고딕" panose="020B0503020000020004" pitchFamily="50" charset="-127"/>
                <a:cs typeface="KoPubWorld돋움체 Bold" panose="00000800000000000000" pitchFamily="2" charset="-127"/>
              </a:rPr>
              <a:t>소개</a:t>
            </a:r>
            <a:endParaRPr lang="en-US" altLang="ko-KR" sz="2800" b="1" dirty="0">
              <a:latin typeface="맑은 고딕" panose="020B0503020000020004" pitchFamily="50" charset="-127"/>
              <a:ea typeface="맑은 고딕" panose="020B0503020000020004" pitchFamily="50" charset="-127"/>
              <a:cs typeface="KoPubWorld돋움체 Bold" panose="00000800000000000000" pitchFamily="2" charset="-127"/>
            </a:endParaRP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363308B-1C0B-9DA1-E962-44693C2216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20426" y="4023360"/>
            <a:ext cx="10827604" cy="677797"/>
          </a:xfr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141759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1896B-CB32-5830-610D-1E2CFB738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9AF03FCB-A8C9-3287-2A04-0C6A67BDB5B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170637-62BF-A03E-B923-1651A4EE23D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147BD1"/>
                </a:solidFill>
              </a:rPr>
              <a:t>2</a:t>
            </a:r>
            <a:r>
              <a:rPr lang="en-US" altLang="ko-KR" b="1" dirty="0">
                <a:solidFill>
                  <a:srgbClr val="147BD1"/>
                </a:solidFill>
              </a:rPr>
              <a:t>.1 </a:t>
            </a:r>
            <a:r>
              <a:rPr lang="en-US" altLang="ko-KR" b="1" dirty="0" err="1">
                <a:solidFill>
                  <a:srgbClr val="147BD1"/>
                </a:solidFill>
              </a:rPr>
              <a:t>Zybo</a:t>
            </a:r>
            <a:r>
              <a:rPr lang="en-US" altLang="ko-KR" b="1" dirty="0">
                <a:solidFill>
                  <a:srgbClr val="147BD1"/>
                </a:solidFill>
              </a:rPr>
              <a:t> Z7-20 </a:t>
            </a:r>
            <a:r>
              <a:rPr lang="ko-KR" altLang="en-US" b="1" dirty="0">
                <a:solidFill>
                  <a:srgbClr val="147BD1"/>
                </a:solidFill>
              </a:rPr>
              <a:t>소개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670E597-7E56-A9BE-841A-6581D03489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37" y="2046811"/>
            <a:ext cx="4416643" cy="3168352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2EF7BEB-CFCD-7025-3FA6-F883E55DBE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8751160"/>
              </p:ext>
            </p:extLst>
          </p:nvPr>
        </p:nvGraphicFramePr>
        <p:xfrm>
          <a:off x="5219699" y="1477432"/>
          <a:ext cx="6829425" cy="4374882"/>
        </p:xfrm>
        <a:graphic>
          <a:graphicData uri="http://schemas.openxmlformats.org/drawingml/2006/table">
            <a:tbl>
              <a:tblPr firstRow="1" firstCol="1" bandRow="1">
                <a:tableStyleId>{FABFCF23-3B69-468F-B69F-88F6DE6A72F2}</a:tableStyleId>
              </a:tblPr>
              <a:tblGrid>
                <a:gridCol w="522364">
                  <a:extLst>
                    <a:ext uri="{9D8B030D-6E8A-4147-A177-3AD203B41FA5}">
                      <a16:colId xmlns:a16="http://schemas.microsoft.com/office/drawing/2014/main" val="227301802"/>
                    </a:ext>
                  </a:extLst>
                </a:gridCol>
                <a:gridCol w="1487412">
                  <a:extLst>
                    <a:ext uri="{9D8B030D-6E8A-4147-A177-3AD203B41FA5}">
                      <a16:colId xmlns:a16="http://schemas.microsoft.com/office/drawing/2014/main" val="2119396064"/>
                    </a:ext>
                  </a:extLst>
                </a:gridCol>
                <a:gridCol w="514983">
                  <a:extLst>
                    <a:ext uri="{9D8B030D-6E8A-4147-A177-3AD203B41FA5}">
                      <a16:colId xmlns:a16="http://schemas.microsoft.com/office/drawing/2014/main" val="4138172389"/>
                    </a:ext>
                  </a:extLst>
                </a:gridCol>
                <a:gridCol w="1644479">
                  <a:extLst>
                    <a:ext uri="{9D8B030D-6E8A-4147-A177-3AD203B41FA5}">
                      <a16:colId xmlns:a16="http://schemas.microsoft.com/office/drawing/2014/main" val="44793221"/>
                    </a:ext>
                  </a:extLst>
                </a:gridCol>
                <a:gridCol w="551384">
                  <a:extLst>
                    <a:ext uri="{9D8B030D-6E8A-4147-A177-3AD203B41FA5}">
                      <a16:colId xmlns:a16="http://schemas.microsoft.com/office/drawing/2014/main" val="4128532260"/>
                    </a:ext>
                  </a:extLst>
                </a:gridCol>
                <a:gridCol w="2108803">
                  <a:extLst>
                    <a:ext uri="{9D8B030D-6E8A-4147-A177-3AD203B41FA5}">
                      <a16:colId xmlns:a16="http://schemas.microsoft.com/office/drawing/2014/main" val="3882635944"/>
                    </a:ext>
                  </a:extLst>
                </a:gridCol>
              </a:tblGrid>
              <a:tr h="197394">
                <a:tc>
                  <a:txBody>
                    <a:bodyPr/>
                    <a:lstStyle/>
                    <a:p>
                      <a:pPr algn="l" fontAlgn="b"/>
                      <a:r>
                        <a:rPr lang="en-CA" sz="1000" dirty="0">
                          <a:effectLst/>
                        </a:rPr>
                        <a:t>Callout</a:t>
                      </a:r>
                    </a:p>
                  </a:txBody>
                  <a:tcPr marL="35249" marR="35249" marT="35249" marB="35249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CA" sz="1000" dirty="0">
                          <a:effectLst/>
                        </a:rPr>
                        <a:t>Description</a:t>
                      </a:r>
                    </a:p>
                  </a:txBody>
                  <a:tcPr marL="35249" marR="35249" marT="35249" marB="35249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CA" sz="1000" dirty="0">
                          <a:effectLst/>
                        </a:rPr>
                        <a:t>Callout</a:t>
                      </a:r>
                    </a:p>
                  </a:txBody>
                  <a:tcPr marL="35249" marR="35249" marT="35249" marB="35249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CA" sz="1000" dirty="0">
                          <a:effectLst/>
                        </a:rPr>
                        <a:t>Description</a:t>
                      </a:r>
                    </a:p>
                  </a:txBody>
                  <a:tcPr marL="35249" marR="35249" marT="35249" marB="35249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CA" sz="1000" dirty="0">
                          <a:effectLst/>
                        </a:rPr>
                        <a:t>Callout</a:t>
                      </a:r>
                    </a:p>
                  </a:txBody>
                  <a:tcPr marL="35249" marR="35249" marT="35249" marB="35249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CA" sz="1000" dirty="0">
                          <a:effectLst/>
                        </a:rPr>
                        <a:t>Description</a:t>
                      </a:r>
                    </a:p>
                  </a:txBody>
                  <a:tcPr marL="35249" marR="35249" marT="35249" marB="35249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4667982"/>
                  </a:ext>
                </a:extLst>
              </a:tr>
              <a:tr h="324290"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dirty="0">
                          <a:effectLst/>
                        </a:rPr>
                        <a:t>1</a:t>
                      </a:r>
                    </a:p>
                  </a:txBody>
                  <a:tcPr marL="35249" marR="35249" marT="35249" marB="35249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 dirty="0">
                          <a:effectLst/>
                        </a:rPr>
                        <a:t>Power Switch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b="1" dirty="0">
                          <a:effectLst/>
                        </a:rPr>
                        <a:t>12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 dirty="0">
                          <a:effectLst/>
                        </a:rPr>
                        <a:t>High-speed </a:t>
                      </a:r>
                      <a:r>
                        <a:rPr lang="en-CA" sz="1050" dirty="0" err="1">
                          <a:effectLst/>
                        </a:rPr>
                        <a:t>Pmod</a:t>
                      </a:r>
                      <a:r>
                        <a:rPr lang="en-CA" sz="1050" dirty="0">
                          <a:effectLst/>
                        </a:rPr>
                        <a:t> ports*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b="1" dirty="0">
                          <a:effectLst/>
                        </a:rPr>
                        <a:t>23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 dirty="0">
                          <a:effectLst/>
                        </a:rPr>
                        <a:t>Ethernet port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8604325"/>
                  </a:ext>
                </a:extLst>
              </a:tr>
              <a:tr h="347105"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dirty="0">
                          <a:effectLst/>
                        </a:rPr>
                        <a:t>2</a:t>
                      </a:r>
                    </a:p>
                  </a:txBody>
                  <a:tcPr marL="35249" marR="35249" marT="35249" marB="35249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 dirty="0">
                          <a:effectLst/>
                        </a:rPr>
                        <a:t>Power select jumper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b="1" dirty="0">
                          <a:effectLst/>
                        </a:rPr>
                        <a:t>13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 dirty="0">
                          <a:effectLst/>
                        </a:rPr>
                        <a:t>User buttons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b="1" dirty="0">
                          <a:effectLst/>
                        </a:rPr>
                        <a:t>24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 dirty="0">
                          <a:effectLst/>
                        </a:rPr>
                        <a:t>External power supply connector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271568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dirty="0">
                          <a:effectLst/>
                        </a:rPr>
                        <a:t>3</a:t>
                      </a:r>
                    </a:p>
                  </a:txBody>
                  <a:tcPr marL="35249" marR="35249" marT="35249" marB="35249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 dirty="0">
                          <a:effectLst/>
                        </a:rPr>
                        <a:t>USB JTAG/UART port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b="1" dirty="0">
                          <a:effectLst/>
                        </a:rPr>
                        <a:t>14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 dirty="0">
                          <a:effectLst/>
                        </a:rPr>
                        <a:t>User RGB LEDs *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b="1" dirty="0">
                          <a:effectLst/>
                        </a:rPr>
                        <a:t>25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 dirty="0">
                          <a:effectLst/>
                        </a:rPr>
                        <a:t>Fan connector (5V, three-wire) *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9133320"/>
                  </a:ext>
                </a:extLst>
              </a:tr>
              <a:tr h="451186"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dirty="0">
                          <a:effectLst/>
                        </a:rPr>
                        <a:t>4</a:t>
                      </a:r>
                    </a:p>
                  </a:txBody>
                  <a:tcPr marL="35249" marR="35249" marT="35249" marB="35249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 dirty="0">
                          <a:effectLst/>
                        </a:rPr>
                        <a:t>MIO User LED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b="1" dirty="0">
                          <a:effectLst/>
                        </a:rPr>
                        <a:t>15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 dirty="0">
                          <a:effectLst/>
                        </a:rPr>
                        <a:t>XADC </a:t>
                      </a:r>
                      <a:r>
                        <a:rPr lang="en-CA" sz="1050" dirty="0" err="1">
                          <a:effectLst/>
                        </a:rPr>
                        <a:t>Pmod</a:t>
                      </a:r>
                      <a:r>
                        <a:rPr lang="en-CA" sz="1050" dirty="0">
                          <a:effectLst/>
                        </a:rPr>
                        <a:t> port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b="1" dirty="0">
                          <a:effectLst/>
                        </a:rPr>
                        <a:t>26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 dirty="0">
                          <a:effectLst/>
                        </a:rPr>
                        <a:t>Programming mode select</a:t>
                      </a:r>
                    </a:p>
                    <a:p>
                      <a:pPr algn="l" fontAlgn="t"/>
                      <a:r>
                        <a:rPr lang="en-CA" sz="1050" dirty="0">
                          <a:effectLst/>
                        </a:rPr>
                        <a:t>jumper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5452380"/>
                  </a:ext>
                </a:extLst>
              </a:tr>
              <a:tr h="301289"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dirty="0">
                          <a:effectLst/>
                        </a:rPr>
                        <a:t>5</a:t>
                      </a:r>
                    </a:p>
                  </a:txBody>
                  <a:tcPr marL="35249" marR="35249" marT="35249" marB="35249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 dirty="0">
                          <a:effectLst/>
                        </a:rPr>
                        <a:t>MIO </a:t>
                      </a:r>
                      <a:r>
                        <a:rPr lang="en-CA" sz="1050" dirty="0" err="1">
                          <a:effectLst/>
                        </a:rPr>
                        <a:t>Pmod</a:t>
                      </a:r>
                      <a:r>
                        <a:rPr lang="en-CA" sz="1050" dirty="0">
                          <a:effectLst/>
                        </a:rPr>
                        <a:t> port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b="1" dirty="0">
                          <a:effectLst/>
                        </a:rPr>
                        <a:t>16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>
                          <a:effectLst/>
                        </a:rPr>
                        <a:t>Audio codec ports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b="1" dirty="0">
                          <a:effectLst/>
                        </a:rPr>
                        <a:t>27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 dirty="0">
                          <a:effectLst/>
                        </a:rPr>
                        <a:t>Power supply good LED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0909993"/>
                  </a:ext>
                </a:extLst>
              </a:tr>
              <a:tr h="324290"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dirty="0">
                          <a:effectLst/>
                        </a:rPr>
                        <a:t>6</a:t>
                      </a:r>
                    </a:p>
                  </a:txBody>
                  <a:tcPr marL="35249" marR="35249" marT="35249" marB="35249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>
                          <a:effectLst/>
                        </a:rPr>
                        <a:t>USB 2.0 Host/OTG port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b="1" dirty="0">
                          <a:effectLst/>
                        </a:rPr>
                        <a:t>17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 dirty="0">
                          <a:effectLst/>
                        </a:rPr>
                        <a:t>Unique MAC address</a:t>
                      </a:r>
                    </a:p>
                    <a:p>
                      <a:pPr algn="l" fontAlgn="t"/>
                      <a:r>
                        <a:rPr lang="en-CA" sz="1050" dirty="0">
                          <a:effectLst/>
                        </a:rPr>
                        <a:t>label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b="1" dirty="0">
                          <a:effectLst/>
                        </a:rPr>
                        <a:t>28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 dirty="0">
                          <a:effectLst/>
                        </a:rPr>
                        <a:t>FPGA programming done LED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352878"/>
                  </a:ext>
                </a:extLst>
              </a:tr>
              <a:tr h="451186"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dirty="0">
                          <a:effectLst/>
                        </a:rPr>
                        <a:t>7</a:t>
                      </a:r>
                    </a:p>
                  </a:txBody>
                  <a:tcPr marL="35249" marR="35249" marT="35249" marB="35249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 dirty="0">
                          <a:effectLst/>
                        </a:rPr>
                        <a:t>USB Host power</a:t>
                      </a:r>
                    </a:p>
                    <a:p>
                      <a:pPr algn="l" fontAlgn="t"/>
                      <a:r>
                        <a:rPr lang="en-CA" sz="1050" dirty="0">
                          <a:effectLst/>
                        </a:rPr>
                        <a:t>enable jumper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b="1" dirty="0">
                          <a:effectLst/>
                        </a:rPr>
                        <a:t>18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>
                          <a:effectLst/>
                        </a:rPr>
                        <a:t>External JTAG port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b="1" dirty="0">
                          <a:effectLst/>
                        </a:rPr>
                        <a:t>29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 dirty="0">
                          <a:effectLst/>
                        </a:rPr>
                        <a:t>Processor reset button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4174926"/>
                  </a:ext>
                </a:extLst>
              </a:tr>
              <a:tr h="387001"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dirty="0">
                          <a:effectLst/>
                        </a:rPr>
                        <a:t>8</a:t>
                      </a:r>
                    </a:p>
                  </a:txBody>
                  <a:tcPr marL="35249" marR="35249" marT="35249" marB="35249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 dirty="0">
                          <a:effectLst/>
                        </a:rPr>
                        <a:t>Standard </a:t>
                      </a:r>
                      <a:r>
                        <a:rPr lang="en-CA" sz="1050" dirty="0" err="1">
                          <a:effectLst/>
                        </a:rPr>
                        <a:t>Pmod</a:t>
                      </a:r>
                      <a:r>
                        <a:rPr lang="en-CA" sz="1050" dirty="0">
                          <a:effectLst/>
                        </a:rPr>
                        <a:t> port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b="1" dirty="0">
                          <a:effectLst/>
                        </a:rPr>
                        <a:t>19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>
                          <a:effectLst/>
                        </a:rPr>
                        <a:t>HDMI input port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b="1" dirty="0">
                          <a:effectLst/>
                        </a:rPr>
                        <a:t>30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 dirty="0">
                          <a:effectLst/>
                        </a:rPr>
                        <a:t>FPGA clear configuration button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187474"/>
                  </a:ext>
                </a:extLst>
              </a:tr>
              <a:tr h="324290"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dirty="0">
                          <a:effectLst/>
                        </a:rPr>
                        <a:t>9</a:t>
                      </a:r>
                    </a:p>
                  </a:txBody>
                  <a:tcPr marL="35249" marR="35249" marT="35249" marB="35249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 dirty="0">
                          <a:effectLst/>
                        </a:rPr>
                        <a:t>User switches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b="1" dirty="0">
                          <a:effectLst/>
                        </a:rPr>
                        <a:t>20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 dirty="0" err="1">
                          <a:effectLst/>
                        </a:rPr>
                        <a:t>Pcam</a:t>
                      </a:r>
                      <a:r>
                        <a:rPr lang="en-CA" sz="1050" dirty="0">
                          <a:effectLst/>
                        </a:rPr>
                        <a:t> MIPI CSI-2 port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b="1" dirty="0">
                          <a:effectLst/>
                        </a:rPr>
                        <a:t>31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 dirty="0">
                          <a:effectLst/>
                        </a:rPr>
                        <a:t>Zynq-7000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5044439"/>
                  </a:ext>
                </a:extLst>
              </a:tr>
              <a:tr h="451186"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dirty="0">
                          <a:effectLst/>
                        </a:rPr>
                        <a:t>10</a:t>
                      </a:r>
                    </a:p>
                  </a:txBody>
                  <a:tcPr marL="35249" marR="35249" marT="35249" marB="35249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 dirty="0">
                          <a:effectLst/>
                        </a:rPr>
                        <a:t>User LEDs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b="1" dirty="0">
                          <a:effectLst/>
                        </a:rPr>
                        <a:t>21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 dirty="0">
                          <a:effectLst/>
                        </a:rPr>
                        <a:t>microSD connector</a:t>
                      </a:r>
                    </a:p>
                    <a:p>
                      <a:pPr algn="l" fontAlgn="t"/>
                      <a:r>
                        <a:rPr lang="en-CA" sz="1050" dirty="0">
                          <a:effectLst/>
                        </a:rPr>
                        <a:t>(other side)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b="1" dirty="0">
                          <a:effectLst/>
                        </a:rPr>
                        <a:t>32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>
                          <a:effectLst/>
                        </a:rPr>
                        <a:t>DDR3L Memory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7877810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dirty="0">
                          <a:effectLst/>
                        </a:rPr>
                        <a:t>11</a:t>
                      </a:r>
                    </a:p>
                  </a:txBody>
                  <a:tcPr marL="35249" marR="35249" marT="35249" marB="35249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>
                          <a:effectLst/>
                        </a:rPr>
                        <a:t>MIO User buttons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CA" sz="1050" b="1" dirty="0">
                          <a:effectLst/>
                        </a:rPr>
                        <a:t>22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CA" sz="1050" dirty="0">
                          <a:effectLst/>
                        </a:rPr>
                        <a:t>HDMI output port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fontAlgn="t"/>
                      <a:r>
                        <a:rPr lang="en-CA" sz="1050" dirty="0">
                          <a:effectLst/>
                        </a:rPr>
                        <a:t>* denotes difference between Z7-10 and Z7-20</a:t>
                      </a:r>
                    </a:p>
                  </a:txBody>
                  <a:tcPr marL="35249" marR="35249" marT="35249" marB="352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CA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645617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91A8243F-396E-5996-073A-BCADEAF56682}"/>
              </a:ext>
            </a:extLst>
          </p:cNvPr>
          <p:cNvSpPr txBox="1"/>
          <p:nvPr/>
        </p:nvSpPr>
        <p:spPr>
          <a:xfrm>
            <a:off x="7262236" y="6054110"/>
            <a:ext cx="47868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hlinkClick r:id="rId4"/>
              </a:rPr>
              <a:t>https://digilent.com/reference/programmable-logic/zybo-z7/reference-manual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089279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09DD8-00D8-7CBB-6A86-349C61FD0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57A5F56-8B3B-268D-E3B6-53990E4020F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4DE893A-7533-9AB9-9474-B35BE266B20E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147BD1"/>
                </a:solidFill>
              </a:rPr>
              <a:t>2</a:t>
            </a:r>
            <a:r>
              <a:rPr lang="en-US" altLang="ko-KR" b="1" dirty="0">
                <a:solidFill>
                  <a:srgbClr val="147BD1"/>
                </a:solidFill>
              </a:rPr>
              <a:t>.2 Zynq-7000 </a:t>
            </a:r>
            <a:r>
              <a:rPr lang="ko-KR" altLang="en-US" b="1" dirty="0">
                <a:solidFill>
                  <a:srgbClr val="147BD1"/>
                </a:solidFill>
              </a:rPr>
              <a:t>소개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616DF76-AF8E-78D9-778C-8A038D4A41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674" y="1234365"/>
            <a:ext cx="4859994" cy="536083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46D6654-EF81-1A7F-BD5F-AFD68D1043E3}"/>
              </a:ext>
            </a:extLst>
          </p:cNvPr>
          <p:cNvSpPr txBox="1"/>
          <p:nvPr/>
        </p:nvSpPr>
        <p:spPr>
          <a:xfrm>
            <a:off x="6854341" y="1708945"/>
            <a:ext cx="431848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PS (Processing System)</a:t>
            </a:r>
          </a:p>
          <a:p>
            <a:pPr algn="ctr"/>
            <a:endParaRPr lang="en-US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하드코어 구조 </a:t>
            </a:r>
            <a:r>
              <a:rPr lang="en-US" altLang="ko-KR" dirty="0"/>
              <a:t>(</a:t>
            </a:r>
            <a:r>
              <a:rPr lang="ko-KR" altLang="en-US" dirty="0"/>
              <a:t>구조 변경 불가</a:t>
            </a:r>
            <a:r>
              <a:rPr lang="en-US" altLang="ko-KR" dirty="0"/>
              <a:t>)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데이터를 주고 받는 부분 담당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dirty="0"/>
              <a:t>Arm Core-A9</a:t>
            </a:r>
          </a:p>
          <a:p>
            <a:pPr marL="285750" indent="-285750">
              <a:buFontTx/>
              <a:buChar char="-"/>
            </a:pPr>
            <a:r>
              <a:rPr lang="en-US" dirty="0"/>
              <a:t>C code</a:t>
            </a:r>
            <a:r>
              <a:rPr lang="ko-KR" altLang="en-US" dirty="0"/>
              <a:t> 가능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44E665-3A86-98FB-C2C9-CCEC9CCEC710}"/>
              </a:ext>
            </a:extLst>
          </p:cNvPr>
          <p:cNvSpPr txBox="1"/>
          <p:nvPr/>
        </p:nvSpPr>
        <p:spPr>
          <a:xfrm>
            <a:off x="6854341" y="4854201"/>
            <a:ext cx="455660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PL (Programmable Logic)</a:t>
            </a:r>
          </a:p>
          <a:p>
            <a:pPr algn="ctr"/>
            <a:endParaRPr lang="en-US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FPGA</a:t>
            </a:r>
            <a:r>
              <a:rPr lang="ko-KR" altLang="en-US" dirty="0"/>
              <a:t>로 프로그래밍 가능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하드웨어로 설계되어야 하는 부분 담당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dirty="0"/>
              <a:t>Artix-7 </a:t>
            </a:r>
            <a:r>
              <a:rPr lang="ko-KR" altLang="en-US" dirty="0"/>
              <a:t>기반 </a:t>
            </a:r>
            <a:r>
              <a:rPr lang="en-US" altLang="ko-KR" dirty="0"/>
              <a:t>FPGA (XC7Z020)</a:t>
            </a:r>
          </a:p>
          <a:p>
            <a:pPr marL="285750" indent="-285750">
              <a:buFontTx/>
              <a:buChar char="-"/>
            </a:pPr>
            <a:r>
              <a:rPr lang="en-US" dirty="0"/>
              <a:t>Verilog </a:t>
            </a:r>
            <a:r>
              <a:rPr lang="ko-KR" altLang="en-US" dirty="0"/>
              <a:t>등의 </a:t>
            </a:r>
            <a:r>
              <a:rPr lang="en-US" altLang="ko-KR" dirty="0"/>
              <a:t>HDL</a:t>
            </a:r>
            <a:endParaRPr lang="en-US" dirty="0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0F45D18-A2B8-B6F7-D509-B91641BCE1F4}"/>
              </a:ext>
            </a:extLst>
          </p:cNvPr>
          <p:cNvSpPr/>
          <p:nvPr/>
        </p:nvSpPr>
        <p:spPr>
          <a:xfrm>
            <a:off x="2515425" y="1476575"/>
            <a:ext cx="1551749" cy="232370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80B5049-4AA4-E964-ADC7-2F92B0A5E7BE}"/>
              </a:ext>
            </a:extLst>
          </p:cNvPr>
          <p:cNvSpPr/>
          <p:nvPr/>
        </p:nvSpPr>
        <p:spPr>
          <a:xfrm>
            <a:off x="2515425" y="5534225"/>
            <a:ext cx="1551749" cy="232370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B92FEF4-BE4B-390D-8F7D-1CF1CE427504}"/>
              </a:ext>
            </a:extLst>
          </p:cNvPr>
          <p:cNvSpPr/>
          <p:nvPr/>
        </p:nvSpPr>
        <p:spPr>
          <a:xfrm>
            <a:off x="2296350" y="4676775"/>
            <a:ext cx="1056450" cy="809625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화살표: 왼쪽/오른쪽 15">
            <a:extLst>
              <a:ext uri="{FF2B5EF4-FFF2-40B4-BE49-F238E27FC236}">
                <a16:creationId xmlns:a16="http://schemas.microsoft.com/office/drawing/2014/main" id="{77FD6FCB-3844-E2FB-BAAE-818C14AEC86A}"/>
              </a:ext>
            </a:extLst>
          </p:cNvPr>
          <p:cNvSpPr/>
          <p:nvPr/>
        </p:nvSpPr>
        <p:spPr>
          <a:xfrm rot="5400000">
            <a:off x="8302140" y="3972242"/>
            <a:ext cx="819150" cy="295275"/>
          </a:xfrm>
          <a:prstGeom prst="left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C0FF2C-ACB4-8CFF-4A38-D0D1F0280B35}"/>
              </a:ext>
            </a:extLst>
          </p:cNvPr>
          <p:cNvSpPr txBox="1"/>
          <p:nvPr/>
        </p:nvSpPr>
        <p:spPr>
          <a:xfrm>
            <a:off x="7806842" y="3935213"/>
            <a:ext cx="28516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Bus</a:t>
            </a:r>
          </a:p>
        </p:txBody>
      </p:sp>
    </p:spTree>
    <p:extLst>
      <p:ext uri="{BB962C8B-B14F-4D97-AF65-F5344CB8AC3E}">
        <p14:creationId xmlns:p14="http://schemas.microsoft.com/office/powerpoint/2010/main" val="40009882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B351D-1A5A-BB32-C8DB-E35D96886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EE75A0-7D15-D3E5-22D7-AD731FBEC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055" y="3429000"/>
            <a:ext cx="10744200" cy="1188720"/>
          </a:xfrm>
        </p:spPr>
        <p:txBody>
          <a:bodyPr/>
          <a:lstStyle/>
          <a:p>
            <a:pPr>
              <a:lnSpc>
                <a:spcPct val="130000"/>
              </a:lnSpc>
            </a:pPr>
            <a:r>
              <a:rPr lang="en-US" altLang="ko-KR" sz="2800" b="1" dirty="0">
                <a:latin typeface="맑은 고딕" panose="020B0503020000020004" pitchFamily="50" charset="-127"/>
                <a:ea typeface="맑은 고딕" panose="020B0503020000020004" pitchFamily="50" charset="-127"/>
                <a:cs typeface="KoPubWorld돋움체 Bold" panose="00000800000000000000" pitchFamily="2" charset="-127"/>
              </a:rPr>
              <a:t>3. FPGA</a:t>
            </a:r>
            <a:r>
              <a:rPr lang="ko-KR" altLang="en-US" sz="2800" b="1" dirty="0">
                <a:latin typeface="맑은 고딕" panose="020B0503020000020004" pitchFamily="50" charset="-127"/>
                <a:ea typeface="맑은 고딕" panose="020B0503020000020004" pitchFamily="50" charset="-127"/>
                <a:cs typeface="KoPubWorld돋움체 Bold" panose="00000800000000000000" pitchFamily="2" charset="-127"/>
              </a:rPr>
              <a:t>란</a:t>
            </a:r>
            <a:r>
              <a:rPr lang="en-US" altLang="ko-KR" sz="2800" b="1" dirty="0">
                <a:latin typeface="맑은 고딕" panose="020B0503020000020004" pitchFamily="50" charset="-127"/>
                <a:ea typeface="맑은 고딕" panose="020B0503020000020004" pitchFamily="50" charset="-127"/>
                <a:cs typeface="KoPubWorld돋움체 Bold" panose="00000800000000000000" pitchFamily="2" charset="-127"/>
              </a:rPr>
              <a:t>?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482A512-49EC-0BA9-ACD2-DB4DB411B1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20426" y="4023360"/>
            <a:ext cx="10827604" cy="677797"/>
          </a:xfr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58473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D8965-575C-2559-8B75-EE80B8E54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5C87076-A4EA-1B02-C923-97BB760578D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84708" y="1722863"/>
            <a:ext cx="7688263" cy="3239662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ko-KR" altLang="en-US" b="1" dirty="0"/>
              <a:t>일반적인 프로세서</a:t>
            </a:r>
            <a:r>
              <a:rPr lang="en-US" altLang="ko-KR" b="1" dirty="0"/>
              <a:t>, </a:t>
            </a:r>
            <a:r>
              <a:rPr lang="ko-KR" altLang="en-US" b="1" dirty="0"/>
              <a:t>예를 들어 </a:t>
            </a:r>
            <a:r>
              <a:rPr lang="en-US" altLang="ko-KR" b="1" dirty="0"/>
              <a:t>CPU</a:t>
            </a:r>
            <a:r>
              <a:rPr lang="ko-KR" altLang="en-US" b="1" dirty="0"/>
              <a:t>와 비교해보면</a:t>
            </a:r>
            <a:endParaRPr lang="en-US" altLang="ko-KR" b="1" dirty="0"/>
          </a:p>
          <a:p>
            <a:pPr>
              <a:spcBef>
                <a:spcPts val="0"/>
              </a:spcBef>
            </a:pPr>
            <a:endParaRPr lang="en-US" altLang="ko-KR" b="1" dirty="0"/>
          </a:p>
          <a:p>
            <a:pPr>
              <a:spcBef>
                <a:spcPts val="0"/>
              </a:spcBef>
            </a:pPr>
            <a:r>
              <a:rPr lang="en-US" altLang="ko-KR" b="1" dirty="0"/>
              <a:t>I7 3.6Ghz </a:t>
            </a:r>
            <a:r>
              <a:rPr lang="ko-KR" altLang="en-US" b="1" dirty="0"/>
              <a:t>프로세서는 </a:t>
            </a:r>
            <a:r>
              <a:rPr lang="en-US" altLang="ko-KR" b="1" dirty="0"/>
              <a:t>1</a:t>
            </a:r>
            <a:r>
              <a:rPr lang="ko-KR" altLang="en-US" b="1" dirty="0"/>
              <a:t>초에 </a:t>
            </a:r>
            <a:r>
              <a:rPr lang="en-US" altLang="ko-KR" b="1" dirty="0"/>
              <a:t>(3.6G * Core </a:t>
            </a:r>
            <a:r>
              <a:rPr lang="ko-KR" altLang="en-US" b="1" dirty="0"/>
              <a:t>수</a:t>
            </a:r>
            <a:r>
              <a:rPr lang="en-US" altLang="ko-KR" b="1" dirty="0"/>
              <a:t>) </a:t>
            </a:r>
            <a:r>
              <a:rPr lang="ko-KR" altLang="en-US" b="1" dirty="0"/>
              <a:t>만큼의 연산을 </a:t>
            </a:r>
            <a:r>
              <a:rPr lang="en-US" altLang="ko-KR" b="1" dirty="0">
                <a:solidFill>
                  <a:srgbClr val="FF0000"/>
                </a:solidFill>
              </a:rPr>
              <a:t>“</a:t>
            </a:r>
            <a:r>
              <a:rPr lang="ko-KR" altLang="en-US" b="1" dirty="0">
                <a:solidFill>
                  <a:srgbClr val="FF0000"/>
                </a:solidFill>
              </a:rPr>
              <a:t>순차적</a:t>
            </a:r>
            <a:r>
              <a:rPr lang="en-US" altLang="ko-KR" b="1" dirty="0">
                <a:solidFill>
                  <a:srgbClr val="FF0000"/>
                </a:solidFill>
              </a:rPr>
              <a:t>” </a:t>
            </a:r>
            <a:r>
              <a:rPr lang="ko-KR" altLang="en-US" b="1" dirty="0"/>
              <a:t>으로 수행한다</a:t>
            </a:r>
            <a:r>
              <a:rPr lang="en-US" altLang="ko-KR" b="1" dirty="0"/>
              <a:t>.</a:t>
            </a:r>
          </a:p>
          <a:p>
            <a:pPr marL="285750" indent="-285750">
              <a:spcBef>
                <a:spcPts val="0"/>
              </a:spcBef>
              <a:buFont typeface="Wingdings" panose="05000000000000000000" pitchFamily="2" charset="2"/>
              <a:buChar char="à"/>
            </a:pPr>
            <a:r>
              <a:rPr lang="ko-KR" altLang="en-US" b="1" dirty="0">
                <a:sym typeface="Wingdings" panose="05000000000000000000" pitchFamily="2" charset="2"/>
              </a:rPr>
              <a:t>즉</a:t>
            </a:r>
            <a:r>
              <a:rPr lang="en-US" altLang="ko-KR" b="1" dirty="0">
                <a:sym typeface="Wingdings" panose="05000000000000000000" pitchFamily="2" charset="2"/>
              </a:rPr>
              <a:t>, </a:t>
            </a:r>
            <a:r>
              <a:rPr lang="ko-KR" altLang="en-US" b="1" dirty="0">
                <a:solidFill>
                  <a:srgbClr val="FF0000"/>
                </a:solidFill>
                <a:sym typeface="Wingdings" panose="05000000000000000000" pitchFamily="2" charset="2"/>
              </a:rPr>
              <a:t>한 계산이 끝나면 다음 계산을 수행</a:t>
            </a:r>
            <a:r>
              <a:rPr lang="ko-KR" altLang="en-US" b="1" dirty="0">
                <a:sym typeface="Wingdings" panose="05000000000000000000" pitchFamily="2" charset="2"/>
              </a:rPr>
              <a:t>하는 방식</a:t>
            </a:r>
            <a:endParaRPr lang="en-US" altLang="ko-KR" b="1" dirty="0">
              <a:sym typeface="Wingdings" panose="05000000000000000000" pitchFamily="2" charset="2"/>
            </a:endParaRPr>
          </a:p>
          <a:p>
            <a:pPr marL="285750" indent="-285750">
              <a:spcBef>
                <a:spcPts val="0"/>
              </a:spcBef>
              <a:buFont typeface="Wingdings" panose="05000000000000000000" pitchFamily="2" charset="2"/>
              <a:buChar char="à"/>
            </a:pPr>
            <a:endParaRPr lang="en-US" altLang="ko-KR" b="1" dirty="0">
              <a:sym typeface="Wingdings" panose="05000000000000000000" pitchFamily="2" charset="2"/>
            </a:endParaRPr>
          </a:p>
          <a:p>
            <a:pPr marL="285750" indent="-285750">
              <a:spcBef>
                <a:spcPts val="0"/>
              </a:spcBef>
              <a:buFont typeface="Wingdings" panose="05000000000000000000" pitchFamily="2" charset="2"/>
              <a:buChar char="à"/>
            </a:pPr>
            <a:endParaRPr lang="en-US" altLang="ko-KR" b="1" dirty="0"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</a:pPr>
            <a:r>
              <a:rPr lang="ko-KR" altLang="en-US" b="1" dirty="0">
                <a:sym typeface="Wingdings" panose="05000000000000000000" pitchFamily="2" charset="2"/>
              </a:rPr>
              <a:t>하지만</a:t>
            </a:r>
            <a:r>
              <a:rPr lang="en-US" altLang="ko-KR" b="1" dirty="0">
                <a:sym typeface="Wingdings" panose="05000000000000000000" pitchFamily="2" charset="2"/>
              </a:rPr>
              <a:t>, FPGA</a:t>
            </a:r>
            <a:r>
              <a:rPr lang="ko-KR" altLang="en-US" b="1" dirty="0">
                <a:sym typeface="Wingdings" panose="05000000000000000000" pitchFamily="2" charset="2"/>
              </a:rPr>
              <a:t>는 </a:t>
            </a:r>
            <a:r>
              <a:rPr lang="en-US" altLang="ko-KR" b="1" dirty="0">
                <a:solidFill>
                  <a:srgbClr val="FF0000"/>
                </a:solidFill>
                <a:sym typeface="Wingdings" panose="05000000000000000000" pitchFamily="2" charset="2"/>
              </a:rPr>
              <a:t>“</a:t>
            </a:r>
            <a:r>
              <a:rPr lang="ko-KR" altLang="en-US" b="1" dirty="0">
                <a:solidFill>
                  <a:srgbClr val="FF0000"/>
                </a:solidFill>
                <a:sym typeface="Wingdings" panose="05000000000000000000" pitchFamily="2" charset="2"/>
              </a:rPr>
              <a:t>병렬로</a:t>
            </a:r>
            <a:r>
              <a:rPr lang="en-US" altLang="ko-KR" b="1" dirty="0">
                <a:solidFill>
                  <a:srgbClr val="FF0000"/>
                </a:solidFill>
                <a:sym typeface="Wingdings" panose="05000000000000000000" pitchFamily="2" charset="2"/>
              </a:rPr>
              <a:t>”</a:t>
            </a:r>
            <a:r>
              <a:rPr lang="ko-KR" altLang="en-US" b="1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ko-KR" altLang="en-US" b="1" dirty="0">
                <a:sym typeface="Wingdings" panose="05000000000000000000" pitchFamily="2" charset="2"/>
              </a:rPr>
              <a:t>연산을 수행한다</a:t>
            </a:r>
            <a:r>
              <a:rPr lang="en-US" altLang="ko-KR" b="1" dirty="0">
                <a:sym typeface="Wingdings" panose="05000000000000000000" pitchFamily="2" charset="2"/>
              </a:rPr>
              <a:t>.</a:t>
            </a:r>
          </a:p>
          <a:p>
            <a:pPr marL="285750" indent="-285750">
              <a:spcBef>
                <a:spcPts val="0"/>
              </a:spcBef>
              <a:buFont typeface="Wingdings" panose="05000000000000000000" pitchFamily="2" charset="2"/>
              <a:buChar char="à"/>
            </a:pPr>
            <a:r>
              <a:rPr lang="en-US" altLang="ko-KR" b="1" dirty="0"/>
              <a:t>100</a:t>
            </a:r>
            <a:r>
              <a:rPr lang="ko-KR" altLang="en-US" b="1" dirty="0"/>
              <a:t>개의 </a:t>
            </a:r>
            <a:r>
              <a:rPr lang="ko-KR" altLang="en-US" b="1" dirty="0" err="1"/>
              <a:t>연산기</a:t>
            </a:r>
            <a:r>
              <a:rPr lang="ko-KR" altLang="en-US" b="1" dirty="0"/>
              <a:t> </a:t>
            </a:r>
            <a:r>
              <a:rPr lang="en-US" altLang="ko-KR" b="1" dirty="0"/>
              <a:t>* 500 </a:t>
            </a:r>
            <a:r>
              <a:rPr lang="en-US" altLang="ko-KR" b="1" dirty="0" err="1"/>
              <a:t>Mhz</a:t>
            </a:r>
            <a:r>
              <a:rPr lang="ko-KR" altLang="en-US" b="1" dirty="0"/>
              <a:t>로 동작한다면</a:t>
            </a:r>
            <a:r>
              <a:rPr lang="en-US" altLang="ko-KR" b="1" dirty="0"/>
              <a:t>, 1</a:t>
            </a:r>
            <a:r>
              <a:rPr lang="ko-KR" altLang="en-US" b="1" dirty="0"/>
              <a:t>초에 </a:t>
            </a:r>
            <a:r>
              <a:rPr lang="en-US" altLang="ko-KR" b="1" dirty="0"/>
              <a:t>50G</a:t>
            </a:r>
            <a:r>
              <a:rPr lang="ko-KR" altLang="en-US" b="1" dirty="0"/>
              <a:t>의 연산을 수행 가능</a:t>
            </a:r>
            <a:endParaRPr lang="en-US" altLang="ko-KR" b="1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ko-KR" altLang="en-US" b="1" dirty="0">
                <a:sym typeface="Wingdings" panose="05000000000000000000" pitchFamily="2" charset="2"/>
              </a:rPr>
              <a:t>즉</a:t>
            </a:r>
            <a:r>
              <a:rPr lang="en-US" altLang="ko-KR" b="1" dirty="0">
                <a:sym typeface="Wingdings" panose="05000000000000000000" pitchFamily="2" charset="2"/>
              </a:rPr>
              <a:t>, </a:t>
            </a:r>
            <a:r>
              <a:rPr lang="ko-KR" altLang="en-US" b="1" dirty="0">
                <a:solidFill>
                  <a:srgbClr val="FF0000"/>
                </a:solidFill>
              </a:rPr>
              <a:t>여러 연산을 동시에 수행</a:t>
            </a:r>
            <a:r>
              <a:rPr lang="ko-KR" altLang="en-US" b="1" dirty="0"/>
              <a:t>하며</a:t>
            </a:r>
            <a:r>
              <a:rPr lang="en-US" altLang="ko-KR" b="1" dirty="0"/>
              <a:t>, </a:t>
            </a:r>
            <a:r>
              <a:rPr lang="ko-KR" altLang="en-US" b="1" dirty="0"/>
              <a:t>각종 고속 </a:t>
            </a:r>
            <a:r>
              <a:rPr lang="en-US" altLang="ko-KR" b="1" dirty="0"/>
              <a:t>IO</a:t>
            </a:r>
            <a:r>
              <a:rPr lang="ko-KR" altLang="en-US" b="1" dirty="0"/>
              <a:t>와 바로 연결되어 </a:t>
            </a:r>
            <a:r>
              <a:rPr lang="en-US" altLang="ko-KR" b="1" dirty="0">
                <a:solidFill>
                  <a:srgbClr val="FF0000"/>
                </a:solidFill>
              </a:rPr>
              <a:t>Data </a:t>
            </a:r>
            <a:r>
              <a:rPr lang="ko-KR" altLang="en-US" b="1" dirty="0">
                <a:solidFill>
                  <a:srgbClr val="FF0000"/>
                </a:solidFill>
              </a:rPr>
              <a:t>처리에 용이</a:t>
            </a:r>
            <a:r>
              <a:rPr lang="ko-KR" altLang="en-US" b="1" dirty="0"/>
              <a:t>하다</a:t>
            </a:r>
            <a:r>
              <a:rPr lang="en-US" altLang="ko-KR" b="1" dirty="0"/>
              <a:t>.</a:t>
            </a:r>
          </a:p>
          <a:p>
            <a:pPr>
              <a:spcBef>
                <a:spcPts val="0"/>
              </a:spcBef>
            </a:pPr>
            <a:endParaRPr lang="en-US" altLang="ko-KR" b="1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2CBB31ED-325E-0460-BF76-D3BE016B775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왜 사용할까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5C906587-A77C-7366-C781-08139B7DB23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360C3C-3958-1900-1BF8-D819127E8304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147BD1"/>
                </a:solidFill>
              </a:rPr>
              <a:t>FPGA</a:t>
            </a:r>
            <a:endParaRPr lang="ko-KR" altLang="en-US" b="1" dirty="0">
              <a:solidFill>
                <a:srgbClr val="147BD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2450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48F30-1C41-7959-A179-3D71A63C3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42A65BE1-5EEF-997B-F2D2-37812F3C11F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81398E-47BD-1B4B-37D3-5830B250FCBB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147BD1"/>
                </a:solidFill>
              </a:rPr>
              <a:t>FPGA – Logic Circuit</a:t>
            </a:r>
            <a:endParaRPr lang="ko-KR" altLang="en-US" b="1" dirty="0">
              <a:solidFill>
                <a:srgbClr val="147BD1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CBA4A07-83FF-AF06-033C-EBB461566D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700" y="1837458"/>
            <a:ext cx="4762500" cy="3030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CA9C6320-AACC-55CD-D476-D73C4E900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8338" y="1837458"/>
            <a:ext cx="5857875" cy="3209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61044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40E61-C42A-3A3A-DEDF-B4D4D7ECD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573D3F7-88C5-F90A-87CF-B7DF473DB40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9B4CDF2-85A7-0E6C-5F42-D3714D94E2AB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147BD1"/>
                </a:solidFill>
              </a:rPr>
              <a:t>FPGA – LUTs</a:t>
            </a:r>
            <a:endParaRPr lang="ko-KR" altLang="en-US" b="1" dirty="0">
              <a:solidFill>
                <a:srgbClr val="147BD1"/>
              </a:solidFill>
            </a:endParaRPr>
          </a:p>
        </p:txBody>
      </p:sp>
      <p:pic>
        <p:nvPicPr>
          <p:cNvPr id="4" name="내용 개체 틀 7">
            <a:extLst>
              <a:ext uri="{FF2B5EF4-FFF2-40B4-BE49-F238E27FC236}">
                <a16:creationId xmlns:a16="http://schemas.microsoft.com/office/drawing/2014/main" id="{EB615309-D18C-FAFE-2E2F-FFDC689ED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8513" y="1855724"/>
            <a:ext cx="6989787" cy="4106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599F0F6-63DB-AF74-3376-7C00BF1333D8}"/>
              </a:ext>
            </a:extLst>
          </p:cNvPr>
          <p:cNvSpPr txBox="1"/>
          <p:nvPr/>
        </p:nvSpPr>
        <p:spPr bwMode="auto">
          <a:xfrm>
            <a:off x="689444" y="1376608"/>
            <a:ext cx="426355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  <a:scene3d>
              <a:camera prst="orthographicFront"/>
              <a:lightRig rig="threePt" dir="t"/>
            </a:scene3d>
            <a:sp3d>
              <a:bevelT w="0"/>
            </a:sp3d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/>
              <a:t>LUT</a:t>
            </a:r>
            <a:r>
              <a:rPr lang="ko-KR" altLang="en-US" dirty="0"/>
              <a:t> </a:t>
            </a:r>
            <a:r>
              <a:rPr lang="en-US" altLang="ko-KR" dirty="0"/>
              <a:t>(Look-up Table)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2709200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0EB4A-9567-8C2F-6DDC-31C8815E3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A418A8D-7C86-2FF6-ED25-4122D2E4FBC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62AF787-D1F2-B1A5-0FDA-96E21AAA00A0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rgbClr val="147BD1"/>
                </a:solidFill>
              </a:rPr>
              <a:t>FPGA – Design Translation</a:t>
            </a:r>
            <a:endParaRPr lang="ko-KR" altLang="en-US" b="1" dirty="0">
              <a:solidFill>
                <a:srgbClr val="147BD1"/>
              </a:solidFill>
            </a:endParaRPr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A8F1C83D-58E4-DB54-9B66-5D03E5E7939F}"/>
              </a:ext>
            </a:extLst>
          </p:cNvPr>
          <p:cNvGrpSpPr>
            <a:grpSpLocks/>
          </p:cNvGrpSpPr>
          <p:nvPr/>
        </p:nvGrpSpPr>
        <p:grpSpPr bwMode="auto">
          <a:xfrm>
            <a:off x="1068760" y="2093285"/>
            <a:ext cx="9637340" cy="2563859"/>
            <a:chOff x="192" y="504"/>
            <a:chExt cx="4848" cy="1224"/>
          </a:xfrm>
        </p:grpSpPr>
        <p:sp>
          <p:nvSpPr>
            <p:cNvPr id="5" name="Text Box 5">
              <a:extLst>
                <a:ext uri="{FF2B5EF4-FFF2-40B4-BE49-F238E27FC236}">
                  <a16:creationId xmlns:a16="http://schemas.microsoft.com/office/drawing/2014/main" id="{2FA266D4-1D81-45D2-908A-C79C002E90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2" y="504"/>
              <a:ext cx="684" cy="11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en-US" sz="2400" b="1" i="1" dirty="0">
                  <a:latin typeface="Tekton" pitchFamily="34" charset="0"/>
                </a:rPr>
                <a:t>     RTL</a:t>
              </a:r>
            </a:p>
            <a:p>
              <a:endParaRPr lang="en-US" altLang="en-US" sz="2400" b="1" i="1" dirty="0">
                <a:latin typeface="Tekton" pitchFamily="34" charset="0"/>
              </a:endParaRPr>
            </a:p>
            <a:p>
              <a:r>
                <a:rPr lang="en-US" altLang="en-US" sz="2400" b="1" dirty="0">
                  <a:latin typeface="Tekton" pitchFamily="34" charset="0"/>
                </a:rPr>
                <a:t>       .</a:t>
              </a:r>
            </a:p>
            <a:p>
              <a:r>
                <a:rPr lang="en-US" altLang="en-US" sz="2400" b="1" dirty="0">
                  <a:latin typeface="Tekton" pitchFamily="34" charset="0"/>
                </a:rPr>
                <a:t>       .</a:t>
              </a:r>
            </a:p>
            <a:p>
              <a:r>
                <a:rPr lang="en-US" altLang="en-US" sz="2400" b="1" dirty="0">
                  <a:latin typeface="Tekton" pitchFamily="34" charset="0"/>
                </a:rPr>
                <a:t> C = A + B</a:t>
              </a:r>
            </a:p>
            <a:p>
              <a:r>
                <a:rPr lang="en-US" altLang="en-US" sz="2400" b="1" dirty="0">
                  <a:latin typeface="Tekton" pitchFamily="34" charset="0"/>
                </a:rPr>
                <a:t>       .</a:t>
              </a:r>
            </a:p>
          </p:txBody>
        </p:sp>
        <p:sp>
          <p:nvSpPr>
            <p:cNvPr id="6" name="Line 6">
              <a:extLst>
                <a:ext uri="{FF2B5EF4-FFF2-40B4-BE49-F238E27FC236}">
                  <a16:creationId xmlns:a16="http://schemas.microsoft.com/office/drawing/2014/main" id="{343006DF-122D-FBD1-5745-0A4E2051FB3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5" y="1270"/>
              <a:ext cx="283" cy="0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CA"/>
            </a:p>
          </p:txBody>
        </p:sp>
        <p:sp>
          <p:nvSpPr>
            <p:cNvPr id="7" name="Text Box 7">
              <a:extLst>
                <a:ext uri="{FF2B5EF4-FFF2-40B4-BE49-F238E27FC236}">
                  <a16:creationId xmlns:a16="http://schemas.microsoft.com/office/drawing/2014/main" id="{6BA4A5B9-ADDC-5D36-FCFB-5F3A8CDBCD8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74" y="504"/>
              <a:ext cx="724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en-US" sz="2400" b="1" i="1" dirty="0">
                  <a:latin typeface="Tekton" pitchFamily="34" charset="0"/>
                </a:rPr>
                <a:t>Circuit</a:t>
              </a:r>
            </a:p>
          </p:txBody>
        </p:sp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AC26F999-CB4C-AEFA-747B-851A5BD007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71" y="1087"/>
              <a:ext cx="458" cy="420"/>
            </a:xfrm>
            <a:prstGeom prst="rect">
              <a:avLst/>
            </a:prstGeom>
            <a:solidFill>
              <a:srgbClr val="66FF99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CA"/>
            </a:p>
          </p:txBody>
        </p:sp>
        <p:sp>
          <p:nvSpPr>
            <p:cNvPr id="9" name="Line 9">
              <a:extLst>
                <a:ext uri="{FF2B5EF4-FFF2-40B4-BE49-F238E27FC236}">
                  <a16:creationId xmlns:a16="http://schemas.microsoft.com/office/drawing/2014/main" id="{62D203EF-2E0C-8EC8-85EE-AA881971757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8" y="1206"/>
              <a:ext cx="34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CA"/>
            </a:p>
          </p:txBody>
        </p:sp>
        <p:sp>
          <p:nvSpPr>
            <p:cNvPr id="10" name="Line 10">
              <a:extLst>
                <a:ext uri="{FF2B5EF4-FFF2-40B4-BE49-F238E27FC236}">
                  <a16:creationId xmlns:a16="http://schemas.microsoft.com/office/drawing/2014/main" id="{796E3B5A-2233-59D7-EF47-5C1305447D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8" y="1416"/>
              <a:ext cx="34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CA"/>
            </a:p>
          </p:txBody>
        </p:sp>
        <p:sp>
          <p:nvSpPr>
            <p:cNvPr id="11" name="Text Box 11">
              <a:extLst>
                <a:ext uri="{FF2B5EF4-FFF2-40B4-BE49-F238E27FC236}">
                  <a16:creationId xmlns:a16="http://schemas.microsoft.com/office/drawing/2014/main" id="{2FCCFA76-503A-BF7F-B4E6-5C1045B7B7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1008"/>
              <a:ext cx="303" cy="2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en-US" sz="2400" b="1">
                  <a:latin typeface="Tekton" pitchFamily="34" charset="0"/>
                </a:rPr>
                <a:t>A</a:t>
              </a:r>
            </a:p>
          </p:txBody>
        </p:sp>
        <p:sp>
          <p:nvSpPr>
            <p:cNvPr id="12" name="Text Box 12">
              <a:extLst>
                <a:ext uri="{FF2B5EF4-FFF2-40B4-BE49-F238E27FC236}">
                  <a16:creationId xmlns:a16="http://schemas.microsoft.com/office/drawing/2014/main" id="{C8AFE4FD-428B-73C5-514D-5CB7060C106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1310"/>
              <a:ext cx="255" cy="2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en-US" sz="2400" b="1">
                  <a:latin typeface="Tekton" pitchFamily="34" charset="0"/>
                </a:rPr>
                <a:t>B</a:t>
              </a:r>
            </a:p>
          </p:txBody>
        </p:sp>
        <p:sp>
          <p:nvSpPr>
            <p:cNvPr id="13" name="Text Box 13">
              <a:extLst>
                <a:ext uri="{FF2B5EF4-FFF2-40B4-BE49-F238E27FC236}">
                  <a16:creationId xmlns:a16="http://schemas.microsoft.com/office/drawing/2014/main" id="{C669791F-20C1-2926-0DE9-18047489AE3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46" y="1175"/>
              <a:ext cx="306" cy="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en-US" sz="2400" b="1" dirty="0">
                  <a:latin typeface="Tekton" pitchFamily="34" charset="0"/>
                </a:rPr>
                <a:t>“+”</a:t>
              </a:r>
            </a:p>
          </p:txBody>
        </p:sp>
        <p:sp>
          <p:nvSpPr>
            <p:cNvPr id="14" name="Line 14">
              <a:extLst>
                <a:ext uri="{FF2B5EF4-FFF2-40B4-BE49-F238E27FC236}">
                  <a16:creationId xmlns:a16="http://schemas.microsoft.com/office/drawing/2014/main" id="{A1BD7A27-47ED-BD61-2AC7-938EF0808A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7" y="1276"/>
              <a:ext cx="171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CA"/>
            </a:p>
          </p:txBody>
        </p:sp>
        <p:sp>
          <p:nvSpPr>
            <p:cNvPr id="15" name="Text Box 15">
              <a:extLst>
                <a:ext uri="{FF2B5EF4-FFF2-40B4-BE49-F238E27FC236}">
                  <a16:creationId xmlns:a16="http://schemas.microsoft.com/office/drawing/2014/main" id="{AFB0B49E-9FA4-C2FB-8F67-038863FC3E2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08" y="1127"/>
              <a:ext cx="255" cy="2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en-US" sz="2400" b="1">
                  <a:latin typeface="Tekton" pitchFamily="34" charset="0"/>
                </a:rPr>
                <a:t>C</a:t>
              </a:r>
            </a:p>
          </p:txBody>
        </p:sp>
        <p:sp>
          <p:nvSpPr>
            <p:cNvPr id="16" name="Line 16">
              <a:extLst>
                <a:ext uri="{FF2B5EF4-FFF2-40B4-BE49-F238E27FC236}">
                  <a16:creationId xmlns:a16="http://schemas.microsoft.com/office/drawing/2014/main" id="{FD1212B2-A4CB-A6D5-9604-B5A3624292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59" y="1270"/>
              <a:ext cx="283" cy="0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CA"/>
            </a:p>
          </p:txBody>
        </p:sp>
        <p:sp>
          <p:nvSpPr>
            <p:cNvPr id="17" name="Text Box 17">
              <a:extLst>
                <a:ext uri="{FF2B5EF4-FFF2-40B4-BE49-F238E27FC236}">
                  <a16:creationId xmlns:a16="http://schemas.microsoft.com/office/drawing/2014/main" id="{625C82FE-8356-98B9-D095-5932C07DF22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94" y="504"/>
              <a:ext cx="619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en-US" sz="2400" b="1" i="1" dirty="0">
                  <a:latin typeface="Tekton" pitchFamily="34" charset="0"/>
                </a:rPr>
                <a:t>Array</a:t>
              </a:r>
            </a:p>
          </p:txBody>
        </p:sp>
        <p:sp>
          <p:nvSpPr>
            <p:cNvPr id="18" name="Rectangle 18">
              <a:extLst>
                <a:ext uri="{FF2B5EF4-FFF2-40B4-BE49-F238E27FC236}">
                  <a16:creationId xmlns:a16="http://schemas.microsoft.com/office/drawing/2014/main" id="{94AF95F0-E116-104D-7D43-3799791022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68" y="899"/>
              <a:ext cx="1072" cy="829"/>
            </a:xfrm>
            <a:prstGeom prst="rect">
              <a:avLst/>
            </a:prstGeom>
            <a:solidFill>
              <a:srgbClr val="B1B1B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CA"/>
            </a:p>
          </p:txBody>
        </p:sp>
        <p:grpSp>
          <p:nvGrpSpPr>
            <p:cNvPr id="19" name="Group 19">
              <a:extLst>
                <a:ext uri="{FF2B5EF4-FFF2-40B4-BE49-F238E27FC236}">
                  <a16:creationId xmlns:a16="http://schemas.microsoft.com/office/drawing/2014/main" id="{3D9CC2E9-D3A2-F064-67D8-DFCD39981F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61" y="978"/>
              <a:ext cx="886" cy="197"/>
              <a:chOff x="3072" y="1248"/>
              <a:chExt cx="912" cy="240"/>
            </a:xfrm>
          </p:grpSpPr>
          <p:sp>
            <p:nvSpPr>
              <p:cNvPr id="28" name="Rectangle 20">
                <a:extLst>
                  <a:ext uri="{FF2B5EF4-FFF2-40B4-BE49-F238E27FC236}">
                    <a16:creationId xmlns:a16="http://schemas.microsoft.com/office/drawing/2014/main" id="{41CC3BF7-0C26-3D22-E03A-56D644ACED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72" y="1248"/>
                <a:ext cx="240" cy="240"/>
              </a:xfrm>
              <a:prstGeom prst="rect">
                <a:avLst/>
              </a:prstGeom>
              <a:solidFill>
                <a:schemeClr val="folHlink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29" name="Rectangle 21">
                <a:extLst>
                  <a:ext uri="{FF2B5EF4-FFF2-40B4-BE49-F238E27FC236}">
                    <a16:creationId xmlns:a16="http://schemas.microsoft.com/office/drawing/2014/main" id="{9E0FABD5-6228-E7EC-4427-252B6CACF4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08" y="1248"/>
                <a:ext cx="240" cy="240"/>
              </a:xfrm>
              <a:prstGeom prst="rect">
                <a:avLst/>
              </a:prstGeom>
              <a:solidFill>
                <a:schemeClr val="folHlink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30" name="Rectangle 22">
                <a:extLst>
                  <a:ext uri="{FF2B5EF4-FFF2-40B4-BE49-F238E27FC236}">
                    <a16:creationId xmlns:a16="http://schemas.microsoft.com/office/drawing/2014/main" id="{786755B1-1D68-82E6-950A-B98340D021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744" y="1248"/>
                <a:ext cx="240" cy="240"/>
              </a:xfrm>
              <a:prstGeom prst="rect">
                <a:avLst/>
              </a:prstGeom>
              <a:solidFill>
                <a:schemeClr val="folHlink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CA"/>
              </a:p>
            </p:txBody>
          </p:sp>
        </p:grpSp>
        <p:grpSp>
          <p:nvGrpSpPr>
            <p:cNvPr id="20" name="Group 23">
              <a:extLst>
                <a:ext uri="{FF2B5EF4-FFF2-40B4-BE49-F238E27FC236}">
                  <a16:creationId xmlns:a16="http://schemas.microsoft.com/office/drawing/2014/main" id="{CDC02F25-A336-9922-ADBF-D06AAE1150F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61" y="1215"/>
              <a:ext cx="886" cy="197"/>
              <a:chOff x="3072" y="1248"/>
              <a:chExt cx="912" cy="24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F10D801-4AFE-B788-2753-A8016A4271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72" y="1248"/>
                <a:ext cx="240" cy="240"/>
              </a:xfrm>
              <a:prstGeom prst="rect">
                <a:avLst/>
              </a:prstGeom>
              <a:solidFill>
                <a:schemeClr val="folHlink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55159AF-74C1-A646-AD0D-017178B339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08" y="1248"/>
                <a:ext cx="240" cy="240"/>
              </a:xfrm>
              <a:prstGeom prst="rect">
                <a:avLst/>
              </a:prstGeom>
              <a:solidFill>
                <a:schemeClr val="folHlink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660FDDB-0A2D-2CDE-856F-F566F52D27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744" y="1248"/>
                <a:ext cx="240" cy="240"/>
              </a:xfrm>
              <a:prstGeom prst="rect">
                <a:avLst/>
              </a:prstGeom>
              <a:solidFill>
                <a:schemeClr val="folHlink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CA"/>
              </a:p>
            </p:txBody>
          </p:sp>
        </p:grpSp>
        <p:grpSp>
          <p:nvGrpSpPr>
            <p:cNvPr id="21" name="Group 27">
              <a:extLst>
                <a:ext uri="{FF2B5EF4-FFF2-40B4-BE49-F238E27FC236}">
                  <a16:creationId xmlns:a16="http://schemas.microsoft.com/office/drawing/2014/main" id="{CB8FCFB2-48B0-FF94-B9CB-766BA52DFE3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61" y="1452"/>
              <a:ext cx="886" cy="197"/>
              <a:chOff x="3072" y="1248"/>
              <a:chExt cx="912" cy="240"/>
            </a:xfrm>
          </p:grpSpPr>
          <p:sp>
            <p:nvSpPr>
              <p:cNvPr id="22" name="Rectangle 28">
                <a:extLst>
                  <a:ext uri="{FF2B5EF4-FFF2-40B4-BE49-F238E27FC236}">
                    <a16:creationId xmlns:a16="http://schemas.microsoft.com/office/drawing/2014/main" id="{DD734D66-81B1-836B-747A-86D3DBA47F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72" y="1248"/>
                <a:ext cx="240" cy="240"/>
              </a:xfrm>
              <a:prstGeom prst="rect">
                <a:avLst/>
              </a:prstGeom>
              <a:solidFill>
                <a:schemeClr val="folHlink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23" name="Rectangle 29">
                <a:extLst>
                  <a:ext uri="{FF2B5EF4-FFF2-40B4-BE49-F238E27FC236}">
                    <a16:creationId xmlns:a16="http://schemas.microsoft.com/office/drawing/2014/main" id="{813AE410-17B8-858E-2C25-6922F22D4F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08" y="1248"/>
                <a:ext cx="240" cy="240"/>
              </a:xfrm>
              <a:prstGeom prst="rect">
                <a:avLst/>
              </a:prstGeom>
              <a:solidFill>
                <a:schemeClr val="folHlink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CA"/>
              </a:p>
            </p:txBody>
          </p:sp>
          <p:sp>
            <p:nvSpPr>
              <p:cNvPr id="24" name="Rectangle 30">
                <a:extLst>
                  <a:ext uri="{FF2B5EF4-FFF2-40B4-BE49-F238E27FC236}">
                    <a16:creationId xmlns:a16="http://schemas.microsoft.com/office/drawing/2014/main" id="{750CA13A-5433-07DD-FAF0-6211808486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744" y="1248"/>
                <a:ext cx="240" cy="240"/>
              </a:xfrm>
              <a:prstGeom prst="rect">
                <a:avLst/>
              </a:prstGeom>
              <a:solidFill>
                <a:schemeClr val="folHlink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CA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8558909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DT_FILLFIXED" val="True"/>
  <p:tag name="CDT_LINEFIXED" val="True"/>
  <p:tag name="CDT_FILLUNVISIBLE" val="False"/>
  <p:tag name="CDT_LINEUNVISIBLE" val="True"/>
  <p:tag name="CDT_COLBF_NEW" val="21"/>
  <p:tag name="CDT_COLFF_NEW" val="21"/>
  <p:tag name="CDT_EXTCOL" val="True"/>
  <p:tag name="CDT_COLTX_NEW" val="22"/>
  <p:tag name="CDT_TARGETSHAPE_NEW" val="20"/>
  <p:tag name="CDT_DELETE_ONEVENT_NEWPRES" val="False"/>
  <p:tag name="CDT_PROT" val="2"/>
  <p:tag name="CDT_PROT_TOP" val="111,25"/>
  <p:tag name="CDT_PROT_LEFT" val="366,8501"/>
  <p:tag name="CDT_PROT_WIDTH" val="593,6499"/>
  <p:tag name="CDT_PROT_HEIGHT" val="374,2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DT_FILLFIXED" val="True"/>
  <p:tag name="CDT_LINEFIXED" val="True"/>
  <p:tag name="CDT_FILLUNVISIBLE" val="False"/>
  <p:tag name="CDT_LINEUNVISIBLE" val="True"/>
  <p:tag name="CDT_COLBF_NEW" val="21"/>
  <p:tag name="CDT_COLFF_NEW" val="21"/>
  <p:tag name="CDT_EXTCOL" val="True"/>
  <p:tag name="CDT_COLTX_NEW" val="22"/>
  <p:tag name="CDT_TARGETSHAPE_NEW" val="20"/>
  <p:tag name="CDT_DELETE_ONEVENT_NEWPRES" val="False"/>
  <p:tag name="CDT_PROT" val="2"/>
  <p:tag name="CDT_PROT_TOP" val="111,25"/>
  <p:tag name="CDT_PROT_LEFT" val="366,8501"/>
  <p:tag name="CDT_PROT_WIDTH" val="593,6499"/>
  <p:tag name="CDT_PROT_HEIGHT" val="374,2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DT_FILLFIXED" val="True"/>
  <p:tag name="CDT_LINEFIXED" val="True"/>
  <p:tag name="CDT_FILLUNVISIBLE" val="False"/>
  <p:tag name="CDT_LINEUNVISIBLE" val="True"/>
  <p:tag name="CDT_COLBF_NEW" val="21"/>
  <p:tag name="CDT_COLFF_NEW" val="21"/>
  <p:tag name="CDT_EXTCOL" val="True"/>
  <p:tag name="CDT_COLTX_NEW" val="22"/>
  <p:tag name="CDT_TARGETSHAPE_NEW" val="20"/>
  <p:tag name="CDT_DELETE_ONEVENT_NEWPRES" val="False"/>
  <p:tag name="CDT_PROT" val="2"/>
  <p:tag name="CDT_PROT_TOP" val="111,25"/>
  <p:tag name="CDT_PROT_LEFT" val="366,8501"/>
  <p:tag name="CDT_PROT_WIDTH" val="593,6499"/>
  <p:tag name="CDT_PROT_HEIGHT" val="374,25"/>
</p:tagLst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7859</TotalTime>
  <Words>440</Words>
  <Application>Microsoft Office PowerPoint</Application>
  <PresentationFormat>와이드스크린</PresentationFormat>
  <Paragraphs>147</Paragraphs>
  <Slides>16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4" baseType="lpstr">
      <vt:lpstr>fkGroteskNeue</vt:lpstr>
      <vt:lpstr>Tekton</vt:lpstr>
      <vt:lpstr>나눔스퀘어 네오 Regular</vt:lpstr>
      <vt:lpstr>맑은 고딕</vt:lpstr>
      <vt:lpstr>Arial</vt:lpstr>
      <vt:lpstr>Roboto</vt:lpstr>
      <vt:lpstr>Wingdings</vt:lpstr>
      <vt:lpstr>Office 테마</vt:lpstr>
      <vt:lpstr>SOC301 | ARM Programming</vt:lpstr>
      <vt:lpstr>1. Vivado 설치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2. Zybo Z7-20 &amp; Zynq-7000 소개</vt:lpstr>
      <vt:lpstr>PowerPoint 프레젠테이션</vt:lpstr>
      <vt:lpstr>PowerPoint 프레젠테이션</vt:lpstr>
      <vt:lpstr>3. FPGA란?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Zynq</dc:title>
  <dc:creator>예빈 문</dc:creator>
  <cp:lastModifiedBy>Seungan Woo</cp:lastModifiedBy>
  <cp:revision>379</cp:revision>
  <dcterms:created xsi:type="dcterms:W3CDTF">2024-09-20T05:42:48Z</dcterms:created>
  <dcterms:modified xsi:type="dcterms:W3CDTF">2026-09-17T12:37:16Z</dcterms:modified>
</cp:coreProperties>
</file>